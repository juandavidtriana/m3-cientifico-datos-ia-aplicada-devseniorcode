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0E56"/>
    <a:srgbClr val="2D0F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1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370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310"/>
        </a:solidFill>
        <a:effectLst/>
      </p:bgPr>
    </p:bg>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EDE8A00B-21FB-D6AA-C89E-C28CB2B71E92}"/>
              </a:ext>
            </a:extLst>
          </p:cNvPr>
          <p:cNvPicPr>
            <a:picLocks noChangeAspect="1"/>
          </p:cNvPicPr>
          <p:nvPr/>
        </p:nvPicPr>
        <p:blipFill>
          <a:blip r:embed="rId3"/>
          <a:stretch>
            <a:fillRect/>
          </a:stretch>
        </p:blipFill>
        <p:spPr>
          <a:xfrm>
            <a:off x="3239" y="0"/>
            <a:ext cx="12185522" cy="6858000"/>
          </a:xfrm>
          <a:prstGeom prst="rect">
            <a:avLst/>
          </a:prstGeom>
        </p:spPr>
      </p:pic>
      <p:sp>
        <p:nvSpPr>
          <p:cNvPr id="8" name="Text 6"/>
          <p:cNvSpPr/>
          <p:nvPr/>
        </p:nvSpPr>
        <p:spPr>
          <a:xfrm>
            <a:off x="6354624" y="2338755"/>
            <a:ext cx="4224280" cy="828038"/>
          </a:xfrm>
          <a:prstGeom prst="rect">
            <a:avLst/>
          </a:prstGeom>
          <a:noFill/>
          <a:ln/>
        </p:spPr>
        <p:txBody>
          <a:bodyPr wrap="square" rtlCol="0" anchor="ctr"/>
          <a:lstStyle/>
          <a:p>
            <a:pPr marL="0" indent="0" algn="r">
              <a:buNone/>
            </a:pPr>
            <a:r>
              <a:rPr lang="en-US" sz="1500" kern="0" spc="100" dirty="0">
                <a:solidFill>
                  <a:srgbClr val="C9C3D6"/>
                </a:solidFill>
                <a:highlight>
                  <a:srgbClr val="800080"/>
                </a:highlight>
                <a:latin typeface="Calibri" pitchFamily="34" charset="0"/>
                <a:ea typeface="Calibri" pitchFamily="34" charset="-122"/>
                <a:cs typeface="Calibri" pitchFamily="34" charset="-120"/>
              </a:rPr>
              <a:t>MÁSTER IA C8</a:t>
            </a:r>
            <a:endParaRPr lang="en-US" sz="1500" dirty="0">
              <a:highlight>
                <a:srgbClr val="800080"/>
              </a:highlight>
            </a:endParaRPr>
          </a:p>
        </p:txBody>
      </p:sp>
      <p:sp>
        <p:nvSpPr>
          <p:cNvPr id="9" name="Text 7"/>
          <p:cNvSpPr/>
          <p:nvPr/>
        </p:nvSpPr>
        <p:spPr>
          <a:xfrm>
            <a:off x="6354621" y="2508593"/>
            <a:ext cx="4224284" cy="1552573"/>
          </a:xfrm>
          <a:prstGeom prst="rect">
            <a:avLst/>
          </a:prstGeom>
          <a:noFill/>
          <a:ln/>
        </p:spPr>
        <p:txBody>
          <a:bodyPr wrap="square" rtlCol="0" anchor="ctr"/>
          <a:lstStyle/>
          <a:p>
            <a:pPr marL="0" indent="0" algn="r">
              <a:buNone/>
            </a:pPr>
            <a:r>
              <a:rPr lang="en-US" sz="4000" b="1" dirty="0">
                <a:solidFill>
                  <a:srgbClr val="FFFFFF"/>
                </a:solidFill>
                <a:latin typeface="Cambria" pitchFamily="34" charset="0"/>
                <a:ea typeface="Cambria" pitchFamily="34" charset="-122"/>
                <a:cs typeface="Cambria" pitchFamily="34" charset="-120"/>
              </a:rPr>
              <a:t>CLASE 3</a:t>
            </a:r>
            <a:endParaRPr lang="en-US" sz="4000" dirty="0"/>
          </a:p>
        </p:txBody>
      </p:sp>
      <p:sp>
        <p:nvSpPr>
          <p:cNvPr id="10" name="Text 8"/>
          <p:cNvSpPr/>
          <p:nvPr/>
        </p:nvSpPr>
        <p:spPr>
          <a:xfrm>
            <a:off x="6354627" y="3555463"/>
            <a:ext cx="4224277" cy="724533"/>
          </a:xfrm>
          <a:prstGeom prst="rect">
            <a:avLst/>
          </a:prstGeom>
          <a:noFill/>
          <a:ln/>
        </p:spPr>
        <p:txBody>
          <a:bodyPr wrap="square" rtlCol="0" anchor="ctr"/>
          <a:lstStyle/>
          <a:p>
            <a:pPr marL="0" indent="0" algn="r">
              <a:buNone/>
            </a:pPr>
            <a:r>
              <a:rPr lang="en-US" sz="1500" dirty="0">
                <a:solidFill>
                  <a:srgbClr val="C9C3D6"/>
                </a:solidFill>
                <a:latin typeface="Calibri" pitchFamily="34" charset="0"/>
                <a:ea typeface="Calibri" pitchFamily="34" charset="-122"/>
                <a:cs typeface="Calibri" pitchFamily="34" charset="-120"/>
              </a:rPr>
              <a:t>09/08/2026</a:t>
            </a:r>
            <a:endParaRPr lang="en-US" sz="1500" dirty="0"/>
          </a:p>
        </p:txBody>
      </p:sp>
      <p:sp>
        <p:nvSpPr>
          <p:cNvPr id="11" name="Text 9"/>
          <p:cNvSpPr/>
          <p:nvPr/>
        </p:nvSpPr>
        <p:spPr>
          <a:xfrm>
            <a:off x="6354627" y="3875503"/>
            <a:ext cx="4224277" cy="724533"/>
          </a:xfrm>
          <a:prstGeom prst="rect">
            <a:avLst/>
          </a:prstGeom>
          <a:noFill/>
          <a:ln/>
        </p:spPr>
        <p:txBody>
          <a:bodyPr wrap="square" rtlCol="0" anchor="ctr"/>
          <a:lstStyle/>
          <a:p>
            <a:pPr marL="0" indent="0" algn="r">
              <a:buNone/>
            </a:pPr>
            <a:r>
              <a:rPr lang="en-US" sz="1500" dirty="0">
                <a:solidFill>
                  <a:srgbClr val="C9C3D6"/>
                </a:solidFill>
                <a:latin typeface="Calibri" pitchFamily="34" charset="0"/>
                <a:ea typeface="Calibri" pitchFamily="34" charset="-122"/>
                <a:cs typeface="Calibri" pitchFamily="34" charset="-120"/>
              </a:rPr>
              <a:t>ING. JUAN DAVID TRIANA</a:t>
            </a:r>
            <a:endParaRPr lang="en-US" sz="1500" dirty="0"/>
          </a:p>
        </p:txBody>
      </p:sp>
      <p:sp>
        <p:nvSpPr>
          <p:cNvPr id="12" name="Text 10"/>
          <p:cNvSpPr/>
          <p:nvPr/>
        </p:nvSpPr>
        <p:spPr>
          <a:xfrm>
            <a:off x="6354621" y="4238480"/>
            <a:ext cx="4224283" cy="1242058"/>
          </a:xfrm>
          <a:prstGeom prst="rect">
            <a:avLst/>
          </a:prstGeom>
          <a:noFill/>
          <a:ln/>
        </p:spPr>
        <p:txBody>
          <a:bodyPr wrap="square" rtlCol="0" anchor="ctr"/>
          <a:lstStyle/>
          <a:p>
            <a:pPr marL="0" indent="0" algn="r">
              <a:buNone/>
            </a:pPr>
            <a:r>
              <a:rPr lang="en-US" sz="1300" i="1" dirty="0">
                <a:solidFill>
                  <a:srgbClr val="8A8494"/>
                </a:solidFill>
                <a:latin typeface="Calibri" pitchFamily="34" charset="0"/>
                <a:ea typeface="Calibri" pitchFamily="34" charset="-122"/>
                <a:cs typeface="Calibri" pitchFamily="34" charset="-120"/>
              </a:rPr>
              <a:t>Arquitecturas Modernas con Databricks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0E56"/>
        </a:solidFill>
        <a:effectLst/>
      </p:bgPr>
    </p:bg>
    <p:spTree>
      <p:nvGrpSpPr>
        <p:cNvPr id="1" name=""/>
        <p:cNvGrpSpPr/>
        <p:nvPr/>
      </p:nvGrpSpPr>
      <p:grpSpPr>
        <a:xfrm>
          <a:off x="0" y="0"/>
          <a:ext cx="0" cy="0"/>
          <a:chOff x="0" y="0"/>
          <a:chExt cx="0" cy="0"/>
        </a:xfrm>
      </p:grpSpPr>
      <p:sp>
        <p:nvSpPr>
          <p:cNvPr id="2" name="Shape 0"/>
          <p:cNvSpPr/>
          <p:nvPr/>
        </p:nvSpPr>
        <p:spPr>
          <a:xfrm>
            <a:off x="8412480" y="-1371600"/>
            <a:ext cx="5486400" cy="5486400"/>
          </a:xfrm>
          <a:prstGeom prst="ellipse">
            <a:avLst/>
          </a:prstGeom>
          <a:solidFill>
            <a:srgbClr val="5B21B6">
              <a:alpha val="45000"/>
            </a:srgbClr>
          </a:solidFill>
          <a:ln/>
        </p:spPr>
        <p:txBody>
          <a:bodyPr/>
          <a:lstStyle/>
          <a:p>
            <a:endParaRPr lang="es-ES"/>
          </a:p>
        </p:txBody>
      </p:sp>
      <p:sp>
        <p:nvSpPr>
          <p:cNvPr id="3" name="Shape 1"/>
          <p:cNvSpPr/>
          <p:nvPr/>
        </p:nvSpPr>
        <p:spPr>
          <a:xfrm>
            <a:off x="9875520" y="3200400"/>
            <a:ext cx="4572000" cy="4572000"/>
          </a:xfrm>
          <a:prstGeom prst="ellipse">
            <a:avLst/>
          </a:prstGeom>
          <a:solidFill>
            <a:srgbClr val="E93DAC">
              <a:alpha val="40000"/>
            </a:srgbClr>
          </a:solidFill>
          <a:ln/>
        </p:spPr>
        <p:txBody>
          <a:bodyPr/>
          <a:lstStyle/>
          <a:p>
            <a:endParaRPr lang="es-ES"/>
          </a:p>
        </p:txBody>
      </p:sp>
      <p:sp>
        <p:nvSpPr>
          <p:cNvPr id="4" name="Text 2"/>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5" name="Text 3"/>
          <p:cNvSpPr/>
          <p:nvPr/>
        </p:nvSpPr>
        <p:spPr>
          <a:xfrm>
            <a:off x="457200" y="91440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MÁSTER EN INTELIGENCIA ARTIFICIAL &amp; DATA SCIENCE</a:t>
            </a:r>
            <a:endParaRPr lang="en-US" sz="1300" dirty="0"/>
          </a:p>
        </p:txBody>
      </p:sp>
      <p:sp>
        <p:nvSpPr>
          <p:cNvPr id="6" name="Text 4"/>
          <p:cNvSpPr/>
          <p:nvPr/>
        </p:nvSpPr>
        <p:spPr>
          <a:xfrm>
            <a:off x="457200" y="1325880"/>
            <a:ext cx="8229600" cy="365760"/>
          </a:xfrm>
          <a:prstGeom prst="rect">
            <a:avLst/>
          </a:prstGeom>
          <a:noFill/>
          <a:ln/>
        </p:spPr>
        <p:txBody>
          <a:bodyPr wrap="square" rtlCol="0" anchor="ctr"/>
          <a:lstStyle/>
          <a:p>
            <a:pPr marL="0" indent="0">
              <a:buNone/>
            </a:pPr>
            <a:r>
              <a:rPr lang="en-US" sz="1400" dirty="0">
                <a:solidFill>
                  <a:srgbClr val="F1ECFB"/>
                </a:solidFill>
                <a:latin typeface="Calibri" pitchFamily="34" charset="0"/>
                <a:ea typeface="Calibri" pitchFamily="34" charset="-122"/>
                <a:cs typeface="Calibri" pitchFamily="34" charset="-120"/>
              </a:rPr>
              <a:t>Módulo 3 · Unidad 3 · Clase 3</a:t>
            </a:r>
            <a:endParaRPr lang="en-US" sz="1400" dirty="0"/>
          </a:p>
        </p:txBody>
      </p:sp>
      <p:sp>
        <p:nvSpPr>
          <p:cNvPr id="7" name="Text 5"/>
          <p:cNvSpPr/>
          <p:nvPr/>
        </p:nvSpPr>
        <p:spPr>
          <a:xfrm>
            <a:off x="457200" y="1920240"/>
            <a:ext cx="8686800" cy="1920240"/>
          </a:xfrm>
          <a:prstGeom prst="rect">
            <a:avLst/>
          </a:prstGeom>
          <a:noFill/>
          <a:ln/>
        </p:spPr>
        <p:txBody>
          <a:bodyPr wrap="square"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Arquitecturas Modernas</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con Databricks</a:t>
            </a:r>
            <a:endParaRPr lang="en-US" sz="4600" dirty="0"/>
          </a:p>
        </p:txBody>
      </p:sp>
      <p:sp>
        <p:nvSpPr>
          <p:cNvPr id="8" name="Text 6"/>
          <p:cNvSpPr/>
          <p:nvPr/>
        </p:nvSpPr>
        <p:spPr>
          <a:xfrm>
            <a:off x="457200" y="3977640"/>
            <a:ext cx="8503920" cy="914400"/>
          </a:xfrm>
          <a:prstGeom prst="rect">
            <a:avLst/>
          </a:prstGeom>
          <a:noFill/>
          <a:ln/>
        </p:spPr>
        <p:txBody>
          <a:bodyPr wrap="square" rtlCol="0" anchor="ctr"/>
          <a:lstStyle/>
          <a:p>
            <a:pPr marL="0" indent="0">
              <a:buNone/>
            </a:pPr>
            <a:r>
              <a:rPr lang="en-US" sz="1600" i="1" dirty="0">
                <a:solidFill>
                  <a:srgbClr val="F1ECFB"/>
                </a:solidFill>
                <a:latin typeface="Calibri" pitchFamily="34" charset="0"/>
                <a:ea typeface="Calibri" pitchFamily="34" charset="-122"/>
                <a:cs typeface="Calibri" pitchFamily="34" charset="-120"/>
              </a:rPr>
              <a:t>Manejo de clusters y notebooks colaborativos para Ciencia de Datos a escala</a:t>
            </a:r>
            <a:endParaRPr lang="en-US" sz="1600" dirty="0"/>
          </a:p>
          <a:p>
            <a:pPr marL="0" indent="0">
              <a:buNone/>
            </a:pPr>
            <a:r>
              <a:rPr lang="en-US" sz="1600" i="1" dirty="0">
                <a:solidFill>
                  <a:srgbClr val="F1ECFB"/>
                </a:solidFill>
                <a:latin typeface="Calibri" pitchFamily="34" charset="0"/>
                <a:ea typeface="Calibri" pitchFamily="34" charset="-122"/>
                <a:cs typeface="Calibri" pitchFamily="34" charset="-120"/>
              </a:rPr>
              <a:t>Uso de MLflow: Tracking de experimentos y registro de modelos</a:t>
            </a:r>
            <a:endParaRPr lang="en-US" sz="1600" dirty="0"/>
          </a:p>
        </p:txBody>
      </p:sp>
      <p:sp>
        <p:nvSpPr>
          <p:cNvPr id="15" name="Shape 13"/>
          <p:cNvSpPr/>
          <p:nvPr/>
        </p:nvSpPr>
        <p:spPr>
          <a:xfrm>
            <a:off x="457200" y="5195212"/>
            <a:ext cx="3520440" cy="1051560"/>
          </a:xfrm>
          <a:prstGeom prst="roundRect">
            <a:avLst>
              <a:gd name="adj" fmla="val 10435"/>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6" name="Text 14"/>
          <p:cNvSpPr/>
          <p:nvPr/>
        </p:nvSpPr>
        <p:spPr>
          <a:xfrm>
            <a:off x="640080" y="5304940"/>
            <a:ext cx="3200400" cy="274320"/>
          </a:xfrm>
          <a:prstGeom prst="rect">
            <a:avLst/>
          </a:prstGeom>
          <a:noFill/>
          <a:ln/>
        </p:spPr>
        <p:txBody>
          <a:bodyPr wrap="square" rtlCol="0" anchor="ctr"/>
          <a:lstStyle/>
          <a:p>
            <a:pPr marL="0" indent="0">
              <a:buNone/>
            </a:pPr>
            <a:r>
              <a:rPr lang="en-US" sz="1100" b="1" dirty="0">
                <a:solidFill>
                  <a:srgbClr val="E93DAC"/>
                </a:solidFill>
                <a:latin typeface="Calibri" pitchFamily="34" charset="0"/>
                <a:ea typeface="Calibri" pitchFamily="34" charset="-122"/>
                <a:cs typeface="Calibri" pitchFamily="34" charset="-120"/>
              </a:rPr>
              <a:t>Plataforma</a:t>
            </a:r>
            <a:endParaRPr lang="en-US" sz="1100" dirty="0"/>
          </a:p>
        </p:txBody>
      </p:sp>
      <p:sp>
        <p:nvSpPr>
          <p:cNvPr id="17" name="Text 15"/>
          <p:cNvSpPr/>
          <p:nvPr/>
        </p:nvSpPr>
        <p:spPr>
          <a:xfrm>
            <a:off x="640080" y="5560972"/>
            <a:ext cx="320040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Databricks Free Edition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HOJA DE RUTA DE LA CLASE</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400" b="1" dirty="0">
                <a:solidFill>
                  <a:srgbClr val="241242"/>
                </a:solidFill>
                <a:latin typeface="Cambria" pitchFamily="34" charset="0"/>
                <a:ea typeface="Cambria" pitchFamily="34" charset="-122"/>
                <a:cs typeface="Cambria" pitchFamily="34" charset="-120"/>
              </a:rPr>
              <a:t>Agenda</a:t>
            </a:r>
            <a:endParaRPr lang="en-US" sz="3400" dirty="0"/>
          </a:p>
        </p:txBody>
      </p:sp>
      <p:sp>
        <p:nvSpPr>
          <p:cNvPr id="5" name="Shape 3"/>
          <p:cNvSpPr/>
          <p:nvPr/>
        </p:nvSpPr>
        <p:spPr>
          <a:xfrm>
            <a:off x="457200" y="2011680"/>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594360" y="2103120"/>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234440" y="2084832"/>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Bienvenida, repaso Unidad 3 y objetivos</a:t>
            </a:r>
            <a:endParaRPr lang="en-US" sz="1350" dirty="0"/>
          </a:p>
        </p:txBody>
      </p:sp>
      <p:sp>
        <p:nvSpPr>
          <p:cNvPr id="8" name="Text 6"/>
          <p:cNvSpPr/>
          <p:nvPr/>
        </p:nvSpPr>
        <p:spPr>
          <a:xfrm>
            <a:off x="5120640" y="2084832"/>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0:00</a:t>
            </a:r>
            <a:endParaRPr lang="en-US" sz="1200" dirty="0"/>
          </a:p>
        </p:txBody>
      </p:sp>
      <p:sp>
        <p:nvSpPr>
          <p:cNvPr id="9" name="Shape 7"/>
          <p:cNvSpPr/>
          <p:nvPr/>
        </p:nvSpPr>
        <p:spPr>
          <a:xfrm>
            <a:off x="457200" y="2852928"/>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0" name="Text 8"/>
          <p:cNvSpPr/>
          <p:nvPr/>
        </p:nvSpPr>
        <p:spPr>
          <a:xfrm>
            <a:off x="594360" y="2944368"/>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1234440" y="2926080"/>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Teoría: Lakehouse y arquitectura de Databricks</a:t>
            </a:r>
            <a:endParaRPr lang="en-US" sz="1350" dirty="0"/>
          </a:p>
        </p:txBody>
      </p:sp>
      <p:sp>
        <p:nvSpPr>
          <p:cNvPr id="12" name="Text 10"/>
          <p:cNvSpPr/>
          <p:nvPr/>
        </p:nvSpPr>
        <p:spPr>
          <a:xfrm>
            <a:off x="5120640" y="2926080"/>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0:20</a:t>
            </a:r>
            <a:endParaRPr lang="en-US" sz="1200" dirty="0"/>
          </a:p>
        </p:txBody>
      </p:sp>
      <p:sp>
        <p:nvSpPr>
          <p:cNvPr id="13" name="Shape 11"/>
          <p:cNvSpPr/>
          <p:nvPr/>
        </p:nvSpPr>
        <p:spPr>
          <a:xfrm>
            <a:off x="457200" y="3694176"/>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4" name="Text 12"/>
          <p:cNvSpPr/>
          <p:nvPr/>
        </p:nvSpPr>
        <p:spPr>
          <a:xfrm>
            <a:off x="594360" y="3785616"/>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03</a:t>
            </a:r>
            <a:endParaRPr lang="en-US" sz="2000" dirty="0"/>
          </a:p>
        </p:txBody>
      </p:sp>
      <p:sp>
        <p:nvSpPr>
          <p:cNvPr id="15" name="Text 13"/>
          <p:cNvSpPr/>
          <p:nvPr/>
        </p:nvSpPr>
        <p:spPr>
          <a:xfrm>
            <a:off x="1234440" y="3767328"/>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Teoría: Clusters, Runtime y políticas</a:t>
            </a:r>
            <a:endParaRPr lang="en-US" sz="1350" dirty="0"/>
          </a:p>
        </p:txBody>
      </p:sp>
      <p:sp>
        <p:nvSpPr>
          <p:cNvPr id="16" name="Text 14"/>
          <p:cNvSpPr/>
          <p:nvPr/>
        </p:nvSpPr>
        <p:spPr>
          <a:xfrm>
            <a:off x="5120640" y="3767328"/>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1:00</a:t>
            </a:r>
            <a:endParaRPr lang="en-US" sz="1200" dirty="0"/>
          </a:p>
        </p:txBody>
      </p:sp>
      <p:sp>
        <p:nvSpPr>
          <p:cNvPr id="17" name="Shape 15"/>
          <p:cNvSpPr/>
          <p:nvPr/>
        </p:nvSpPr>
        <p:spPr>
          <a:xfrm>
            <a:off x="457200" y="4535424"/>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8" name="Text 16"/>
          <p:cNvSpPr/>
          <p:nvPr/>
        </p:nvSpPr>
        <p:spPr>
          <a:xfrm>
            <a:off x="594360" y="4626864"/>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04</a:t>
            </a:r>
            <a:endParaRPr lang="en-US" sz="2000" dirty="0"/>
          </a:p>
        </p:txBody>
      </p:sp>
      <p:sp>
        <p:nvSpPr>
          <p:cNvPr id="19" name="Text 17"/>
          <p:cNvSpPr/>
          <p:nvPr/>
        </p:nvSpPr>
        <p:spPr>
          <a:xfrm>
            <a:off x="1234440" y="4608576"/>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Teoría: Notebooks colaborativos y Repos</a:t>
            </a:r>
            <a:endParaRPr lang="en-US" sz="1350" dirty="0"/>
          </a:p>
        </p:txBody>
      </p:sp>
      <p:sp>
        <p:nvSpPr>
          <p:cNvPr id="20" name="Text 18"/>
          <p:cNvSpPr/>
          <p:nvPr/>
        </p:nvSpPr>
        <p:spPr>
          <a:xfrm>
            <a:off x="5120640" y="4608576"/>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1:30</a:t>
            </a:r>
            <a:endParaRPr lang="en-US" sz="1200" dirty="0"/>
          </a:p>
        </p:txBody>
      </p:sp>
      <p:sp>
        <p:nvSpPr>
          <p:cNvPr id="21" name="Shape 19"/>
          <p:cNvSpPr/>
          <p:nvPr/>
        </p:nvSpPr>
        <p:spPr>
          <a:xfrm>
            <a:off x="457200" y="5376672"/>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22" name="Text 20"/>
          <p:cNvSpPr/>
          <p:nvPr/>
        </p:nvSpPr>
        <p:spPr>
          <a:xfrm>
            <a:off x="594360" y="5468112"/>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05</a:t>
            </a:r>
            <a:endParaRPr lang="en-US" sz="2000" dirty="0"/>
          </a:p>
        </p:txBody>
      </p:sp>
      <p:sp>
        <p:nvSpPr>
          <p:cNvPr id="23" name="Text 21"/>
          <p:cNvSpPr/>
          <p:nvPr/>
        </p:nvSpPr>
        <p:spPr>
          <a:xfrm>
            <a:off x="1234440" y="5449824"/>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Break (10 min)</a:t>
            </a:r>
            <a:endParaRPr lang="en-US" sz="1350" dirty="0"/>
          </a:p>
        </p:txBody>
      </p:sp>
      <p:sp>
        <p:nvSpPr>
          <p:cNvPr id="24" name="Text 22"/>
          <p:cNvSpPr/>
          <p:nvPr/>
        </p:nvSpPr>
        <p:spPr>
          <a:xfrm>
            <a:off x="5120640" y="5449824"/>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2:00</a:t>
            </a:r>
            <a:endParaRPr lang="en-US" sz="1200" dirty="0"/>
          </a:p>
        </p:txBody>
      </p:sp>
      <p:sp>
        <p:nvSpPr>
          <p:cNvPr id="25" name="Shape 23"/>
          <p:cNvSpPr/>
          <p:nvPr/>
        </p:nvSpPr>
        <p:spPr>
          <a:xfrm>
            <a:off x="6217920" y="2011680"/>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26" name="Text 24"/>
          <p:cNvSpPr/>
          <p:nvPr/>
        </p:nvSpPr>
        <p:spPr>
          <a:xfrm>
            <a:off x="6355080" y="2103120"/>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06</a:t>
            </a:r>
            <a:endParaRPr lang="en-US" sz="2000" dirty="0"/>
          </a:p>
        </p:txBody>
      </p:sp>
      <p:sp>
        <p:nvSpPr>
          <p:cNvPr id="27" name="Text 25"/>
          <p:cNvSpPr/>
          <p:nvPr/>
        </p:nvSpPr>
        <p:spPr>
          <a:xfrm>
            <a:off x="6995160" y="2084832"/>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Laboratorio 1: Clusters y notebooks en PySpark</a:t>
            </a:r>
            <a:endParaRPr lang="en-US" sz="1350" dirty="0"/>
          </a:p>
        </p:txBody>
      </p:sp>
      <p:sp>
        <p:nvSpPr>
          <p:cNvPr id="28" name="Text 26"/>
          <p:cNvSpPr/>
          <p:nvPr/>
        </p:nvSpPr>
        <p:spPr>
          <a:xfrm>
            <a:off x="10881360" y="2084832"/>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2:10</a:t>
            </a:r>
            <a:endParaRPr lang="en-US" sz="1200" dirty="0"/>
          </a:p>
        </p:txBody>
      </p:sp>
      <p:sp>
        <p:nvSpPr>
          <p:cNvPr id="29" name="Shape 27"/>
          <p:cNvSpPr/>
          <p:nvPr/>
        </p:nvSpPr>
        <p:spPr>
          <a:xfrm>
            <a:off x="6217920" y="2852928"/>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30" name="Text 28"/>
          <p:cNvSpPr/>
          <p:nvPr/>
        </p:nvSpPr>
        <p:spPr>
          <a:xfrm>
            <a:off x="6355080" y="2944368"/>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07</a:t>
            </a:r>
            <a:endParaRPr lang="en-US" sz="2000" dirty="0"/>
          </a:p>
        </p:txBody>
      </p:sp>
      <p:sp>
        <p:nvSpPr>
          <p:cNvPr id="31" name="Text 29"/>
          <p:cNvSpPr/>
          <p:nvPr/>
        </p:nvSpPr>
        <p:spPr>
          <a:xfrm>
            <a:off x="6995160" y="2926080"/>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Teoría: MLflow — Tracking y Model Registry</a:t>
            </a:r>
            <a:endParaRPr lang="en-US" sz="1350" dirty="0"/>
          </a:p>
        </p:txBody>
      </p:sp>
      <p:sp>
        <p:nvSpPr>
          <p:cNvPr id="32" name="Text 30"/>
          <p:cNvSpPr/>
          <p:nvPr/>
        </p:nvSpPr>
        <p:spPr>
          <a:xfrm>
            <a:off x="10881360" y="2926080"/>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2:45</a:t>
            </a:r>
            <a:endParaRPr lang="en-US" sz="1200" dirty="0"/>
          </a:p>
        </p:txBody>
      </p:sp>
      <p:sp>
        <p:nvSpPr>
          <p:cNvPr id="33" name="Shape 31"/>
          <p:cNvSpPr/>
          <p:nvPr/>
        </p:nvSpPr>
        <p:spPr>
          <a:xfrm>
            <a:off x="6217920" y="3694176"/>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34" name="Text 32"/>
          <p:cNvSpPr/>
          <p:nvPr/>
        </p:nvSpPr>
        <p:spPr>
          <a:xfrm>
            <a:off x="6355080" y="3785616"/>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08</a:t>
            </a:r>
            <a:endParaRPr lang="en-US" sz="2000" dirty="0"/>
          </a:p>
        </p:txBody>
      </p:sp>
      <p:sp>
        <p:nvSpPr>
          <p:cNvPr id="35" name="Text 33"/>
          <p:cNvSpPr/>
          <p:nvPr/>
        </p:nvSpPr>
        <p:spPr>
          <a:xfrm>
            <a:off x="6995160" y="3767328"/>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Laboratorio 2: MLflow end-to-end</a:t>
            </a:r>
            <a:endParaRPr lang="en-US" sz="1350" dirty="0"/>
          </a:p>
        </p:txBody>
      </p:sp>
      <p:sp>
        <p:nvSpPr>
          <p:cNvPr id="36" name="Text 34"/>
          <p:cNvSpPr/>
          <p:nvPr/>
        </p:nvSpPr>
        <p:spPr>
          <a:xfrm>
            <a:off x="10881360" y="3767328"/>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3:15</a:t>
            </a:r>
            <a:endParaRPr lang="en-US" sz="1200" dirty="0"/>
          </a:p>
        </p:txBody>
      </p:sp>
      <p:sp>
        <p:nvSpPr>
          <p:cNvPr id="37" name="Shape 35"/>
          <p:cNvSpPr/>
          <p:nvPr/>
        </p:nvSpPr>
        <p:spPr>
          <a:xfrm>
            <a:off x="6217920" y="4535424"/>
            <a:ext cx="5440680" cy="713232"/>
          </a:xfrm>
          <a:prstGeom prst="roundRect">
            <a:avLst>
              <a:gd name="adj" fmla="val 1282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38" name="Text 36"/>
          <p:cNvSpPr/>
          <p:nvPr/>
        </p:nvSpPr>
        <p:spPr>
          <a:xfrm>
            <a:off x="6355080" y="4626864"/>
            <a:ext cx="548640" cy="530352"/>
          </a:xfrm>
          <a:prstGeom prst="rect">
            <a:avLst/>
          </a:prstGeom>
          <a:noFill/>
          <a:ln/>
        </p:spPr>
        <p:txBody>
          <a:bodyPr wrap="square" rtlCol="0" anchor="ctr"/>
          <a:lstStyle/>
          <a:p>
            <a:pPr marL="0" indent="0">
              <a:buNone/>
            </a:pPr>
            <a:r>
              <a:rPr lang="en-US" sz="2000" b="1" dirty="0">
                <a:solidFill>
                  <a:srgbClr val="C026D3"/>
                </a:solidFill>
                <a:latin typeface="Cambria" pitchFamily="34" charset="0"/>
                <a:ea typeface="Cambria" pitchFamily="34" charset="-122"/>
                <a:cs typeface="Cambria" pitchFamily="34" charset="-120"/>
              </a:rPr>
              <a:t>09</a:t>
            </a:r>
            <a:endParaRPr lang="en-US" sz="2000" dirty="0"/>
          </a:p>
        </p:txBody>
      </p:sp>
      <p:sp>
        <p:nvSpPr>
          <p:cNvPr id="39" name="Text 37"/>
          <p:cNvSpPr/>
          <p:nvPr/>
        </p:nvSpPr>
        <p:spPr>
          <a:xfrm>
            <a:off x="6995160" y="4608576"/>
            <a:ext cx="3886200" cy="566928"/>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Cierre, resumen y siguiente clase</a:t>
            </a:r>
            <a:endParaRPr lang="en-US" sz="1350" dirty="0"/>
          </a:p>
        </p:txBody>
      </p:sp>
      <p:sp>
        <p:nvSpPr>
          <p:cNvPr id="40" name="Text 38"/>
          <p:cNvSpPr/>
          <p:nvPr/>
        </p:nvSpPr>
        <p:spPr>
          <a:xfrm>
            <a:off x="10881360" y="4608576"/>
            <a:ext cx="685800" cy="566928"/>
          </a:xfrm>
          <a:prstGeom prst="rect">
            <a:avLst/>
          </a:prstGeom>
          <a:noFill/>
          <a:ln/>
        </p:spPr>
        <p:txBody>
          <a:bodyPr wrap="square" rtlCol="0" anchor="ctr"/>
          <a:lstStyle/>
          <a:p>
            <a:pPr marL="0" indent="0" algn="r">
              <a:buNone/>
            </a:pPr>
            <a:r>
              <a:rPr lang="en-US" sz="1200" b="1" dirty="0">
                <a:solidFill>
                  <a:srgbClr val="5B21B6"/>
                </a:solidFill>
                <a:latin typeface="Calibri" pitchFamily="34" charset="0"/>
                <a:ea typeface="Calibri" pitchFamily="34" charset="-122"/>
                <a:cs typeface="Calibri" pitchFamily="34" charset="-120"/>
              </a:rPr>
              <a:t>3:50</a:t>
            </a:r>
            <a:endParaRPr lang="en-US" sz="1200" dirty="0"/>
          </a:p>
        </p:txBody>
      </p:sp>
      <p:sp>
        <p:nvSpPr>
          <p:cNvPr id="41" name="Text 39"/>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42" name="Text 40"/>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CONECTANDO CON LO APRENDIDO</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¿Dónde estamos en el Máster?</a:t>
            </a:r>
            <a:endParaRPr lang="en-US" sz="3200" dirty="0"/>
          </a:p>
        </p:txBody>
      </p:sp>
      <p:sp>
        <p:nvSpPr>
          <p:cNvPr id="5" name="Text 3"/>
          <p:cNvSpPr/>
          <p:nvPr/>
        </p:nvSpPr>
        <p:spPr>
          <a:xfrm>
            <a:off x="457200" y="1828800"/>
            <a:ext cx="11247120" cy="1005840"/>
          </a:xfrm>
          <a:prstGeom prst="rect">
            <a:avLst/>
          </a:prstGeom>
          <a:noFill/>
          <a:ln/>
        </p:spPr>
        <p:txBody>
          <a:bodyPr wrap="square" rtlCol="0" anchor="ctr"/>
          <a:lstStyle/>
          <a:p>
            <a:pPr marL="0" indent="0">
              <a:lnSpc>
                <a:spcPts val="2200"/>
              </a:lnSpc>
              <a:buNone/>
            </a:pPr>
            <a:r>
              <a:rPr lang="en-US" sz="1500" dirty="0">
                <a:solidFill>
                  <a:srgbClr val="F1ECFB"/>
                </a:solidFill>
                <a:latin typeface="Calibri" pitchFamily="34" charset="0"/>
                <a:ea typeface="Calibri" pitchFamily="34" charset="-122"/>
                <a:cs typeface="Calibri" pitchFamily="34" charset="-120"/>
              </a:rPr>
              <a:t>En la Unidad 3 del Módulo 3 pasamos de entrenar modelos localmente a pensar en escala real: sistemas de recomendación, aprendizaje por refuerzo, optimización y despliegue de Deep Learning. Hoy damos el salto a la infraestructura que usan los equipos de datos en la industria.</a:t>
            </a:r>
            <a:endParaRPr lang="en-US" sz="1500" dirty="0"/>
          </a:p>
        </p:txBody>
      </p:sp>
      <p:sp>
        <p:nvSpPr>
          <p:cNvPr id="6" name="Shape 4"/>
          <p:cNvSpPr/>
          <p:nvPr/>
        </p:nvSpPr>
        <p:spPr>
          <a:xfrm>
            <a:off x="457200" y="3200400"/>
            <a:ext cx="2697480" cy="2377440"/>
          </a:xfrm>
          <a:prstGeom prst="roundRect">
            <a:avLst>
              <a:gd name="adj" fmla="val 5385"/>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7" name="Text 5"/>
          <p:cNvSpPr/>
          <p:nvPr/>
        </p:nvSpPr>
        <p:spPr>
          <a:xfrm>
            <a:off x="640080" y="3383280"/>
            <a:ext cx="2331720" cy="365760"/>
          </a:xfrm>
          <a:prstGeom prst="rect">
            <a:avLst/>
          </a:prstGeom>
          <a:noFill/>
          <a:ln/>
        </p:spPr>
        <p:txBody>
          <a:bodyPr wrap="square" rtlCol="0" anchor="ctr"/>
          <a:lstStyle/>
          <a:p>
            <a:pPr marL="0" indent="0">
              <a:buNone/>
            </a:pPr>
            <a:r>
              <a:rPr lang="en-US" sz="1200" b="1" dirty="0">
                <a:solidFill>
                  <a:srgbClr val="E93DAC"/>
                </a:solidFill>
                <a:latin typeface="Calibri" pitchFamily="34" charset="0"/>
                <a:ea typeface="Calibri" pitchFamily="34" charset="-122"/>
                <a:cs typeface="Calibri" pitchFamily="34" charset="-120"/>
              </a:rPr>
              <a:t>Clase 1</a:t>
            </a:r>
            <a:endParaRPr lang="en-US" sz="1200" dirty="0"/>
          </a:p>
        </p:txBody>
      </p:sp>
      <p:sp>
        <p:nvSpPr>
          <p:cNvPr id="8" name="Text 6"/>
          <p:cNvSpPr/>
          <p:nvPr/>
        </p:nvSpPr>
        <p:spPr>
          <a:xfrm>
            <a:off x="640080" y="3794760"/>
            <a:ext cx="2331720" cy="1554480"/>
          </a:xfrm>
          <a:prstGeom prst="rect">
            <a:avLst/>
          </a:prstGeom>
          <a:noFill/>
          <a:ln/>
        </p:spPr>
        <p:txBody>
          <a:bodyPr wrap="square" rtlCol="0" anchor="ctr"/>
          <a:lstStyle/>
          <a:p>
            <a:pPr marL="0" indent="0">
              <a:lnSpc>
                <a:spcPts val="2000"/>
              </a:lnSpc>
              <a:buNone/>
            </a:pPr>
            <a:r>
              <a:rPr lang="en-US" sz="1600" b="1" dirty="0">
                <a:solidFill>
                  <a:srgbClr val="FFFFFF"/>
                </a:solidFill>
                <a:latin typeface="Cambria" pitchFamily="34" charset="0"/>
                <a:ea typeface="Cambria" pitchFamily="34" charset="-122"/>
                <a:cs typeface="Cambria" pitchFamily="34" charset="-120"/>
              </a:rPr>
              <a:t>Recomendación y Aprendizaje por Refuerzo</a:t>
            </a:r>
            <a:endParaRPr lang="en-US" sz="1600" dirty="0"/>
          </a:p>
        </p:txBody>
      </p:sp>
      <p:sp>
        <p:nvSpPr>
          <p:cNvPr id="9" name="Shape 7"/>
          <p:cNvSpPr/>
          <p:nvPr/>
        </p:nvSpPr>
        <p:spPr>
          <a:xfrm>
            <a:off x="3383280" y="3200400"/>
            <a:ext cx="2697480" cy="2377440"/>
          </a:xfrm>
          <a:prstGeom prst="roundRect">
            <a:avLst>
              <a:gd name="adj" fmla="val 5385"/>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0" name="Text 8"/>
          <p:cNvSpPr/>
          <p:nvPr/>
        </p:nvSpPr>
        <p:spPr>
          <a:xfrm>
            <a:off x="3566160" y="3383280"/>
            <a:ext cx="2331720" cy="365760"/>
          </a:xfrm>
          <a:prstGeom prst="rect">
            <a:avLst/>
          </a:prstGeom>
          <a:noFill/>
          <a:ln/>
        </p:spPr>
        <p:txBody>
          <a:bodyPr wrap="square" rtlCol="0" anchor="ctr"/>
          <a:lstStyle/>
          <a:p>
            <a:pPr marL="0" indent="0">
              <a:buNone/>
            </a:pPr>
            <a:r>
              <a:rPr lang="en-US" sz="1200" b="1" dirty="0">
                <a:solidFill>
                  <a:srgbClr val="E93DAC"/>
                </a:solidFill>
                <a:latin typeface="Calibri" pitchFamily="34" charset="0"/>
                <a:ea typeface="Calibri" pitchFamily="34" charset="-122"/>
                <a:cs typeface="Calibri" pitchFamily="34" charset="-120"/>
              </a:rPr>
              <a:t>Clase 2</a:t>
            </a:r>
            <a:endParaRPr lang="en-US" sz="1200" dirty="0"/>
          </a:p>
        </p:txBody>
      </p:sp>
      <p:sp>
        <p:nvSpPr>
          <p:cNvPr id="11" name="Text 9"/>
          <p:cNvSpPr/>
          <p:nvPr/>
        </p:nvSpPr>
        <p:spPr>
          <a:xfrm>
            <a:off x="3566160" y="3794760"/>
            <a:ext cx="2331720" cy="1554480"/>
          </a:xfrm>
          <a:prstGeom prst="rect">
            <a:avLst/>
          </a:prstGeom>
          <a:noFill/>
          <a:ln/>
        </p:spPr>
        <p:txBody>
          <a:bodyPr wrap="square" rtlCol="0" anchor="ctr"/>
          <a:lstStyle/>
          <a:p>
            <a:pPr marL="0" indent="0">
              <a:lnSpc>
                <a:spcPts val="2000"/>
              </a:lnSpc>
              <a:buNone/>
            </a:pPr>
            <a:r>
              <a:rPr lang="en-US" sz="1600" b="1" dirty="0">
                <a:solidFill>
                  <a:srgbClr val="FFFFFF"/>
                </a:solidFill>
                <a:latin typeface="Cambria" pitchFamily="34" charset="0"/>
                <a:ea typeface="Cambria" pitchFamily="34" charset="-122"/>
                <a:cs typeface="Cambria" pitchFamily="34" charset="-120"/>
              </a:rPr>
              <a:t>Optimización, cuantización y Docker</a:t>
            </a:r>
            <a:endParaRPr lang="en-US" sz="1600" dirty="0"/>
          </a:p>
        </p:txBody>
      </p:sp>
      <p:sp>
        <p:nvSpPr>
          <p:cNvPr id="12" name="Shape 10"/>
          <p:cNvSpPr/>
          <p:nvPr/>
        </p:nvSpPr>
        <p:spPr>
          <a:xfrm>
            <a:off x="6309360" y="3200400"/>
            <a:ext cx="2697480" cy="2377440"/>
          </a:xfrm>
          <a:prstGeom prst="roundRect">
            <a:avLst>
              <a:gd name="adj" fmla="val 5385"/>
            </a:avLst>
          </a:prstGeom>
          <a:solidFill>
            <a:srgbClr val="C026D3"/>
          </a:solidFill>
          <a:ln/>
          <a:effectLst>
            <a:outerShdw blurRad="76200" dist="38100" dir="5400000" algn="bl" rotWithShape="0">
              <a:srgbClr val="1E0A45">
                <a:alpha val="18000"/>
              </a:srgbClr>
            </a:outerShdw>
          </a:effectLst>
        </p:spPr>
        <p:txBody>
          <a:bodyPr/>
          <a:lstStyle/>
          <a:p>
            <a:endParaRPr lang="es-ES"/>
          </a:p>
        </p:txBody>
      </p:sp>
      <p:sp>
        <p:nvSpPr>
          <p:cNvPr id="13" name="Text 11"/>
          <p:cNvSpPr/>
          <p:nvPr/>
        </p:nvSpPr>
        <p:spPr>
          <a:xfrm>
            <a:off x="6492240" y="3383280"/>
            <a:ext cx="233172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Clase 3</a:t>
            </a:r>
            <a:endParaRPr lang="en-US" sz="1200" dirty="0"/>
          </a:p>
        </p:txBody>
      </p:sp>
      <p:sp>
        <p:nvSpPr>
          <p:cNvPr id="14" name="Text 12"/>
          <p:cNvSpPr/>
          <p:nvPr/>
        </p:nvSpPr>
        <p:spPr>
          <a:xfrm>
            <a:off x="6492240" y="3794760"/>
            <a:ext cx="2331720" cy="1554480"/>
          </a:xfrm>
          <a:prstGeom prst="rect">
            <a:avLst/>
          </a:prstGeom>
          <a:noFill/>
          <a:ln/>
        </p:spPr>
        <p:txBody>
          <a:bodyPr wrap="square" rtlCol="0" anchor="ctr"/>
          <a:lstStyle/>
          <a:p>
            <a:pPr marL="0" indent="0">
              <a:lnSpc>
                <a:spcPts val="2000"/>
              </a:lnSpc>
              <a:buNone/>
            </a:pPr>
            <a:r>
              <a:rPr lang="en-US" sz="1600" b="1" dirty="0">
                <a:solidFill>
                  <a:srgbClr val="FFFFFF"/>
                </a:solidFill>
                <a:latin typeface="Cambria" pitchFamily="34" charset="0"/>
                <a:ea typeface="Cambria" pitchFamily="34" charset="-122"/>
                <a:cs typeface="Cambria" pitchFamily="34" charset="-120"/>
              </a:rPr>
              <a:t>Databricks: clusters, notebooks y MLflow</a:t>
            </a:r>
            <a:endParaRPr lang="en-US" sz="1600" dirty="0"/>
          </a:p>
        </p:txBody>
      </p:sp>
      <p:sp>
        <p:nvSpPr>
          <p:cNvPr id="15" name="Text 13"/>
          <p:cNvSpPr/>
          <p:nvPr/>
        </p:nvSpPr>
        <p:spPr>
          <a:xfrm>
            <a:off x="6492240" y="5166360"/>
            <a:ext cx="233172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HOY</a:t>
            </a:r>
            <a:endParaRPr lang="en-US" sz="1100" dirty="0"/>
          </a:p>
        </p:txBody>
      </p:sp>
      <p:sp>
        <p:nvSpPr>
          <p:cNvPr id="16" name="Shape 14"/>
          <p:cNvSpPr/>
          <p:nvPr/>
        </p:nvSpPr>
        <p:spPr>
          <a:xfrm>
            <a:off x="9235440" y="3200400"/>
            <a:ext cx="2697480" cy="2377440"/>
          </a:xfrm>
          <a:prstGeom prst="roundRect">
            <a:avLst>
              <a:gd name="adj" fmla="val 5385"/>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7" name="Text 15"/>
          <p:cNvSpPr/>
          <p:nvPr/>
        </p:nvSpPr>
        <p:spPr>
          <a:xfrm>
            <a:off x="9418320" y="3383280"/>
            <a:ext cx="2331720" cy="365760"/>
          </a:xfrm>
          <a:prstGeom prst="rect">
            <a:avLst/>
          </a:prstGeom>
          <a:noFill/>
          <a:ln/>
        </p:spPr>
        <p:txBody>
          <a:bodyPr wrap="square" rtlCol="0" anchor="ctr"/>
          <a:lstStyle/>
          <a:p>
            <a:pPr marL="0" indent="0">
              <a:buNone/>
            </a:pPr>
            <a:r>
              <a:rPr lang="en-US" sz="1200" b="1" dirty="0">
                <a:solidFill>
                  <a:srgbClr val="E93DAC"/>
                </a:solidFill>
                <a:latin typeface="Calibri" pitchFamily="34" charset="0"/>
                <a:ea typeface="Calibri" pitchFamily="34" charset="-122"/>
                <a:cs typeface="Calibri" pitchFamily="34" charset="-120"/>
              </a:rPr>
              <a:t>Clase 4</a:t>
            </a:r>
            <a:endParaRPr lang="en-US" sz="1200" dirty="0"/>
          </a:p>
        </p:txBody>
      </p:sp>
      <p:sp>
        <p:nvSpPr>
          <p:cNvPr id="18" name="Text 16"/>
          <p:cNvSpPr/>
          <p:nvPr/>
        </p:nvSpPr>
        <p:spPr>
          <a:xfrm>
            <a:off x="9418320" y="3794760"/>
            <a:ext cx="2331720" cy="1554480"/>
          </a:xfrm>
          <a:prstGeom prst="rect">
            <a:avLst/>
          </a:prstGeom>
          <a:noFill/>
          <a:ln/>
        </p:spPr>
        <p:txBody>
          <a:bodyPr wrap="square" rtlCol="0" anchor="ctr"/>
          <a:lstStyle/>
          <a:p>
            <a:pPr marL="0" indent="0">
              <a:lnSpc>
                <a:spcPts val="2000"/>
              </a:lnSpc>
              <a:buNone/>
            </a:pPr>
            <a:r>
              <a:rPr lang="en-US" sz="1600" b="1" dirty="0">
                <a:solidFill>
                  <a:srgbClr val="FFFFFF"/>
                </a:solidFill>
                <a:latin typeface="Cambria" pitchFamily="34" charset="0"/>
                <a:ea typeface="Cambria" pitchFamily="34" charset="-122"/>
                <a:cs typeface="Cambria" pitchFamily="34" charset="-120"/>
              </a:rPr>
              <a:t>Proyecto final: Lab dirigido</a:t>
            </a:r>
            <a:endParaRPr lang="en-US" sz="1600" dirty="0"/>
          </a:p>
        </p:txBody>
      </p:sp>
      <p:sp>
        <p:nvSpPr>
          <p:cNvPr id="19" name="Text 17"/>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20" name="Text 18"/>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AL FINAL DE ESTA CLASE, EL ESTUDIANTE PODRÁ</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241242"/>
                </a:solidFill>
                <a:latin typeface="Cambria" pitchFamily="34" charset="0"/>
                <a:ea typeface="Cambria" pitchFamily="34" charset="-122"/>
                <a:cs typeface="Cambria" pitchFamily="34" charset="-120"/>
              </a:rPr>
              <a:t>Objetivos de aprendizaje</a:t>
            </a:r>
            <a:endParaRPr lang="en-US" sz="3200" dirty="0"/>
          </a:p>
        </p:txBody>
      </p:sp>
      <p:sp>
        <p:nvSpPr>
          <p:cNvPr id="5" name="Shape 3"/>
          <p:cNvSpPr/>
          <p:nvPr/>
        </p:nvSpPr>
        <p:spPr>
          <a:xfrm>
            <a:off x="457200" y="1965960"/>
            <a:ext cx="502920" cy="502920"/>
          </a:xfrm>
          <a:prstGeom prst="ellipse">
            <a:avLst/>
          </a:prstGeom>
          <a:solidFill>
            <a:srgbClr val="5B21B6"/>
          </a:solidFill>
          <a:ln/>
        </p:spPr>
        <p:txBody>
          <a:bodyPr/>
          <a:lstStyle/>
          <a:p>
            <a:endParaRPr lang="es-ES"/>
          </a:p>
        </p:txBody>
      </p:sp>
      <p:sp>
        <p:nvSpPr>
          <p:cNvPr id="6" name="Text 4"/>
          <p:cNvSpPr/>
          <p:nvPr/>
        </p:nvSpPr>
        <p:spPr>
          <a:xfrm>
            <a:off x="457200" y="19659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188720" y="1920240"/>
            <a:ext cx="10424160" cy="685800"/>
          </a:xfrm>
          <a:prstGeom prst="rect">
            <a:avLst/>
          </a:prstGeom>
          <a:noFill/>
          <a:ln/>
        </p:spPr>
        <p:txBody>
          <a:bodyPr wrap="square" rtlCol="0" anchor="ctr"/>
          <a:lstStyle/>
          <a:p>
            <a:pPr marL="0" indent="0">
              <a:lnSpc>
                <a:spcPts val="1800"/>
              </a:lnSpc>
              <a:buNone/>
            </a:pPr>
            <a:r>
              <a:rPr lang="en-US" sz="1450" dirty="0">
                <a:solidFill>
                  <a:srgbClr val="241242"/>
                </a:solidFill>
                <a:latin typeface="Calibri" pitchFamily="34" charset="0"/>
                <a:ea typeface="Calibri" pitchFamily="34" charset="-122"/>
                <a:cs typeface="Calibri" pitchFamily="34" charset="-120"/>
              </a:rPr>
              <a:t>Explicar la arquitectura Lakehouse de Databricks y sus componentes (Control Plane, Data Plane, DBFS, Workspace).</a:t>
            </a:r>
            <a:endParaRPr lang="en-US" sz="1450" dirty="0"/>
          </a:p>
        </p:txBody>
      </p:sp>
      <p:sp>
        <p:nvSpPr>
          <p:cNvPr id="8" name="Shape 6"/>
          <p:cNvSpPr/>
          <p:nvPr/>
        </p:nvSpPr>
        <p:spPr>
          <a:xfrm>
            <a:off x="457200" y="2807208"/>
            <a:ext cx="502920" cy="502920"/>
          </a:xfrm>
          <a:prstGeom prst="ellipse">
            <a:avLst/>
          </a:prstGeom>
          <a:solidFill>
            <a:srgbClr val="5B21B6"/>
          </a:solidFill>
          <a:ln/>
        </p:spPr>
        <p:txBody>
          <a:bodyPr/>
          <a:lstStyle/>
          <a:p>
            <a:endParaRPr lang="es-ES"/>
          </a:p>
        </p:txBody>
      </p:sp>
      <p:sp>
        <p:nvSpPr>
          <p:cNvPr id="9" name="Text 7"/>
          <p:cNvSpPr/>
          <p:nvPr/>
        </p:nvSpPr>
        <p:spPr>
          <a:xfrm>
            <a:off x="457200" y="28072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188720" y="2761488"/>
            <a:ext cx="10424160" cy="685800"/>
          </a:xfrm>
          <a:prstGeom prst="rect">
            <a:avLst/>
          </a:prstGeom>
          <a:noFill/>
          <a:ln/>
        </p:spPr>
        <p:txBody>
          <a:bodyPr wrap="square" rtlCol="0" anchor="ctr"/>
          <a:lstStyle/>
          <a:p>
            <a:pPr marL="0" indent="0">
              <a:lnSpc>
                <a:spcPts val="1800"/>
              </a:lnSpc>
              <a:buNone/>
            </a:pPr>
            <a:r>
              <a:rPr lang="en-US" sz="1450" dirty="0">
                <a:solidFill>
                  <a:srgbClr val="241242"/>
                </a:solidFill>
                <a:latin typeface="Calibri" pitchFamily="34" charset="0"/>
                <a:ea typeface="Calibri" pitchFamily="34" charset="-122"/>
                <a:cs typeface="Calibri" pitchFamily="34" charset="-120"/>
              </a:rPr>
              <a:t>Crear y configurar clusters (all-purpose y de trabajo), eligiendo runtime y política de autoescalado adecuados.</a:t>
            </a:r>
            <a:endParaRPr lang="en-US" sz="1450" dirty="0"/>
          </a:p>
        </p:txBody>
      </p:sp>
      <p:sp>
        <p:nvSpPr>
          <p:cNvPr id="11" name="Shape 9"/>
          <p:cNvSpPr/>
          <p:nvPr/>
        </p:nvSpPr>
        <p:spPr>
          <a:xfrm>
            <a:off x="457200" y="3648456"/>
            <a:ext cx="502920" cy="502920"/>
          </a:xfrm>
          <a:prstGeom prst="ellipse">
            <a:avLst/>
          </a:prstGeom>
          <a:solidFill>
            <a:srgbClr val="5B21B6"/>
          </a:solidFill>
          <a:ln/>
        </p:spPr>
        <p:txBody>
          <a:bodyPr/>
          <a:lstStyle/>
          <a:p>
            <a:endParaRPr lang="es-ES"/>
          </a:p>
        </p:txBody>
      </p:sp>
      <p:sp>
        <p:nvSpPr>
          <p:cNvPr id="12" name="Text 10"/>
          <p:cNvSpPr/>
          <p:nvPr/>
        </p:nvSpPr>
        <p:spPr>
          <a:xfrm>
            <a:off x="457200" y="364845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1"/>
          <p:cNvSpPr/>
          <p:nvPr/>
        </p:nvSpPr>
        <p:spPr>
          <a:xfrm>
            <a:off x="1188720" y="3602736"/>
            <a:ext cx="10424160" cy="685800"/>
          </a:xfrm>
          <a:prstGeom prst="rect">
            <a:avLst/>
          </a:prstGeom>
          <a:noFill/>
          <a:ln/>
        </p:spPr>
        <p:txBody>
          <a:bodyPr wrap="square" rtlCol="0" anchor="ctr"/>
          <a:lstStyle/>
          <a:p>
            <a:pPr marL="0" indent="0">
              <a:lnSpc>
                <a:spcPts val="1800"/>
              </a:lnSpc>
              <a:buNone/>
            </a:pPr>
            <a:r>
              <a:rPr lang="en-US" sz="1450" dirty="0">
                <a:solidFill>
                  <a:srgbClr val="241242"/>
                </a:solidFill>
                <a:latin typeface="Calibri" pitchFamily="34" charset="0"/>
                <a:ea typeface="Calibri" pitchFamily="34" charset="-122"/>
                <a:cs typeface="Calibri" pitchFamily="34" charset="-120"/>
              </a:rPr>
              <a:t>Trabajar de forma colaborativa en notebooks multi-lenguaje, usando magic commands y control de versiones con Repos.</a:t>
            </a:r>
            <a:endParaRPr lang="en-US" sz="1450" dirty="0"/>
          </a:p>
        </p:txBody>
      </p:sp>
      <p:sp>
        <p:nvSpPr>
          <p:cNvPr id="14" name="Shape 12"/>
          <p:cNvSpPr/>
          <p:nvPr/>
        </p:nvSpPr>
        <p:spPr>
          <a:xfrm>
            <a:off x="457200" y="4489704"/>
            <a:ext cx="502920" cy="502920"/>
          </a:xfrm>
          <a:prstGeom prst="ellipse">
            <a:avLst/>
          </a:prstGeom>
          <a:solidFill>
            <a:srgbClr val="5B21B6"/>
          </a:solidFill>
          <a:ln/>
        </p:spPr>
        <p:txBody>
          <a:bodyPr/>
          <a:lstStyle/>
          <a:p>
            <a:endParaRPr lang="es-ES"/>
          </a:p>
        </p:txBody>
      </p:sp>
      <p:sp>
        <p:nvSpPr>
          <p:cNvPr id="15" name="Text 13"/>
          <p:cNvSpPr/>
          <p:nvPr/>
        </p:nvSpPr>
        <p:spPr>
          <a:xfrm>
            <a:off x="457200" y="448970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6" name="Text 14"/>
          <p:cNvSpPr/>
          <p:nvPr/>
        </p:nvSpPr>
        <p:spPr>
          <a:xfrm>
            <a:off x="1188720" y="4443984"/>
            <a:ext cx="10424160" cy="685800"/>
          </a:xfrm>
          <a:prstGeom prst="rect">
            <a:avLst/>
          </a:prstGeom>
          <a:noFill/>
          <a:ln/>
        </p:spPr>
        <p:txBody>
          <a:bodyPr wrap="square" rtlCol="0" anchor="ctr"/>
          <a:lstStyle/>
          <a:p>
            <a:pPr marL="0" indent="0">
              <a:lnSpc>
                <a:spcPts val="1800"/>
              </a:lnSpc>
              <a:buNone/>
            </a:pPr>
            <a:r>
              <a:rPr lang="en-US" sz="1450" dirty="0">
                <a:solidFill>
                  <a:srgbClr val="241242"/>
                </a:solidFill>
                <a:latin typeface="Calibri" pitchFamily="34" charset="0"/>
                <a:ea typeface="Calibri" pitchFamily="34" charset="-122"/>
                <a:cs typeface="Calibri" pitchFamily="34" charset="-120"/>
              </a:rPr>
              <a:t>Registrar experimentos de Machine Learning con MLflow Tracking: parámetros, métricas y artefactos.</a:t>
            </a:r>
            <a:endParaRPr lang="en-US" sz="1450" dirty="0"/>
          </a:p>
        </p:txBody>
      </p:sp>
      <p:sp>
        <p:nvSpPr>
          <p:cNvPr id="17" name="Shape 15"/>
          <p:cNvSpPr/>
          <p:nvPr/>
        </p:nvSpPr>
        <p:spPr>
          <a:xfrm>
            <a:off x="457200" y="5330952"/>
            <a:ext cx="502920" cy="502920"/>
          </a:xfrm>
          <a:prstGeom prst="ellipse">
            <a:avLst/>
          </a:prstGeom>
          <a:solidFill>
            <a:srgbClr val="5B21B6"/>
          </a:solidFill>
          <a:ln/>
        </p:spPr>
        <p:txBody>
          <a:bodyPr/>
          <a:lstStyle/>
          <a:p>
            <a:endParaRPr lang="es-ES"/>
          </a:p>
        </p:txBody>
      </p:sp>
      <p:sp>
        <p:nvSpPr>
          <p:cNvPr id="18" name="Text 16"/>
          <p:cNvSpPr/>
          <p:nvPr/>
        </p:nvSpPr>
        <p:spPr>
          <a:xfrm>
            <a:off x="457200" y="53309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9" name="Text 17"/>
          <p:cNvSpPr/>
          <p:nvPr/>
        </p:nvSpPr>
        <p:spPr>
          <a:xfrm>
            <a:off x="1188720" y="5285232"/>
            <a:ext cx="10424160" cy="685800"/>
          </a:xfrm>
          <a:prstGeom prst="rect">
            <a:avLst/>
          </a:prstGeom>
          <a:noFill/>
          <a:ln/>
        </p:spPr>
        <p:txBody>
          <a:bodyPr wrap="square" rtlCol="0" anchor="ctr"/>
          <a:lstStyle/>
          <a:p>
            <a:pPr marL="0" indent="0">
              <a:lnSpc>
                <a:spcPts val="1800"/>
              </a:lnSpc>
              <a:buNone/>
            </a:pPr>
            <a:r>
              <a:rPr lang="en-US" sz="1450" dirty="0">
                <a:solidFill>
                  <a:srgbClr val="241242"/>
                </a:solidFill>
                <a:latin typeface="Calibri" pitchFamily="34" charset="0"/>
                <a:ea typeface="Calibri" pitchFamily="34" charset="-122"/>
                <a:cs typeface="Calibri" pitchFamily="34" charset="-120"/>
              </a:rPr>
              <a:t>Registrar, versionar y promover modelos usando el MLflow Model Registry (Staging → Production).</a:t>
            </a:r>
            <a:endParaRPr lang="en-US" sz="1450" dirty="0"/>
          </a:p>
        </p:txBody>
      </p:sp>
      <p:sp>
        <p:nvSpPr>
          <p:cNvPr id="20" name="Text 18"/>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1" name="Text 19"/>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400800" cy="6400800"/>
          </a:xfrm>
          <a:prstGeom prst="ellipse">
            <a:avLst/>
          </a:prstGeom>
          <a:solidFill>
            <a:srgbClr val="5B21B6">
              <a:alpha val="45000"/>
            </a:srgbClr>
          </a:solidFill>
          <a:ln/>
        </p:spPr>
        <p:txBody>
          <a:bodyPr/>
          <a:lstStyle/>
          <a:p>
            <a:endParaRPr lang="es-ES"/>
          </a:p>
        </p:txBody>
      </p:sp>
      <p:sp>
        <p:nvSpPr>
          <p:cNvPr id="3" name="Text 1"/>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4" name="Text 2"/>
          <p:cNvSpPr/>
          <p:nvPr/>
        </p:nvSpPr>
        <p:spPr>
          <a:xfrm>
            <a:off x="457200" y="1828800"/>
            <a:ext cx="3657600" cy="1463040"/>
          </a:xfrm>
          <a:prstGeom prst="rect">
            <a:avLst/>
          </a:prstGeom>
          <a:noFill/>
          <a:ln/>
        </p:spPr>
        <p:txBody>
          <a:bodyPr wrap="square" rtlCol="0" anchor="ctr"/>
          <a:lstStyle/>
          <a:p>
            <a:pPr marL="0" indent="0">
              <a:buNone/>
            </a:pPr>
            <a:r>
              <a:rPr lang="en-US" sz="9000" b="1" dirty="0">
                <a:solidFill>
                  <a:srgbClr val="2D0F5E"/>
                </a:solidFill>
                <a:latin typeface="Cambria" pitchFamily="34" charset="0"/>
                <a:ea typeface="Cambria" pitchFamily="34" charset="-122"/>
                <a:cs typeface="Cambria" pitchFamily="34" charset="-120"/>
              </a:rPr>
              <a:t>01</a:t>
            </a:r>
            <a:endParaRPr lang="en-US" sz="9000" dirty="0"/>
          </a:p>
        </p:txBody>
      </p:sp>
      <p:sp>
        <p:nvSpPr>
          <p:cNvPr id="5" name="Text 3"/>
          <p:cNvSpPr/>
          <p:nvPr/>
        </p:nvSpPr>
        <p:spPr>
          <a:xfrm>
            <a:off x="502920" y="324612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TEORÍA — BLOQUE 1</a:t>
            </a:r>
            <a:endParaRPr lang="en-US" sz="1300" dirty="0"/>
          </a:p>
        </p:txBody>
      </p:sp>
      <p:sp>
        <p:nvSpPr>
          <p:cNvPr id="6" name="Text 4"/>
          <p:cNvSpPr/>
          <p:nvPr/>
        </p:nvSpPr>
        <p:spPr>
          <a:xfrm>
            <a:off x="457200" y="3611880"/>
            <a:ext cx="1051560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La plataforma Lakehouse de Databricks</a:t>
            </a:r>
            <a:endParaRPr lang="en-US" sz="3800" dirty="0"/>
          </a:p>
        </p:txBody>
      </p:sp>
      <p:sp>
        <p:nvSpPr>
          <p:cNvPr id="7" name="Text 5"/>
          <p:cNvSpPr/>
          <p:nvPr/>
        </p:nvSpPr>
        <p:spPr>
          <a:xfrm>
            <a:off x="457200" y="4709160"/>
            <a:ext cx="9601200" cy="64008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Fundamentos de arquitectura: por qué Databricks unifica Data Engineering y Data Science</a:t>
            </a:r>
            <a:endParaRPr lang="en-US" sz="1500" dirty="0"/>
          </a:p>
        </p:txBody>
      </p:sp>
      <p:sp>
        <p:nvSpPr>
          <p:cNvPr id="8" name="Text 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9" name="Text 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CONCEPTO CLAVE</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241242"/>
                </a:solidFill>
                <a:latin typeface="Cambria" pitchFamily="34" charset="0"/>
                <a:ea typeface="Cambria" pitchFamily="34" charset="-122"/>
                <a:cs typeface="Cambria" pitchFamily="34" charset="-120"/>
              </a:rPr>
              <a:t>¿Qué es Databricks?</a:t>
            </a:r>
            <a:endParaRPr lang="en-US" sz="3200" dirty="0"/>
          </a:p>
        </p:txBody>
      </p:sp>
      <p:sp>
        <p:nvSpPr>
          <p:cNvPr id="5" name="Text 3"/>
          <p:cNvSpPr/>
          <p:nvPr/>
        </p:nvSpPr>
        <p:spPr>
          <a:xfrm>
            <a:off x="457200" y="1783080"/>
            <a:ext cx="5577840" cy="1737360"/>
          </a:xfrm>
          <a:prstGeom prst="rect">
            <a:avLst/>
          </a:prstGeom>
          <a:noFill/>
          <a:ln/>
        </p:spPr>
        <p:txBody>
          <a:bodyPr wrap="square" rtlCol="0" anchor="ctr"/>
          <a:lstStyle/>
          <a:p>
            <a:pPr marL="0" indent="0">
              <a:lnSpc>
                <a:spcPts val="2100"/>
              </a:lnSpc>
              <a:buNone/>
            </a:pPr>
            <a:r>
              <a:rPr lang="en-US" sz="1500" dirty="0">
                <a:solidFill>
                  <a:srgbClr val="241242"/>
                </a:solidFill>
                <a:latin typeface="Calibri" pitchFamily="34" charset="0"/>
                <a:ea typeface="Calibri" pitchFamily="34" charset="-122"/>
                <a:cs typeface="Calibri" pitchFamily="34" charset="-120"/>
              </a:rPr>
              <a:t>Una plataforma unificada de análisis de datos, construida sobre Apache Spark, que combina lo mejor de un Data Warehouse (gobernanza, transacciones) con lo mejor de un Data Lake (escalabilidad, datos crudos) en una sola arquitectura: el Lakehouse.</a:t>
            </a:r>
            <a:endParaRPr lang="en-US" sz="1500" dirty="0"/>
          </a:p>
        </p:txBody>
      </p:sp>
      <p:sp>
        <p:nvSpPr>
          <p:cNvPr id="6" name="Text 4"/>
          <p:cNvSpPr/>
          <p:nvPr/>
        </p:nvSpPr>
        <p:spPr>
          <a:xfrm>
            <a:off x="457200" y="3749040"/>
            <a:ext cx="26517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Colaboración</a:t>
            </a:r>
            <a:endParaRPr lang="en-US" sz="1300" dirty="0"/>
          </a:p>
        </p:txBody>
      </p:sp>
      <p:sp>
        <p:nvSpPr>
          <p:cNvPr id="7" name="Text 5"/>
          <p:cNvSpPr/>
          <p:nvPr/>
        </p:nvSpPr>
        <p:spPr>
          <a:xfrm>
            <a:off x="457200" y="4069080"/>
            <a:ext cx="2651760" cy="91440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Notebooks compartidos en tiempo real entre Data Engineers, Data Scientists y Analistas.</a:t>
            </a:r>
            <a:endParaRPr lang="en-US" sz="1100" dirty="0"/>
          </a:p>
        </p:txBody>
      </p:sp>
      <p:sp>
        <p:nvSpPr>
          <p:cNvPr id="8" name="Text 6"/>
          <p:cNvSpPr/>
          <p:nvPr/>
        </p:nvSpPr>
        <p:spPr>
          <a:xfrm>
            <a:off x="3291840" y="3749040"/>
            <a:ext cx="26517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Escalabilidad</a:t>
            </a:r>
            <a:endParaRPr lang="en-US" sz="1300" dirty="0"/>
          </a:p>
        </p:txBody>
      </p:sp>
      <p:sp>
        <p:nvSpPr>
          <p:cNvPr id="9" name="Text 7"/>
          <p:cNvSpPr/>
          <p:nvPr/>
        </p:nvSpPr>
        <p:spPr>
          <a:xfrm>
            <a:off x="3291840" y="4069080"/>
            <a:ext cx="2651760" cy="91440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Clusters Spark que procesan desde GBs hasta PBs de datos bajo demanda.</a:t>
            </a:r>
            <a:endParaRPr lang="en-US" sz="1100" dirty="0"/>
          </a:p>
        </p:txBody>
      </p:sp>
      <p:sp>
        <p:nvSpPr>
          <p:cNvPr id="10" name="Text 8"/>
          <p:cNvSpPr/>
          <p:nvPr/>
        </p:nvSpPr>
        <p:spPr>
          <a:xfrm>
            <a:off x="457200" y="5120640"/>
            <a:ext cx="26517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ML nativo</a:t>
            </a:r>
            <a:endParaRPr lang="en-US" sz="1300" dirty="0"/>
          </a:p>
        </p:txBody>
      </p:sp>
      <p:sp>
        <p:nvSpPr>
          <p:cNvPr id="11" name="Text 9"/>
          <p:cNvSpPr/>
          <p:nvPr/>
        </p:nvSpPr>
        <p:spPr>
          <a:xfrm>
            <a:off x="457200" y="5440680"/>
            <a:ext cx="2651760" cy="91440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MLflow integrado para todo el ciclo de vida de Machine Learning.</a:t>
            </a:r>
            <a:endParaRPr lang="en-US" sz="1100" dirty="0"/>
          </a:p>
        </p:txBody>
      </p:sp>
      <p:sp>
        <p:nvSpPr>
          <p:cNvPr id="12" name="Text 10"/>
          <p:cNvSpPr/>
          <p:nvPr/>
        </p:nvSpPr>
        <p:spPr>
          <a:xfrm>
            <a:off x="3291840" y="5120640"/>
            <a:ext cx="26517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Multi-nube</a:t>
            </a:r>
            <a:endParaRPr lang="en-US" sz="1300" dirty="0"/>
          </a:p>
        </p:txBody>
      </p:sp>
      <p:sp>
        <p:nvSpPr>
          <p:cNvPr id="13" name="Text 11"/>
          <p:cNvSpPr/>
          <p:nvPr/>
        </p:nvSpPr>
        <p:spPr>
          <a:xfrm>
            <a:off x="3291840" y="5440680"/>
            <a:ext cx="2651760" cy="91440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Disponible en AWS, Azure y GCP con la misma experiencia.</a:t>
            </a:r>
            <a:endParaRPr lang="en-US" sz="1100" dirty="0"/>
          </a:p>
        </p:txBody>
      </p:sp>
      <p:sp>
        <p:nvSpPr>
          <p:cNvPr id="14" name="Shape 12"/>
          <p:cNvSpPr/>
          <p:nvPr/>
        </p:nvSpPr>
        <p:spPr>
          <a:xfrm>
            <a:off x="6492240" y="1783080"/>
            <a:ext cx="5212080" cy="4480560"/>
          </a:xfrm>
          <a:prstGeom prst="roundRect">
            <a:avLst>
              <a:gd name="adj" fmla="val 3265"/>
            </a:avLst>
          </a:prstGeom>
          <a:solidFill>
            <a:srgbClr val="1E0A45"/>
          </a:solidFill>
          <a:ln/>
          <a:effectLst>
            <a:outerShdw blurRad="76200" dist="38100" dir="5400000" algn="bl" rotWithShape="0">
              <a:srgbClr val="1E0A45">
                <a:alpha val="18000"/>
              </a:srgbClr>
            </a:outerShdw>
          </a:effectLst>
        </p:spPr>
        <p:txBody>
          <a:bodyPr/>
          <a:lstStyle/>
          <a:p>
            <a:endParaRPr lang="es-ES"/>
          </a:p>
        </p:txBody>
      </p:sp>
      <p:sp>
        <p:nvSpPr>
          <p:cNvPr id="15" name="Text 13"/>
          <p:cNvSpPr/>
          <p:nvPr/>
        </p:nvSpPr>
        <p:spPr>
          <a:xfrm>
            <a:off x="6675120" y="1965960"/>
            <a:ext cx="4846320" cy="365760"/>
          </a:xfrm>
          <a:prstGeom prst="rect">
            <a:avLst/>
          </a:prstGeom>
          <a:noFill/>
          <a:ln/>
        </p:spPr>
        <p:txBody>
          <a:bodyPr wrap="square" rtlCol="0" anchor="ctr"/>
          <a:lstStyle/>
          <a:p>
            <a:pPr marL="0" indent="0">
              <a:buNone/>
            </a:pPr>
            <a:r>
              <a:rPr lang="en-US" sz="1200" b="1" dirty="0">
                <a:solidFill>
                  <a:srgbClr val="E93DAC"/>
                </a:solidFill>
                <a:latin typeface="Calibri" pitchFamily="34" charset="0"/>
                <a:ea typeface="Calibri" pitchFamily="34" charset="-122"/>
                <a:cs typeface="Calibri" pitchFamily="34" charset="-120"/>
              </a:rPr>
              <a:t>Data Warehouse + Data Lake</a:t>
            </a:r>
            <a:endParaRPr lang="en-US" sz="1200" dirty="0"/>
          </a:p>
        </p:txBody>
      </p:sp>
      <p:sp>
        <p:nvSpPr>
          <p:cNvPr id="16" name="Shape 14"/>
          <p:cNvSpPr/>
          <p:nvPr/>
        </p:nvSpPr>
        <p:spPr>
          <a:xfrm>
            <a:off x="6720840" y="2423160"/>
            <a:ext cx="2286000" cy="1005840"/>
          </a:xfrm>
          <a:prstGeom prst="roundRect">
            <a:avLst>
              <a:gd name="adj" fmla="val 9091"/>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7" name="Text 15"/>
          <p:cNvSpPr/>
          <p:nvPr/>
        </p:nvSpPr>
        <p:spPr>
          <a:xfrm>
            <a:off x="6720840" y="2423160"/>
            <a:ext cx="2286000" cy="10058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Warehouse</a:t>
            </a:r>
            <a:endParaRPr lang="en-US" sz="1300" dirty="0"/>
          </a:p>
        </p:txBody>
      </p:sp>
      <p:sp>
        <p:nvSpPr>
          <p:cNvPr id="18" name="Shape 16"/>
          <p:cNvSpPr/>
          <p:nvPr/>
        </p:nvSpPr>
        <p:spPr>
          <a:xfrm>
            <a:off x="9189720" y="2423160"/>
            <a:ext cx="2286000" cy="1005840"/>
          </a:xfrm>
          <a:prstGeom prst="roundRect">
            <a:avLst>
              <a:gd name="adj" fmla="val 9091"/>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9" name="Text 17"/>
          <p:cNvSpPr/>
          <p:nvPr/>
        </p:nvSpPr>
        <p:spPr>
          <a:xfrm>
            <a:off x="9189720" y="2423160"/>
            <a:ext cx="2286000" cy="10058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Lake</a:t>
            </a:r>
            <a:endParaRPr lang="en-US" sz="1300" dirty="0"/>
          </a:p>
        </p:txBody>
      </p:sp>
      <p:sp>
        <p:nvSpPr>
          <p:cNvPr id="20" name="Text 18"/>
          <p:cNvSpPr/>
          <p:nvPr/>
        </p:nvSpPr>
        <p:spPr>
          <a:xfrm>
            <a:off x="8732520" y="2423160"/>
            <a:ext cx="457200" cy="100584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21" name="Text 19"/>
          <p:cNvSpPr/>
          <p:nvPr/>
        </p:nvSpPr>
        <p:spPr>
          <a:xfrm>
            <a:off x="8138160" y="3611880"/>
            <a:ext cx="1280160" cy="457200"/>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22" name="Shape 20"/>
          <p:cNvSpPr/>
          <p:nvPr/>
        </p:nvSpPr>
        <p:spPr>
          <a:xfrm>
            <a:off x="6720840" y="4160520"/>
            <a:ext cx="4754880" cy="1874520"/>
          </a:xfrm>
          <a:prstGeom prst="roundRect">
            <a:avLst>
              <a:gd name="adj" fmla="val 6829"/>
            </a:avLst>
          </a:prstGeom>
          <a:solidFill>
            <a:srgbClr val="C026D3"/>
          </a:solidFill>
          <a:ln/>
          <a:effectLst>
            <a:outerShdw blurRad="76200" dist="38100" dir="5400000" algn="bl" rotWithShape="0">
              <a:srgbClr val="1E0A45">
                <a:alpha val="18000"/>
              </a:srgbClr>
            </a:outerShdw>
          </a:effectLst>
        </p:spPr>
        <p:txBody>
          <a:bodyPr/>
          <a:lstStyle/>
          <a:p>
            <a:endParaRPr lang="es-ES"/>
          </a:p>
        </p:txBody>
      </p:sp>
      <p:sp>
        <p:nvSpPr>
          <p:cNvPr id="23" name="Text 21"/>
          <p:cNvSpPr/>
          <p:nvPr/>
        </p:nvSpPr>
        <p:spPr>
          <a:xfrm>
            <a:off x="6720840" y="4297680"/>
            <a:ext cx="4754880" cy="41148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LAKEHOUSE</a:t>
            </a:r>
            <a:endParaRPr lang="en-US" sz="2000" dirty="0"/>
          </a:p>
        </p:txBody>
      </p:sp>
      <p:sp>
        <p:nvSpPr>
          <p:cNvPr id="24" name="Text 22"/>
          <p:cNvSpPr/>
          <p:nvPr/>
        </p:nvSpPr>
        <p:spPr>
          <a:xfrm>
            <a:off x="6903720" y="4754880"/>
            <a:ext cx="4389120" cy="1188720"/>
          </a:xfrm>
          <a:prstGeom prst="rect">
            <a:avLst/>
          </a:prstGeom>
          <a:noFill/>
          <a:ln/>
        </p:spPr>
        <p:txBody>
          <a:bodyPr wrap="square" rtlCol="0" anchor="ctr"/>
          <a:lstStyle/>
          <a:p>
            <a:pPr marL="0" indent="0" algn="ctr">
              <a:lnSpc>
                <a:spcPts val="1800"/>
              </a:lnSpc>
              <a:buNone/>
            </a:pPr>
            <a:r>
              <a:rPr lang="en-US" sz="1250" dirty="0">
                <a:solidFill>
                  <a:srgbClr val="FFFFFF"/>
                </a:solidFill>
                <a:latin typeface="Calibri" pitchFamily="34" charset="0"/>
                <a:ea typeface="Calibri" pitchFamily="34" charset="-122"/>
                <a:cs typeface="Calibri" pitchFamily="34" charset="-120"/>
              </a:rPr>
              <a:t>Gobernanza y transacciones ACID</a:t>
            </a:r>
            <a:endParaRPr lang="en-US" sz="1250" dirty="0"/>
          </a:p>
          <a:p>
            <a:pPr marL="0" indent="0" algn="ctr">
              <a:lnSpc>
                <a:spcPts val="1800"/>
              </a:lnSpc>
              <a:buNone/>
            </a:pPr>
            <a:r>
              <a:rPr lang="en-US" sz="1250" dirty="0">
                <a:solidFill>
                  <a:srgbClr val="FFFFFF"/>
                </a:solidFill>
                <a:latin typeface="Calibri" pitchFamily="34" charset="0"/>
                <a:ea typeface="Calibri" pitchFamily="34" charset="-122"/>
                <a:cs typeface="Calibri" pitchFamily="34" charset="-120"/>
              </a:rPr>
              <a:t>+ escalabilidad de Big Data</a:t>
            </a:r>
            <a:endParaRPr lang="en-US" sz="1250" dirty="0"/>
          </a:p>
          <a:p>
            <a:pPr marL="0" indent="0" algn="ctr">
              <a:lnSpc>
                <a:spcPts val="1800"/>
              </a:lnSpc>
              <a:buNone/>
            </a:pPr>
            <a:r>
              <a:rPr lang="en-US" sz="1250" dirty="0">
                <a:solidFill>
                  <a:srgbClr val="FFFFFF"/>
                </a:solidFill>
                <a:latin typeface="Calibri" pitchFamily="34" charset="0"/>
                <a:ea typeface="Calibri" pitchFamily="34" charset="-122"/>
                <a:cs typeface="Calibri" pitchFamily="34" charset="-120"/>
              </a:rPr>
              <a:t>+ soporte nativo para ML/IA</a:t>
            </a:r>
            <a:endParaRPr lang="en-US" sz="1250" dirty="0"/>
          </a:p>
        </p:txBody>
      </p:sp>
      <p:sp>
        <p:nvSpPr>
          <p:cNvPr id="25" name="Text 23"/>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6" name="Text 24"/>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CÓMO ESTÁ CONSTRUIDO POR DENTRO</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Arquitectura: Control Plane vs. Data Plane</a:t>
            </a:r>
            <a:endParaRPr lang="en-US" sz="2800" dirty="0"/>
          </a:p>
        </p:txBody>
      </p:sp>
      <p:sp>
        <p:nvSpPr>
          <p:cNvPr id="5" name="Shape 3"/>
          <p:cNvSpPr/>
          <p:nvPr/>
        </p:nvSpPr>
        <p:spPr>
          <a:xfrm>
            <a:off x="457200" y="1920240"/>
            <a:ext cx="5394960" cy="4114800"/>
          </a:xfrm>
          <a:prstGeom prst="roundRect">
            <a:avLst>
              <a:gd name="adj" fmla="val 3556"/>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685800" y="2103120"/>
            <a:ext cx="4937760" cy="365760"/>
          </a:xfrm>
          <a:prstGeom prst="rect">
            <a:avLst/>
          </a:prstGeom>
          <a:noFill/>
          <a:ln/>
        </p:spPr>
        <p:txBody>
          <a:bodyPr wrap="square" rtlCol="0" anchor="ctr"/>
          <a:lstStyle/>
          <a:p>
            <a:pPr marL="0" indent="0">
              <a:buNone/>
            </a:pPr>
            <a:r>
              <a:rPr lang="en-US" sz="1300" b="1" dirty="0">
                <a:solidFill>
                  <a:srgbClr val="E93DAC"/>
                </a:solidFill>
                <a:latin typeface="Calibri" pitchFamily="34" charset="0"/>
                <a:ea typeface="Calibri" pitchFamily="34" charset="-122"/>
                <a:cs typeface="Calibri" pitchFamily="34" charset="-120"/>
              </a:rPr>
              <a:t>CONTROL PLANE</a:t>
            </a:r>
            <a:endParaRPr lang="en-US" sz="1300" dirty="0"/>
          </a:p>
        </p:txBody>
      </p:sp>
      <p:sp>
        <p:nvSpPr>
          <p:cNvPr id="7" name="Text 5"/>
          <p:cNvSpPr/>
          <p:nvPr/>
        </p:nvSpPr>
        <p:spPr>
          <a:xfrm>
            <a:off x="685800" y="2450592"/>
            <a:ext cx="4937760" cy="274320"/>
          </a:xfrm>
          <a:prstGeom prst="rect">
            <a:avLst/>
          </a:prstGeom>
          <a:noFill/>
          <a:ln/>
        </p:spPr>
        <p:txBody>
          <a:bodyPr wrap="square" rtlCol="0" anchor="ctr"/>
          <a:lstStyle/>
          <a:p>
            <a:pPr marL="0" indent="0">
              <a:buNone/>
            </a:pPr>
            <a:r>
              <a:rPr lang="en-US" sz="1100" i="1" dirty="0">
                <a:solidFill>
                  <a:srgbClr val="B8A9E0"/>
                </a:solidFill>
                <a:latin typeface="Calibri" pitchFamily="34" charset="0"/>
                <a:ea typeface="Calibri" pitchFamily="34" charset="-122"/>
                <a:cs typeface="Calibri" pitchFamily="34" charset="-120"/>
              </a:rPr>
              <a:t>Administrado por Databricks</a:t>
            </a:r>
            <a:endParaRPr lang="en-US" sz="1100" dirty="0"/>
          </a:p>
        </p:txBody>
      </p:sp>
      <p:sp>
        <p:nvSpPr>
          <p:cNvPr id="8" name="Text 6"/>
          <p:cNvSpPr/>
          <p:nvPr/>
        </p:nvSpPr>
        <p:spPr>
          <a:xfrm>
            <a:off x="822960" y="2880360"/>
            <a:ext cx="475488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Workspace (UI web, notebooks)</a:t>
            </a:r>
            <a:endParaRPr lang="en-US" sz="1300" dirty="0"/>
          </a:p>
        </p:txBody>
      </p:sp>
      <p:sp>
        <p:nvSpPr>
          <p:cNvPr id="9" name="Text 7"/>
          <p:cNvSpPr/>
          <p:nvPr/>
        </p:nvSpPr>
        <p:spPr>
          <a:xfrm>
            <a:off x="822960" y="3447288"/>
            <a:ext cx="475488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Job Scheduler y orquestación</a:t>
            </a:r>
            <a:endParaRPr lang="en-US" sz="1300" dirty="0"/>
          </a:p>
        </p:txBody>
      </p:sp>
      <p:sp>
        <p:nvSpPr>
          <p:cNvPr id="10" name="Text 8"/>
          <p:cNvSpPr/>
          <p:nvPr/>
        </p:nvSpPr>
        <p:spPr>
          <a:xfrm>
            <a:off x="822960" y="4014216"/>
            <a:ext cx="475488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APIs y control de acceso (IAM)</a:t>
            </a:r>
            <a:endParaRPr lang="en-US" sz="1300" dirty="0"/>
          </a:p>
        </p:txBody>
      </p:sp>
      <p:sp>
        <p:nvSpPr>
          <p:cNvPr id="11" name="Text 9"/>
          <p:cNvSpPr/>
          <p:nvPr/>
        </p:nvSpPr>
        <p:spPr>
          <a:xfrm>
            <a:off x="822960" y="4581144"/>
            <a:ext cx="475488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Metadatos y catálogo (Unity Catalog)</a:t>
            </a:r>
            <a:endParaRPr lang="en-US" sz="1300" dirty="0"/>
          </a:p>
        </p:txBody>
      </p:sp>
      <p:sp>
        <p:nvSpPr>
          <p:cNvPr id="12" name="Shape 10"/>
          <p:cNvSpPr/>
          <p:nvPr/>
        </p:nvSpPr>
        <p:spPr>
          <a:xfrm>
            <a:off x="6172200" y="1920240"/>
            <a:ext cx="5577840" cy="4114800"/>
          </a:xfrm>
          <a:prstGeom prst="roundRect">
            <a:avLst>
              <a:gd name="adj" fmla="val 3556"/>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3" name="Text 11"/>
          <p:cNvSpPr/>
          <p:nvPr/>
        </p:nvSpPr>
        <p:spPr>
          <a:xfrm>
            <a:off x="6400800" y="2103120"/>
            <a:ext cx="5120640" cy="365760"/>
          </a:xfrm>
          <a:prstGeom prst="rect">
            <a:avLst/>
          </a:prstGeom>
          <a:noFill/>
          <a:ln/>
        </p:spPr>
        <p:txBody>
          <a:bodyPr wrap="square" rtlCol="0" anchor="ctr"/>
          <a:lstStyle/>
          <a:p>
            <a:pPr marL="0" indent="0">
              <a:buNone/>
            </a:pPr>
            <a:r>
              <a:rPr lang="en-US" sz="1300" b="1" dirty="0">
                <a:solidFill>
                  <a:srgbClr val="E93DAC"/>
                </a:solidFill>
                <a:latin typeface="Calibri" pitchFamily="34" charset="0"/>
                <a:ea typeface="Calibri" pitchFamily="34" charset="-122"/>
                <a:cs typeface="Calibri" pitchFamily="34" charset="-120"/>
              </a:rPr>
              <a:t>DATA PLANE</a:t>
            </a:r>
            <a:endParaRPr lang="en-US" sz="1300" dirty="0"/>
          </a:p>
        </p:txBody>
      </p:sp>
      <p:sp>
        <p:nvSpPr>
          <p:cNvPr id="14" name="Text 12"/>
          <p:cNvSpPr/>
          <p:nvPr/>
        </p:nvSpPr>
        <p:spPr>
          <a:xfrm>
            <a:off x="6400800" y="2450592"/>
            <a:ext cx="5120640" cy="274320"/>
          </a:xfrm>
          <a:prstGeom prst="rect">
            <a:avLst/>
          </a:prstGeom>
          <a:noFill/>
          <a:ln/>
        </p:spPr>
        <p:txBody>
          <a:bodyPr wrap="square" rtlCol="0" anchor="ctr"/>
          <a:lstStyle/>
          <a:p>
            <a:pPr marL="0" indent="0">
              <a:buNone/>
            </a:pPr>
            <a:r>
              <a:rPr lang="en-US" sz="1100" i="1" dirty="0">
                <a:solidFill>
                  <a:srgbClr val="B8A9E0"/>
                </a:solidFill>
                <a:latin typeface="Calibri" pitchFamily="34" charset="0"/>
                <a:ea typeface="Calibri" pitchFamily="34" charset="-122"/>
                <a:cs typeface="Calibri" pitchFamily="34" charset="-120"/>
              </a:rPr>
              <a:t>En tu cuenta de nube (AWS / Azure / GCP)</a:t>
            </a:r>
            <a:endParaRPr lang="en-US" sz="1100" dirty="0"/>
          </a:p>
        </p:txBody>
      </p:sp>
      <p:sp>
        <p:nvSpPr>
          <p:cNvPr id="15" name="Text 13"/>
          <p:cNvSpPr/>
          <p:nvPr/>
        </p:nvSpPr>
        <p:spPr>
          <a:xfrm>
            <a:off x="6537960" y="2880360"/>
            <a:ext cx="502920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Clusters de cómputo (VMs con Spark)</a:t>
            </a:r>
            <a:endParaRPr lang="en-US" sz="1300" dirty="0"/>
          </a:p>
        </p:txBody>
      </p:sp>
      <p:sp>
        <p:nvSpPr>
          <p:cNvPr id="16" name="Text 14"/>
          <p:cNvSpPr/>
          <p:nvPr/>
        </p:nvSpPr>
        <p:spPr>
          <a:xfrm>
            <a:off x="6537960" y="3447288"/>
            <a:ext cx="502920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Almacenamiento de datos (S3, ADLS, GCS)</a:t>
            </a:r>
            <a:endParaRPr lang="en-US" sz="1300" dirty="0"/>
          </a:p>
        </p:txBody>
      </p:sp>
      <p:sp>
        <p:nvSpPr>
          <p:cNvPr id="17" name="Text 15"/>
          <p:cNvSpPr/>
          <p:nvPr/>
        </p:nvSpPr>
        <p:spPr>
          <a:xfrm>
            <a:off x="6537960" y="4014216"/>
            <a:ext cx="502920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DBFS — Databricks File System</a:t>
            </a:r>
            <a:endParaRPr lang="en-US" sz="1300" dirty="0"/>
          </a:p>
        </p:txBody>
      </p:sp>
      <p:sp>
        <p:nvSpPr>
          <p:cNvPr id="18" name="Text 16"/>
          <p:cNvSpPr/>
          <p:nvPr/>
        </p:nvSpPr>
        <p:spPr>
          <a:xfrm>
            <a:off x="6537960" y="4581144"/>
            <a:ext cx="5029200" cy="4572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  Aquí viven y se procesan tus datos</a:t>
            </a:r>
            <a:endParaRPr lang="en-US" sz="1300" dirty="0"/>
          </a:p>
        </p:txBody>
      </p:sp>
      <p:sp>
        <p:nvSpPr>
          <p:cNvPr id="19" name="Text 17"/>
          <p:cNvSpPr/>
          <p:nvPr/>
        </p:nvSpPr>
        <p:spPr>
          <a:xfrm>
            <a:off x="457200" y="6172200"/>
            <a:ext cx="11247120" cy="365760"/>
          </a:xfrm>
          <a:prstGeom prst="rect">
            <a:avLst/>
          </a:prstGeom>
          <a:noFill/>
          <a:ln/>
        </p:spPr>
        <p:txBody>
          <a:bodyPr wrap="square" rtlCol="0" anchor="ctr"/>
          <a:lstStyle/>
          <a:p>
            <a:pPr marL="0" indent="0">
              <a:buNone/>
            </a:pPr>
            <a:r>
              <a:rPr lang="en-US" sz="1200" i="1" dirty="0">
                <a:solidFill>
                  <a:srgbClr val="F1ECFB"/>
                </a:solidFill>
                <a:latin typeface="Calibri" pitchFamily="34" charset="0"/>
                <a:ea typeface="Calibri" pitchFamily="34" charset="-122"/>
                <a:cs typeface="Calibri" pitchFamily="34" charset="-120"/>
              </a:rPr>
              <a:t>Idea clave: tus datos NUNCA salen de tu cuenta de nube — Databricks orquesta el cómputo, tú conservas el control y la propiedad de los datos.</a:t>
            </a:r>
            <a:endParaRPr lang="en-US" sz="1200" dirty="0"/>
          </a:p>
        </p:txBody>
      </p:sp>
      <p:sp>
        <p:nvSpPr>
          <p:cNvPr id="20" name="Text 18"/>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21" name="Text 19"/>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TU ESPACIO DE TRABAJO DIARIO</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241242"/>
                </a:solidFill>
                <a:latin typeface="Cambria" pitchFamily="34" charset="0"/>
                <a:ea typeface="Cambria" pitchFamily="34" charset="-122"/>
                <a:cs typeface="Cambria" pitchFamily="34" charset="-120"/>
              </a:rPr>
              <a:t>Workspace y DBFS</a:t>
            </a:r>
            <a:endParaRPr lang="en-US" sz="3200" dirty="0"/>
          </a:p>
        </p:txBody>
      </p:sp>
      <p:sp>
        <p:nvSpPr>
          <p:cNvPr id="5" name="Shape 3"/>
          <p:cNvSpPr/>
          <p:nvPr/>
        </p:nvSpPr>
        <p:spPr>
          <a:xfrm>
            <a:off x="457200" y="1965960"/>
            <a:ext cx="3611880" cy="3749040"/>
          </a:xfrm>
          <a:prstGeom prst="roundRect">
            <a:avLst>
              <a:gd name="adj" fmla="val 3544"/>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6" name="Shape 4"/>
          <p:cNvSpPr/>
          <p:nvPr/>
        </p:nvSpPr>
        <p:spPr>
          <a:xfrm>
            <a:off x="731520" y="2240280"/>
            <a:ext cx="640080" cy="640080"/>
          </a:xfrm>
          <a:prstGeom prst="ellipse">
            <a:avLst/>
          </a:prstGeom>
          <a:solidFill>
            <a:srgbClr val="5B21B6"/>
          </a:solidFill>
          <a:ln/>
        </p:spPr>
        <p:txBody>
          <a:bodyPr/>
          <a:lstStyle/>
          <a:p>
            <a:endParaRPr lang="es-ES"/>
          </a:p>
        </p:txBody>
      </p:sp>
      <p:sp>
        <p:nvSpPr>
          <p:cNvPr id="7" name="Text 5"/>
          <p:cNvSpPr/>
          <p:nvPr/>
        </p:nvSpPr>
        <p:spPr>
          <a:xfrm>
            <a:off x="731520" y="22402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W</a:t>
            </a:r>
            <a:endParaRPr lang="en-US" sz="2400" dirty="0"/>
          </a:p>
        </p:txBody>
      </p:sp>
      <p:sp>
        <p:nvSpPr>
          <p:cNvPr id="8" name="Text 6"/>
          <p:cNvSpPr/>
          <p:nvPr/>
        </p:nvSpPr>
        <p:spPr>
          <a:xfrm>
            <a:off x="731520" y="3017520"/>
            <a:ext cx="3063240" cy="457200"/>
          </a:xfrm>
          <a:prstGeom prst="rect">
            <a:avLst/>
          </a:prstGeom>
          <a:noFill/>
          <a:ln/>
        </p:spPr>
        <p:txBody>
          <a:bodyPr wrap="square" rtlCol="0" anchor="ctr"/>
          <a:lstStyle/>
          <a:p>
            <a:pPr marL="0" indent="0">
              <a:buNone/>
            </a:pPr>
            <a:r>
              <a:rPr lang="en-US" sz="1700" b="1" dirty="0">
                <a:solidFill>
                  <a:srgbClr val="241242"/>
                </a:solidFill>
                <a:latin typeface="Cambria" pitchFamily="34" charset="0"/>
                <a:ea typeface="Cambria" pitchFamily="34" charset="-122"/>
                <a:cs typeface="Cambria" pitchFamily="34" charset="-120"/>
              </a:rPr>
              <a:t>Workspace</a:t>
            </a:r>
            <a:endParaRPr lang="en-US" sz="1700" dirty="0"/>
          </a:p>
        </p:txBody>
      </p:sp>
      <p:sp>
        <p:nvSpPr>
          <p:cNvPr id="9" name="Text 7"/>
          <p:cNvSpPr/>
          <p:nvPr/>
        </p:nvSpPr>
        <p:spPr>
          <a:xfrm>
            <a:off x="731520" y="3520440"/>
            <a:ext cx="3063240" cy="2011680"/>
          </a:xfrm>
          <a:prstGeom prst="rect">
            <a:avLst/>
          </a:prstGeom>
          <a:noFill/>
          <a:ln/>
        </p:spPr>
        <p:txBody>
          <a:bodyPr wrap="square" rtlCol="0" anchor="ctr"/>
          <a:lstStyle/>
          <a:p>
            <a:pPr marL="0" indent="0">
              <a:lnSpc>
                <a:spcPts val="1700"/>
              </a:lnSpc>
              <a:buNone/>
            </a:pPr>
            <a:r>
              <a:rPr lang="en-US" sz="1250" dirty="0">
                <a:solidFill>
                  <a:srgbClr val="6B5B95"/>
                </a:solidFill>
                <a:latin typeface="Calibri" pitchFamily="34" charset="0"/>
                <a:ea typeface="Calibri" pitchFamily="34" charset="-122"/>
                <a:cs typeface="Calibri" pitchFamily="34" charset="-120"/>
              </a:rPr>
              <a:t>Portal web donde organizas notebooks, carpetas, dashboards y experimentos de MLflow. Control de permisos por carpeta o usuario.</a:t>
            </a:r>
            <a:endParaRPr lang="en-US" sz="1250" dirty="0"/>
          </a:p>
        </p:txBody>
      </p:sp>
      <p:sp>
        <p:nvSpPr>
          <p:cNvPr id="10" name="Shape 8"/>
          <p:cNvSpPr/>
          <p:nvPr/>
        </p:nvSpPr>
        <p:spPr>
          <a:xfrm>
            <a:off x="4251960" y="1965960"/>
            <a:ext cx="3611880" cy="3749040"/>
          </a:xfrm>
          <a:prstGeom prst="roundRect">
            <a:avLst>
              <a:gd name="adj" fmla="val 3544"/>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1" name="Shape 9"/>
          <p:cNvSpPr/>
          <p:nvPr/>
        </p:nvSpPr>
        <p:spPr>
          <a:xfrm>
            <a:off x="4526280" y="2240280"/>
            <a:ext cx="640080" cy="640080"/>
          </a:xfrm>
          <a:prstGeom prst="ellipse">
            <a:avLst/>
          </a:prstGeom>
          <a:solidFill>
            <a:srgbClr val="5B21B6"/>
          </a:solidFill>
          <a:ln/>
        </p:spPr>
        <p:txBody>
          <a:bodyPr/>
          <a:lstStyle/>
          <a:p>
            <a:endParaRPr lang="es-ES"/>
          </a:p>
        </p:txBody>
      </p:sp>
      <p:sp>
        <p:nvSpPr>
          <p:cNvPr id="12" name="Text 10"/>
          <p:cNvSpPr/>
          <p:nvPr/>
        </p:nvSpPr>
        <p:spPr>
          <a:xfrm>
            <a:off x="4526280" y="22402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D</a:t>
            </a:r>
            <a:endParaRPr lang="en-US" sz="2400" dirty="0"/>
          </a:p>
        </p:txBody>
      </p:sp>
      <p:sp>
        <p:nvSpPr>
          <p:cNvPr id="13" name="Text 11"/>
          <p:cNvSpPr/>
          <p:nvPr/>
        </p:nvSpPr>
        <p:spPr>
          <a:xfrm>
            <a:off x="4526280" y="3017520"/>
            <a:ext cx="3063240" cy="457200"/>
          </a:xfrm>
          <a:prstGeom prst="rect">
            <a:avLst/>
          </a:prstGeom>
          <a:noFill/>
          <a:ln/>
        </p:spPr>
        <p:txBody>
          <a:bodyPr wrap="square" rtlCol="0" anchor="ctr"/>
          <a:lstStyle/>
          <a:p>
            <a:pPr marL="0" indent="0">
              <a:buNone/>
            </a:pPr>
            <a:r>
              <a:rPr lang="en-US" sz="1700" b="1" dirty="0">
                <a:solidFill>
                  <a:srgbClr val="241242"/>
                </a:solidFill>
                <a:latin typeface="Cambria" pitchFamily="34" charset="0"/>
                <a:ea typeface="Cambria" pitchFamily="34" charset="-122"/>
                <a:cs typeface="Cambria" pitchFamily="34" charset="-120"/>
              </a:rPr>
              <a:t>DBFS</a:t>
            </a:r>
            <a:endParaRPr lang="en-US" sz="1700" dirty="0"/>
          </a:p>
        </p:txBody>
      </p:sp>
      <p:sp>
        <p:nvSpPr>
          <p:cNvPr id="14" name="Text 12"/>
          <p:cNvSpPr/>
          <p:nvPr/>
        </p:nvSpPr>
        <p:spPr>
          <a:xfrm>
            <a:off x="4526280" y="3520440"/>
            <a:ext cx="3063240" cy="2011680"/>
          </a:xfrm>
          <a:prstGeom prst="rect">
            <a:avLst/>
          </a:prstGeom>
          <a:noFill/>
          <a:ln/>
        </p:spPr>
        <p:txBody>
          <a:bodyPr wrap="square" rtlCol="0" anchor="ctr"/>
          <a:lstStyle/>
          <a:p>
            <a:pPr marL="0" indent="0">
              <a:lnSpc>
                <a:spcPts val="1700"/>
              </a:lnSpc>
              <a:buNone/>
            </a:pPr>
            <a:r>
              <a:rPr lang="en-US" sz="1250" dirty="0">
                <a:solidFill>
                  <a:srgbClr val="6B5B95"/>
                </a:solidFill>
                <a:latin typeface="Calibri" pitchFamily="34" charset="0"/>
                <a:ea typeface="Calibri" pitchFamily="34" charset="-122"/>
                <a:cs typeface="Calibri" pitchFamily="34" charset="-120"/>
              </a:rPr>
              <a:t>Databricks File System: capa de almacenamiento abstracta montada sobre el object storage de la nube (S3/ADLS/GCS). Se accede como un sistema de archivos normal.</a:t>
            </a:r>
            <a:endParaRPr lang="en-US" sz="1250" dirty="0"/>
          </a:p>
        </p:txBody>
      </p:sp>
      <p:sp>
        <p:nvSpPr>
          <p:cNvPr id="15" name="Shape 13"/>
          <p:cNvSpPr/>
          <p:nvPr/>
        </p:nvSpPr>
        <p:spPr>
          <a:xfrm>
            <a:off x="8046720" y="1965960"/>
            <a:ext cx="3611880" cy="3749040"/>
          </a:xfrm>
          <a:prstGeom prst="roundRect">
            <a:avLst>
              <a:gd name="adj" fmla="val 3544"/>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6" name="Shape 14"/>
          <p:cNvSpPr/>
          <p:nvPr/>
        </p:nvSpPr>
        <p:spPr>
          <a:xfrm>
            <a:off x="8321040" y="2240280"/>
            <a:ext cx="640080" cy="640080"/>
          </a:xfrm>
          <a:prstGeom prst="ellipse">
            <a:avLst/>
          </a:prstGeom>
          <a:solidFill>
            <a:srgbClr val="5B21B6"/>
          </a:solidFill>
          <a:ln/>
        </p:spPr>
        <p:txBody>
          <a:bodyPr/>
          <a:lstStyle/>
          <a:p>
            <a:endParaRPr lang="es-ES"/>
          </a:p>
        </p:txBody>
      </p:sp>
      <p:sp>
        <p:nvSpPr>
          <p:cNvPr id="17" name="Text 15"/>
          <p:cNvSpPr/>
          <p:nvPr/>
        </p:nvSpPr>
        <p:spPr>
          <a:xfrm>
            <a:off x="8321040" y="22402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U</a:t>
            </a:r>
            <a:endParaRPr lang="en-US" sz="2400" dirty="0"/>
          </a:p>
        </p:txBody>
      </p:sp>
      <p:sp>
        <p:nvSpPr>
          <p:cNvPr id="18" name="Text 16"/>
          <p:cNvSpPr/>
          <p:nvPr/>
        </p:nvSpPr>
        <p:spPr>
          <a:xfrm>
            <a:off x="8321040" y="3017520"/>
            <a:ext cx="3063240" cy="457200"/>
          </a:xfrm>
          <a:prstGeom prst="rect">
            <a:avLst/>
          </a:prstGeom>
          <a:noFill/>
          <a:ln/>
        </p:spPr>
        <p:txBody>
          <a:bodyPr wrap="square" rtlCol="0" anchor="ctr"/>
          <a:lstStyle/>
          <a:p>
            <a:pPr marL="0" indent="0">
              <a:buNone/>
            </a:pPr>
            <a:r>
              <a:rPr lang="en-US" sz="1700" b="1" dirty="0">
                <a:solidFill>
                  <a:srgbClr val="241242"/>
                </a:solidFill>
                <a:latin typeface="Cambria" pitchFamily="34" charset="0"/>
                <a:ea typeface="Cambria" pitchFamily="34" charset="-122"/>
                <a:cs typeface="Cambria" pitchFamily="34" charset="-120"/>
              </a:rPr>
              <a:t>Unity Catalog</a:t>
            </a:r>
            <a:endParaRPr lang="en-US" sz="1700" dirty="0"/>
          </a:p>
        </p:txBody>
      </p:sp>
      <p:sp>
        <p:nvSpPr>
          <p:cNvPr id="19" name="Text 17"/>
          <p:cNvSpPr/>
          <p:nvPr/>
        </p:nvSpPr>
        <p:spPr>
          <a:xfrm>
            <a:off x="8321040" y="3520440"/>
            <a:ext cx="3063240" cy="2011680"/>
          </a:xfrm>
          <a:prstGeom prst="rect">
            <a:avLst/>
          </a:prstGeom>
          <a:noFill/>
          <a:ln/>
        </p:spPr>
        <p:txBody>
          <a:bodyPr wrap="square" rtlCol="0" anchor="ctr"/>
          <a:lstStyle/>
          <a:p>
            <a:pPr marL="0" indent="0">
              <a:lnSpc>
                <a:spcPts val="1700"/>
              </a:lnSpc>
              <a:buNone/>
            </a:pPr>
            <a:r>
              <a:rPr lang="en-US" sz="1250" dirty="0">
                <a:solidFill>
                  <a:srgbClr val="6B5B95"/>
                </a:solidFill>
                <a:latin typeface="Calibri" pitchFamily="34" charset="0"/>
                <a:ea typeface="Calibri" pitchFamily="34" charset="-122"/>
                <a:cs typeface="Calibri" pitchFamily="34" charset="-120"/>
              </a:rPr>
              <a:t>Gobernanza centralizada: catálogo, esquemas y tablas con permisos granulares y linaje de datos entre workspaces.</a:t>
            </a:r>
            <a:endParaRPr lang="en-US" sz="1250" dirty="0"/>
          </a:p>
        </p:txBody>
      </p:sp>
      <p:sp>
        <p:nvSpPr>
          <p:cNvPr id="20" name="Text 18"/>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1" name="Text 19"/>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400800" cy="6400800"/>
          </a:xfrm>
          <a:prstGeom prst="ellipse">
            <a:avLst/>
          </a:prstGeom>
          <a:solidFill>
            <a:srgbClr val="5B21B6">
              <a:alpha val="45000"/>
            </a:srgbClr>
          </a:solidFill>
          <a:ln/>
        </p:spPr>
        <p:txBody>
          <a:bodyPr/>
          <a:lstStyle/>
          <a:p>
            <a:endParaRPr lang="es-ES"/>
          </a:p>
        </p:txBody>
      </p:sp>
      <p:sp>
        <p:nvSpPr>
          <p:cNvPr id="3" name="Text 1"/>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4" name="Text 2"/>
          <p:cNvSpPr/>
          <p:nvPr/>
        </p:nvSpPr>
        <p:spPr>
          <a:xfrm>
            <a:off x="457200" y="1828800"/>
            <a:ext cx="3657600" cy="1463040"/>
          </a:xfrm>
          <a:prstGeom prst="rect">
            <a:avLst/>
          </a:prstGeom>
          <a:noFill/>
          <a:ln/>
        </p:spPr>
        <p:txBody>
          <a:bodyPr wrap="square" rtlCol="0" anchor="ctr"/>
          <a:lstStyle/>
          <a:p>
            <a:pPr marL="0" indent="0">
              <a:buNone/>
            </a:pPr>
            <a:r>
              <a:rPr lang="en-US" sz="9000" b="1" dirty="0">
                <a:solidFill>
                  <a:srgbClr val="2D0F5E"/>
                </a:solidFill>
                <a:latin typeface="Cambria" pitchFamily="34" charset="0"/>
                <a:ea typeface="Cambria" pitchFamily="34" charset="-122"/>
                <a:cs typeface="Cambria" pitchFamily="34" charset="-120"/>
              </a:rPr>
              <a:t>02</a:t>
            </a:r>
            <a:endParaRPr lang="en-US" sz="9000" dirty="0"/>
          </a:p>
        </p:txBody>
      </p:sp>
      <p:sp>
        <p:nvSpPr>
          <p:cNvPr id="5" name="Text 3"/>
          <p:cNvSpPr/>
          <p:nvPr/>
        </p:nvSpPr>
        <p:spPr>
          <a:xfrm>
            <a:off x="502920" y="324612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TEORÍA — BLOQUE 2</a:t>
            </a:r>
            <a:endParaRPr lang="en-US" sz="1300" dirty="0"/>
          </a:p>
        </p:txBody>
      </p:sp>
      <p:sp>
        <p:nvSpPr>
          <p:cNvPr id="6" name="Text 4"/>
          <p:cNvSpPr/>
          <p:nvPr/>
        </p:nvSpPr>
        <p:spPr>
          <a:xfrm>
            <a:off x="457200" y="3611880"/>
            <a:ext cx="1051560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Clusters: el motor de cómputo</a:t>
            </a:r>
            <a:endParaRPr lang="en-US" sz="3800" dirty="0"/>
          </a:p>
        </p:txBody>
      </p:sp>
      <p:sp>
        <p:nvSpPr>
          <p:cNvPr id="7" name="Text 5"/>
          <p:cNvSpPr/>
          <p:nvPr/>
        </p:nvSpPr>
        <p:spPr>
          <a:xfrm>
            <a:off x="457200" y="4709160"/>
            <a:ext cx="9601200" cy="64008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Cómo elegir, configurar y escalar el cómputo detrás de cada notebook</a:t>
            </a:r>
            <a:endParaRPr lang="en-US" sz="1500" dirty="0"/>
          </a:p>
        </p:txBody>
      </p:sp>
      <p:sp>
        <p:nvSpPr>
          <p:cNvPr id="8" name="Text 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9" name="Text 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EL MOTOR DETRÁS DE CADA NOTEBOOK</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¿Qué es un cluster en Databricks?</a:t>
            </a:r>
            <a:endParaRPr lang="en-US" sz="3000" dirty="0"/>
          </a:p>
        </p:txBody>
      </p:sp>
      <p:sp>
        <p:nvSpPr>
          <p:cNvPr id="5" name="Text 3"/>
          <p:cNvSpPr/>
          <p:nvPr/>
        </p:nvSpPr>
        <p:spPr>
          <a:xfrm>
            <a:off x="457200" y="1737360"/>
            <a:ext cx="11247120" cy="914400"/>
          </a:xfrm>
          <a:prstGeom prst="rect">
            <a:avLst/>
          </a:prstGeom>
          <a:noFill/>
          <a:ln/>
        </p:spPr>
        <p:txBody>
          <a:bodyPr wrap="square" rtlCol="0" anchor="ctr"/>
          <a:lstStyle/>
          <a:p>
            <a:pPr marL="0" indent="0">
              <a:lnSpc>
                <a:spcPts val="2000"/>
              </a:lnSpc>
              <a:buNone/>
            </a:pPr>
            <a:r>
              <a:rPr lang="en-US" sz="1500" dirty="0">
                <a:solidFill>
                  <a:srgbClr val="241242"/>
                </a:solidFill>
                <a:latin typeface="Calibri" pitchFamily="34" charset="0"/>
                <a:ea typeface="Calibri" pitchFamily="34" charset="-122"/>
                <a:cs typeface="Calibri" pitchFamily="34" charset="-120"/>
              </a:rPr>
              <a:t>Un cluster es un conjunto de máquinas virtuales (nodos) configuradas para ejecutar Apache Spark de forma distribuida. Un nodo Driver coordina el trabajo y varios nodos Worker lo ejecutan en paralelo.</a:t>
            </a:r>
            <a:endParaRPr lang="en-US" sz="1500" dirty="0"/>
          </a:p>
        </p:txBody>
      </p:sp>
      <p:sp>
        <p:nvSpPr>
          <p:cNvPr id="6" name="Shape 4"/>
          <p:cNvSpPr/>
          <p:nvPr/>
        </p:nvSpPr>
        <p:spPr>
          <a:xfrm>
            <a:off x="457200" y="2834640"/>
            <a:ext cx="3108960" cy="1188720"/>
          </a:xfrm>
          <a:prstGeom prst="roundRect">
            <a:avLst>
              <a:gd name="adj" fmla="val 10769"/>
            </a:avLst>
          </a:prstGeom>
          <a:solidFill>
            <a:srgbClr val="5B21B6"/>
          </a:solidFill>
          <a:ln/>
          <a:effectLst>
            <a:outerShdw blurRad="76200" dist="38100" dir="5400000" algn="bl" rotWithShape="0">
              <a:srgbClr val="1E0A45">
                <a:alpha val="18000"/>
              </a:srgbClr>
            </a:outerShdw>
          </a:effectLst>
        </p:spPr>
        <p:txBody>
          <a:bodyPr/>
          <a:lstStyle/>
          <a:p>
            <a:endParaRPr lang="es-ES"/>
          </a:p>
        </p:txBody>
      </p:sp>
      <p:sp>
        <p:nvSpPr>
          <p:cNvPr id="7" name="Text 5"/>
          <p:cNvSpPr/>
          <p:nvPr/>
        </p:nvSpPr>
        <p:spPr>
          <a:xfrm>
            <a:off x="457200" y="2971800"/>
            <a:ext cx="310896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DRIVER NODE</a:t>
            </a:r>
            <a:endParaRPr lang="en-US" sz="1200" dirty="0"/>
          </a:p>
        </p:txBody>
      </p:sp>
      <p:sp>
        <p:nvSpPr>
          <p:cNvPr id="8" name="Text 6"/>
          <p:cNvSpPr/>
          <p:nvPr/>
        </p:nvSpPr>
        <p:spPr>
          <a:xfrm>
            <a:off x="594360" y="3337560"/>
            <a:ext cx="2834640" cy="640080"/>
          </a:xfrm>
          <a:prstGeom prst="rect">
            <a:avLst/>
          </a:prstGeom>
          <a:noFill/>
          <a:ln/>
        </p:spPr>
        <p:txBody>
          <a:bodyPr wrap="square" rtlCol="0" anchor="ctr"/>
          <a:lstStyle/>
          <a:p>
            <a:pPr marL="0" indent="0" algn="ctr">
              <a:buNone/>
            </a:pPr>
            <a:r>
              <a:rPr lang="en-US" sz="1050" dirty="0">
                <a:solidFill>
                  <a:srgbClr val="E9E0FA"/>
                </a:solidFill>
                <a:latin typeface="Calibri" pitchFamily="34" charset="0"/>
                <a:ea typeface="Calibri" pitchFamily="34" charset="-122"/>
                <a:cs typeface="Calibri" pitchFamily="34" charset="-120"/>
              </a:rPr>
              <a:t>Coordina tareas y agrega resultados</a:t>
            </a:r>
            <a:endParaRPr lang="en-US" sz="1050" dirty="0"/>
          </a:p>
        </p:txBody>
      </p:sp>
      <p:sp>
        <p:nvSpPr>
          <p:cNvPr id="9" name="Shape 7"/>
          <p:cNvSpPr/>
          <p:nvPr/>
        </p:nvSpPr>
        <p:spPr>
          <a:xfrm>
            <a:off x="4114800" y="2834640"/>
            <a:ext cx="2331720" cy="1188720"/>
          </a:xfrm>
          <a:prstGeom prst="roundRect">
            <a:avLst>
              <a:gd name="adj" fmla="val 10769"/>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0" name="Text 8"/>
          <p:cNvSpPr/>
          <p:nvPr/>
        </p:nvSpPr>
        <p:spPr>
          <a:xfrm>
            <a:off x="4114800" y="2971800"/>
            <a:ext cx="23317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WORKER 1</a:t>
            </a:r>
            <a:endParaRPr lang="en-US" sz="1100" dirty="0"/>
          </a:p>
        </p:txBody>
      </p:sp>
      <p:sp>
        <p:nvSpPr>
          <p:cNvPr id="11" name="Text 9"/>
          <p:cNvSpPr/>
          <p:nvPr/>
        </p:nvSpPr>
        <p:spPr>
          <a:xfrm>
            <a:off x="4206240" y="3337560"/>
            <a:ext cx="2148840" cy="640080"/>
          </a:xfrm>
          <a:prstGeom prst="rect">
            <a:avLst/>
          </a:prstGeom>
          <a:noFill/>
          <a:ln/>
        </p:spPr>
        <p:txBody>
          <a:bodyPr wrap="square" rtlCol="0" anchor="ctr"/>
          <a:lstStyle/>
          <a:p>
            <a:pPr marL="0" indent="0" algn="ctr">
              <a:buNone/>
            </a:pPr>
            <a:r>
              <a:rPr lang="en-US" sz="1000" dirty="0">
                <a:solidFill>
                  <a:srgbClr val="E9E0FA"/>
                </a:solidFill>
                <a:latin typeface="Calibri" pitchFamily="34" charset="0"/>
                <a:ea typeface="Calibri" pitchFamily="34" charset="-122"/>
                <a:cs typeface="Calibri" pitchFamily="34" charset="-120"/>
              </a:rPr>
              <a:t>Ejecuta tareas en paralelo</a:t>
            </a:r>
            <a:endParaRPr lang="en-US" sz="1000" dirty="0"/>
          </a:p>
        </p:txBody>
      </p:sp>
      <p:sp>
        <p:nvSpPr>
          <p:cNvPr id="12" name="Shape 10"/>
          <p:cNvSpPr/>
          <p:nvPr/>
        </p:nvSpPr>
        <p:spPr>
          <a:xfrm>
            <a:off x="6629400" y="2834640"/>
            <a:ext cx="2331720" cy="1188720"/>
          </a:xfrm>
          <a:prstGeom prst="roundRect">
            <a:avLst>
              <a:gd name="adj" fmla="val 10769"/>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3" name="Text 11"/>
          <p:cNvSpPr/>
          <p:nvPr/>
        </p:nvSpPr>
        <p:spPr>
          <a:xfrm>
            <a:off x="6629400" y="2971800"/>
            <a:ext cx="23317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WORKER 2</a:t>
            </a:r>
            <a:endParaRPr lang="en-US" sz="1100" dirty="0"/>
          </a:p>
        </p:txBody>
      </p:sp>
      <p:sp>
        <p:nvSpPr>
          <p:cNvPr id="14" name="Text 12"/>
          <p:cNvSpPr/>
          <p:nvPr/>
        </p:nvSpPr>
        <p:spPr>
          <a:xfrm>
            <a:off x="6720840" y="3337560"/>
            <a:ext cx="2148840" cy="640080"/>
          </a:xfrm>
          <a:prstGeom prst="rect">
            <a:avLst/>
          </a:prstGeom>
          <a:noFill/>
          <a:ln/>
        </p:spPr>
        <p:txBody>
          <a:bodyPr wrap="square" rtlCol="0" anchor="ctr"/>
          <a:lstStyle/>
          <a:p>
            <a:pPr marL="0" indent="0" algn="ctr">
              <a:buNone/>
            </a:pPr>
            <a:r>
              <a:rPr lang="en-US" sz="1000" dirty="0">
                <a:solidFill>
                  <a:srgbClr val="E9E0FA"/>
                </a:solidFill>
                <a:latin typeface="Calibri" pitchFamily="34" charset="0"/>
                <a:ea typeface="Calibri" pitchFamily="34" charset="-122"/>
                <a:cs typeface="Calibri" pitchFamily="34" charset="-120"/>
              </a:rPr>
              <a:t>Ejecuta tareas en paralelo</a:t>
            </a:r>
            <a:endParaRPr lang="en-US" sz="1000" dirty="0"/>
          </a:p>
        </p:txBody>
      </p:sp>
      <p:sp>
        <p:nvSpPr>
          <p:cNvPr id="15" name="Shape 13"/>
          <p:cNvSpPr/>
          <p:nvPr/>
        </p:nvSpPr>
        <p:spPr>
          <a:xfrm>
            <a:off x="9144000" y="2834640"/>
            <a:ext cx="2331720" cy="1188720"/>
          </a:xfrm>
          <a:prstGeom prst="roundRect">
            <a:avLst>
              <a:gd name="adj" fmla="val 10769"/>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6" name="Text 14"/>
          <p:cNvSpPr/>
          <p:nvPr/>
        </p:nvSpPr>
        <p:spPr>
          <a:xfrm>
            <a:off x="9144000" y="2971800"/>
            <a:ext cx="23317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WORKER 3</a:t>
            </a:r>
            <a:endParaRPr lang="en-US" sz="1100" dirty="0"/>
          </a:p>
        </p:txBody>
      </p:sp>
      <p:sp>
        <p:nvSpPr>
          <p:cNvPr id="17" name="Text 15"/>
          <p:cNvSpPr/>
          <p:nvPr/>
        </p:nvSpPr>
        <p:spPr>
          <a:xfrm>
            <a:off x="9235440" y="3337560"/>
            <a:ext cx="2148840" cy="640080"/>
          </a:xfrm>
          <a:prstGeom prst="rect">
            <a:avLst/>
          </a:prstGeom>
          <a:noFill/>
          <a:ln/>
        </p:spPr>
        <p:txBody>
          <a:bodyPr wrap="square" rtlCol="0" anchor="ctr"/>
          <a:lstStyle/>
          <a:p>
            <a:pPr marL="0" indent="0" algn="ctr">
              <a:buNone/>
            </a:pPr>
            <a:r>
              <a:rPr lang="en-US" sz="1000" dirty="0">
                <a:solidFill>
                  <a:srgbClr val="E9E0FA"/>
                </a:solidFill>
                <a:latin typeface="Calibri" pitchFamily="34" charset="0"/>
                <a:ea typeface="Calibri" pitchFamily="34" charset="-122"/>
                <a:cs typeface="Calibri" pitchFamily="34" charset="-120"/>
              </a:rPr>
              <a:t>Ejecuta tareas en paralelo</a:t>
            </a:r>
            <a:endParaRPr lang="en-US" sz="1000" dirty="0"/>
          </a:p>
        </p:txBody>
      </p:sp>
      <p:sp>
        <p:nvSpPr>
          <p:cNvPr id="18" name="Text 16"/>
          <p:cNvSpPr/>
          <p:nvPr/>
        </p:nvSpPr>
        <p:spPr>
          <a:xfrm>
            <a:off x="457200" y="4251960"/>
            <a:ext cx="11247120" cy="457200"/>
          </a:xfrm>
          <a:prstGeom prst="rect">
            <a:avLst/>
          </a:prstGeom>
          <a:noFill/>
          <a:ln/>
        </p:spPr>
        <p:txBody>
          <a:bodyPr wrap="square" rtlCol="0" anchor="ctr"/>
          <a:lstStyle/>
          <a:p>
            <a:pPr marL="0" indent="0">
              <a:buNone/>
            </a:pPr>
            <a:r>
              <a:rPr lang="en-US" sz="1250" i="1" dirty="0">
                <a:solidFill>
                  <a:srgbClr val="6B5B95"/>
                </a:solidFill>
                <a:latin typeface="Calibri" pitchFamily="34" charset="0"/>
                <a:ea typeface="Calibri" pitchFamily="34" charset="-122"/>
                <a:cs typeface="Calibri" pitchFamily="34" charset="-120"/>
              </a:rPr>
              <a:t>Cada Worker procesa una porción de los datos simultáneamente → así Spark escala de GBs a TBs de información.</a:t>
            </a:r>
            <a:endParaRPr lang="en-US" sz="1250" dirty="0"/>
          </a:p>
        </p:txBody>
      </p:sp>
      <p:sp>
        <p:nvSpPr>
          <p:cNvPr id="19" name="Text 17"/>
          <p:cNvSpPr/>
          <p:nvPr/>
        </p:nvSpPr>
        <p:spPr>
          <a:xfrm>
            <a:off x="457200" y="5074920"/>
            <a:ext cx="35661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Autoscaling</a:t>
            </a:r>
            <a:endParaRPr lang="en-US" sz="1300" dirty="0"/>
          </a:p>
        </p:txBody>
      </p:sp>
      <p:sp>
        <p:nvSpPr>
          <p:cNvPr id="20" name="Text 18"/>
          <p:cNvSpPr/>
          <p:nvPr/>
        </p:nvSpPr>
        <p:spPr>
          <a:xfrm>
            <a:off x="457200" y="5413248"/>
            <a:ext cx="3566160" cy="822960"/>
          </a:xfrm>
          <a:prstGeom prst="rect">
            <a:avLst/>
          </a:prstGeom>
          <a:noFill/>
          <a:ln/>
        </p:spPr>
        <p:txBody>
          <a:bodyPr wrap="square" rtlCol="0" anchor="ctr"/>
          <a:lstStyle/>
          <a:p>
            <a:pPr marL="0" indent="0">
              <a:lnSpc>
                <a:spcPts val="1500"/>
              </a:lnSpc>
              <a:buNone/>
            </a:pPr>
            <a:r>
              <a:rPr lang="en-US" sz="1150" dirty="0">
                <a:solidFill>
                  <a:srgbClr val="6B5B95"/>
                </a:solidFill>
                <a:latin typeface="Calibri" pitchFamily="34" charset="0"/>
                <a:ea typeface="Calibri" pitchFamily="34" charset="-122"/>
                <a:cs typeface="Calibri" pitchFamily="34" charset="-120"/>
              </a:rPr>
              <a:t>El cluster añade o quita Workers automáticamente según la carga de trabajo.</a:t>
            </a:r>
            <a:endParaRPr lang="en-US" sz="1150" dirty="0"/>
          </a:p>
        </p:txBody>
      </p:sp>
      <p:sp>
        <p:nvSpPr>
          <p:cNvPr id="21" name="Text 19"/>
          <p:cNvSpPr/>
          <p:nvPr/>
        </p:nvSpPr>
        <p:spPr>
          <a:xfrm>
            <a:off x="4206240" y="5074920"/>
            <a:ext cx="35661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Auto-termination</a:t>
            </a:r>
            <a:endParaRPr lang="en-US" sz="1300" dirty="0"/>
          </a:p>
        </p:txBody>
      </p:sp>
      <p:sp>
        <p:nvSpPr>
          <p:cNvPr id="22" name="Text 20"/>
          <p:cNvSpPr/>
          <p:nvPr/>
        </p:nvSpPr>
        <p:spPr>
          <a:xfrm>
            <a:off x="4206240" y="5413248"/>
            <a:ext cx="3566160" cy="822960"/>
          </a:xfrm>
          <a:prstGeom prst="rect">
            <a:avLst/>
          </a:prstGeom>
          <a:noFill/>
          <a:ln/>
        </p:spPr>
        <p:txBody>
          <a:bodyPr wrap="square" rtlCol="0" anchor="ctr"/>
          <a:lstStyle/>
          <a:p>
            <a:pPr marL="0" indent="0">
              <a:lnSpc>
                <a:spcPts val="1500"/>
              </a:lnSpc>
              <a:buNone/>
            </a:pPr>
            <a:r>
              <a:rPr lang="en-US" sz="1150" dirty="0">
                <a:solidFill>
                  <a:srgbClr val="6B5B95"/>
                </a:solidFill>
                <a:latin typeface="Calibri" pitchFamily="34" charset="0"/>
                <a:ea typeface="Calibri" pitchFamily="34" charset="-122"/>
                <a:cs typeface="Calibri" pitchFamily="34" charset="-120"/>
              </a:rPr>
              <a:t>Se apaga solo tras N minutos de inactividad, ahorrando costos de nube.</a:t>
            </a:r>
            <a:endParaRPr lang="en-US" sz="1150" dirty="0"/>
          </a:p>
        </p:txBody>
      </p:sp>
      <p:sp>
        <p:nvSpPr>
          <p:cNvPr id="23" name="Text 21"/>
          <p:cNvSpPr/>
          <p:nvPr/>
        </p:nvSpPr>
        <p:spPr>
          <a:xfrm>
            <a:off x="7955280" y="5074920"/>
            <a:ext cx="3566160" cy="320040"/>
          </a:xfrm>
          <a:prstGeom prst="rect">
            <a:avLst/>
          </a:prstGeom>
          <a:noFill/>
          <a:ln/>
        </p:spPr>
        <p:txBody>
          <a:bodyPr wrap="square" rtlCol="0" anchor="ctr"/>
          <a:lstStyle/>
          <a:p>
            <a:pPr marL="0" indent="0">
              <a:buNone/>
            </a:pPr>
            <a:r>
              <a:rPr lang="en-US" sz="1300" b="1" dirty="0">
                <a:solidFill>
                  <a:srgbClr val="C026D3"/>
                </a:solidFill>
                <a:latin typeface="Calibri" pitchFamily="34" charset="0"/>
                <a:ea typeface="Calibri" pitchFamily="34" charset="-122"/>
                <a:cs typeface="Calibri" pitchFamily="34" charset="-120"/>
              </a:rPr>
              <a:t>Spot instances</a:t>
            </a:r>
            <a:endParaRPr lang="en-US" sz="1300" dirty="0"/>
          </a:p>
        </p:txBody>
      </p:sp>
      <p:sp>
        <p:nvSpPr>
          <p:cNvPr id="24" name="Text 22"/>
          <p:cNvSpPr/>
          <p:nvPr/>
        </p:nvSpPr>
        <p:spPr>
          <a:xfrm>
            <a:off x="7955280" y="5413248"/>
            <a:ext cx="3566160" cy="822960"/>
          </a:xfrm>
          <a:prstGeom prst="rect">
            <a:avLst/>
          </a:prstGeom>
          <a:noFill/>
          <a:ln/>
        </p:spPr>
        <p:txBody>
          <a:bodyPr wrap="square" rtlCol="0" anchor="ctr"/>
          <a:lstStyle/>
          <a:p>
            <a:pPr marL="0" indent="0">
              <a:lnSpc>
                <a:spcPts val="1500"/>
              </a:lnSpc>
              <a:buNone/>
            </a:pPr>
            <a:r>
              <a:rPr lang="en-US" sz="1150" dirty="0">
                <a:solidFill>
                  <a:srgbClr val="6B5B95"/>
                </a:solidFill>
                <a:latin typeface="Calibri" pitchFamily="34" charset="0"/>
                <a:ea typeface="Calibri" pitchFamily="34" charset="-122"/>
                <a:cs typeface="Calibri" pitchFamily="34" charset="-120"/>
              </a:rPr>
              <a:t>Puede usar instancias económicas de la nube para reducir el gasto en cómputo.</a:t>
            </a:r>
            <a:endParaRPr lang="en-US" sz="1150" dirty="0"/>
          </a:p>
        </p:txBody>
      </p:sp>
      <p:sp>
        <p:nvSpPr>
          <p:cNvPr id="25" name="Text 23"/>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6" name="Text 24"/>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ELIGE EL CLUSTER CORRECTO PARA CADA TAREA</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Tipos de clusters</a:t>
            </a:r>
            <a:endParaRPr lang="en-US" sz="3200" dirty="0"/>
          </a:p>
        </p:txBody>
      </p:sp>
      <p:sp>
        <p:nvSpPr>
          <p:cNvPr id="5" name="Shape 3"/>
          <p:cNvSpPr/>
          <p:nvPr/>
        </p:nvSpPr>
        <p:spPr>
          <a:xfrm>
            <a:off x="457200" y="1965960"/>
            <a:ext cx="5394960" cy="4114800"/>
          </a:xfrm>
          <a:prstGeom prst="roundRect">
            <a:avLst>
              <a:gd name="adj" fmla="val 3556"/>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731520" y="2194560"/>
            <a:ext cx="4846320" cy="411480"/>
          </a:xfrm>
          <a:prstGeom prst="rect">
            <a:avLst/>
          </a:prstGeom>
          <a:noFill/>
          <a:ln/>
        </p:spPr>
        <p:txBody>
          <a:bodyPr wrap="square" rtlCol="0" anchor="ctr"/>
          <a:lstStyle/>
          <a:p>
            <a:pPr marL="0" indent="0">
              <a:buNone/>
            </a:pPr>
            <a:r>
              <a:rPr lang="en-US" sz="1900" b="1" dirty="0">
                <a:solidFill>
                  <a:srgbClr val="E93DAC"/>
                </a:solidFill>
                <a:latin typeface="Cambria" pitchFamily="34" charset="0"/>
                <a:ea typeface="Cambria" pitchFamily="34" charset="-122"/>
                <a:cs typeface="Cambria" pitchFamily="34" charset="-120"/>
              </a:rPr>
              <a:t>All-Purpose Cluster</a:t>
            </a:r>
            <a:endParaRPr lang="en-US" sz="1900" dirty="0"/>
          </a:p>
        </p:txBody>
      </p:sp>
      <p:sp>
        <p:nvSpPr>
          <p:cNvPr id="7" name="Text 5"/>
          <p:cNvSpPr/>
          <p:nvPr/>
        </p:nvSpPr>
        <p:spPr>
          <a:xfrm>
            <a:off x="822960" y="2788920"/>
            <a:ext cx="475488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Ideal para exploración interactiva en notebooks</a:t>
            </a:r>
            <a:endParaRPr lang="en-US" sz="1300" dirty="0"/>
          </a:p>
        </p:txBody>
      </p:sp>
      <p:sp>
        <p:nvSpPr>
          <p:cNvPr id="8" name="Text 6"/>
          <p:cNvSpPr/>
          <p:nvPr/>
        </p:nvSpPr>
        <p:spPr>
          <a:xfrm>
            <a:off x="822960" y="3447288"/>
            <a:ext cx="475488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Compartido entre varios usuarios simultáneamente</a:t>
            </a:r>
            <a:endParaRPr lang="en-US" sz="1300" dirty="0"/>
          </a:p>
        </p:txBody>
      </p:sp>
      <p:sp>
        <p:nvSpPr>
          <p:cNvPr id="9" name="Text 7"/>
          <p:cNvSpPr/>
          <p:nvPr/>
        </p:nvSpPr>
        <p:spPr>
          <a:xfrm>
            <a:off x="822960" y="4105656"/>
            <a:ext cx="475488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Se crea manualmente desde el Workspace</a:t>
            </a:r>
            <a:endParaRPr lang="en-US" sz="1300" dirty="0"/>
          </a:p>
        </p:txBody>
      </p:sp>
      <p:sp>
        <p:nvSpPr>
          <p:cNvPr id="10" name="Text 8"/>
          <p:cNvSpPr/>
          <p:nvPr/>
        </p:nvSpPr>
        <p:spPr>
          <a:xfrm>
            <a:off x="822960" y="4764024"/>
            <a:ext cx="475488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Costo más alto por hora — pensado para desarrollo</a:t>
            </a:r>
            <a:endParaRPr lang="en-US" sz="1300" dirty="0"/>
          </a:p>
        </p:txBody>
      </p:sp>
      <p:sp>
        <p:nvSpPr>
          <p:cNvPr id="11" name="Shape 9"/>
          <p:cNvSpPr/>
          <p:nvPr/>
        </p:nvSpPr>
        <p:spPr>
          <a:xfrm>
            <a:off x="6172200" y="1965960"/>
            <a:ext cx="5577840" cy="4114800"/>
          </a:xfrm>
          <a:prstGeom prst="roundRect">
            <a:avLst>
              <a:gd name="adj" fmla="val 3556"/>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2" name="Text 10"/>
          <p:cNvSpPr/>
          <p:nvPr/>
        </p:nvSpPr>
        <p:spPr>
          <a:xfrm>
            <a:off x="6446520" y="2194560"/>
            <a:ext cx="5029200" cy="411480"/>
          </a:xfrm>
          <a:prstGeom prst="rect">
            <a:avLst/>
          </a:prstGeom>
          <a:noFill/>
          <a:ln/>
        </p:spPr>
        <p:txBody>
          <a:bodyPr wrap="square" rtlCol="0" anchor="ctr"/>
          <a:lstStyle/>
          <a:p>
            <a:pPr marL="0" indent="0">
              <a:buNone/>
            </a:pPr>
            <a:r>
              <a:rPr lang="en-US" sz="1900" b="1" dirty="0">
                <a:solidFill>
                  <a:srgbClr val="E93DAC"/>
                </a:solidFill>
                <a:latin typeface="Cambria" pitchFamily="34" charset="0"/>
                <a:ea typeface="Cambria" pitchFamily="34" charset="-122"/>
                <a:cs typeface="Cambria" pitchFamily="34" charset="-120"/>
              </a:rPr>
              <a:t>Job Cluster</a:t>
            </a:r>
            <a:endParaRPr lang="en-US" sz="1900" dirty="0"/>
          </a:p>
        </p:txBody>
      </p:sp>
      <p:sp>
        <p:nvSpPr>
          <p:cNvPr id="13" name="Text 11"/>
          <p:cNvSpPr/>
          <p:nvPr/>
        </p:nvSpPr>
        <p:spPr>
          <a:xfrm>
            <a:off x="6537960" y="2788920"/>
            <a:ext cx="502920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Se crea automáticamente al lanzar un Job y se destruye al terminar</a:t>
            </a:r>
            <a:endParaRPr lang="en-US" sz="1300" dirty="0"/>
          </a:p>
        </p:txBody>
      </p:sp>
      <p:sp>
        <p:nvSpPr>
          <p:cNvPr id="14" name="Text 12"/>
          <p:cNvSpPr/>
          <p:nvPr/>
        </p:nvSpPr>
        <p:spPr>
          <a:xfrm>
            <a:off x="6537960" y="3447288"/>
            <a:ext cx="502920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Aislado — no se comparte entre tareas</a:t>
            </a:r>
            <a:endParaRPr lang="en-US" sz="1300" dirty="0"/>
          </a:p>
        </p:txBody>
      </p:sp>
      <p:sp>
        <p:nvSpPr>
          <p:cNvPr id="15" name="Text 13"/>
          <p:cNvSpPr/>
          <p:nvPr/>
        </p:nvSpPr>
        <p:spPr>
          <a:xfrm>
            <a:off x="6537960" y="4105656"/>
            <a:ext cx="502920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Ideal para pipelines automatizados y producción</a:t>
            </a:r>
            <a:endParaRPr lang="en-US" sz="1300" dirty="0"/>
          </a:p>
        </p:txBody>
      </p:sp>
      <p:sp>
        <p:nvSpPr>
          <p:cNvPr id="16" name="Text 14"/>
          <p:cNvSpPr/>
          <p:nvPr/>
        </p:nvSpPr>
        <p:spPr>
          <a:xfrm>
            <a:off x="6537960" y="4764024"/>
            <a:ext cx="5029200" cy="502920"/>
          </a:xfrm>
          <a:prstGeom prst="rect">
            <a:avLst/>
          </a:prstGeom>
          <a:noFill/>
          <a:ln/>
        </p:spPr>
        <p:txBody>
          <a:bodyPr wrap="square" rtlCol="0" anchor="ctr"/>
          <a:lstStyle/>
          <a:p>
            <a:pPr marL="0" indent="0">
              <a:lnSpc>
                <a:spcPts val="1500"/>
              </a:lnSpc>
              <a:buNone/>
            </a:pPr>
            <a:r>
              <a:rPr lang="en-US" sz="1300" dirty="0">
                <a:solidFill>
                  <a:srgbClr val="FFFFFF"/>
                </a:solidFill>
                <a:latin typeface="Calibri" pitchFamily="34" charset="0"/>
                <a:ea typeface="Calibri" pitchFamily="34" charset="-122"/>
                <a:cs typeface="Calibri" pitchFamily="34" charset="-120"/>
              </a:rPr>
              <a:t>•  Más económico: solo existe mientras corre el trabajo</a:t>
            </a:r>
            <a:endParaRPr lang="en-US" sz="1300" dirty="0"/>
          </a:p>
        </p:txBody>
      </p:sp>
      <p:sp>
        <p:nvSpPr>
          <p:cNvPr id="17" name="Text 15"/>
          <p:cNvSpPr/>
          <p:nvPr/>
        </p:nvSpPr>
        <p:spPr>
          <a:xfrm>
            <a:off x="457200" y="6172200"/>
            <a:ext cx="11247120" cy="365760"/>
          </a:xfrm>
          <a:prstGeom prst="rect">
            <a:avLst/>
          </a:prstGeom>
          <a:noFill/>
          <a:ln/>
        </p:spPr>
        <p:txBody>
          <a:bodyPr wrap="square" rtlCol="0" anchor="ctr"/>
          <a:lstStyle/>
          <a:p>
            <a:pPr marL="0" indent="0">
              <a:buNone/>
            </a:pPr>
            <a:r>
              <a:rPr lang="en-US" sz="1150" i="1" dirty="0">
                <a:solidFill>
                  <a:srgbClr val="F1ECFB"/>
                </a:solidFill>
                <a:latin typeface="Calibri" pitchFamily="34" charset="0"/>
                <a:ea typeface="Calibri" pitchFamily="34" charset="-122"/>
                <a:cs typeface="Calibri" pitchFamily="34" charset="-120"/>
              </a:rPr>
              <a:t>Nota: en Databricks Free Edition (nuestro entorno de práctica) el cómputo es 100% serverless — Databricks aprovisiona el cluster automáticamente al conectar el notebook, sin configuración manual.</a:t>
            </a:r>
            <a:endParaRPr lang="en-US" sz="1150" dirty="0"/>
          </a:p>
        </p:txBody>
      </p:sp>
      <p:sp>
        <p:nvSpPr>
          <p:cNvPr id="18" name="Text 1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19" name="Text 1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CONFIGURACIÓN DEL CLUSTER</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Databricks Runtime y políticas</a:t>
            </a:r>
            <a:endParaRPr lang="en-US" sz="3000" dirty="0"/>
          </a:p>
        </p:txBody>
      </p:sp>
      <p:sp>
        <p:nvSpPr>
          <p:cNvPr id="5" name="Shape 3"/>
          <p:cNvSpPr/>
          <p:nvPr/>
        </p:nvSpPr>
        <p:spPr>
          <a:xfrm>
            <a:off x="457200" y="1920240"/>
            <a:ext cx="11247120" cy="914400"/>
          </a:xfrm>
          <a:prstGeom prst="roundRect">
            <a:avLst>
              <a:gd name="adj" fmla="val 12000"/>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731520" y="1920240"/>
            <a:ext cx="3291840" cy="914400"/>
          </a:xfrm>
          <a:prstGeom prst="rect">
            <a:avLst/>
          </a:prstGeom>
          <a:noFill/>
          <a:ln/>
        </p:spPr>
        <p:txBody>
          <a:bodyPr wrap="square" rtlCol="0" anchor="ctr"/>
          <a:lstStyle/>
          <a:p>
            <a:pPr marL="0" indent="0">
              <a:buNone/>
            </a:pPr>
            <a:r>
              <a:rPr lang="en-US" sz="1450" b="1" dirty="0">
                <a:solidFill>
                  <a:srgbClr val="5B21B6"/>
                </a:solidFill>
                <a:latin typeface="Calibri" pitchFamily="34" charset="0"/>
                <a:ea typeface="Calibri" pitchFamily="34" charset="-122"/>
                <a:cs typeface="Calibri" pitchFamily="34" charset="-120"/>
              </a:rPr>
              <a:t>Databricks Runtime (DBR)</a:t>
            </a:r>
            <a:endParaRPr lang="en-US" sz="1450" dirty="0"/>
          </a:p>
        </p:txBody>
      </p:sp>
      <p:sp>
        <p:nvSpPr>
          <p:cNvPr id="7" name="Text 5"/>
          <p:cNvSpPr/>
          <p:nvPr/>
        </p:nvSpPr>
        <p:spPr>
          <a:xfrm>
            <a:off x="4206240" y="1920240"/>
            <a:ext cx="7315200" cy="914400"/>
          </a:xfrm>
          <a:prstGeom prst="rect">
            <a:avLst/>
          </a:prstGeom>
          <a:noFill/>
          <a:ln/>
        </p:spPr>
        <p:txBody>
          <a:bodyPr wrap="square" rtlCol="0" anchor="ctr"/>
          <a:lstStyle/>
          <a:p>
            <a:pPr marL="0" indent="0">
              <a:lnSpc>
                <a:spcPts val="1600"/>
              </a:lnSpc>
              <a:buNone/>
            </a:pPr>
            <a:r>
              <a:rPr lang="en-US" sz="1300" dirty="0">
                <a:solidFill>
                  <a:srgbClr val="241242"/>
                </a:solidFill>
                <a:latin typeface="Calibri" pitchFamily="34" charset="0"/>
                <a:ea typeface="Calibri" pitchFamily="34" charset="-122"/>
                <a:cs typeface="Calibri" pitchFamily="34" charset="-120"/>
              </a:rPr>
              <a:t>Distribución optimizada de Apache Spark + librerías preinstaladas (pandas, numpy, delta lake).</a:t>
            </a:r>
            <a:endParaRPr lang="en-US" sz="1300" dirty="0"/>
          </a:p>
        </p:txBody>
      </p:sp>
      <p:sp>
        <p:nvSpPr>
          <p:cNvPr id="8" name="Shape 6"/>
          <p:cNvSpPr/>
          <p:nvPr/>
        </p:nvSpPr>
        <p:spPr>
          <a:xfrm>
            <a:off x="457200" y="2999232"/>
            <a:ext cx="11247120" cy="914400"/>
          </a:xfrm>
          <a:prstGeom prst="roundRect">
            <a:avLst>
              <a:gd name="adj" fmla="val 12000"/>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9" name="Text 7"/>
          <p:cNvSpPr/>
          <p:nvPr/>
        </p:nvSpPr>
        <p:spPr>
          <a:xfrm>
            <a:off x="731520" y="2999232"/>
            <a:ext cx="3291840" cy="914400"/>
          </a:xfrm>
          <a:prstGeom prst="rect">
            <a:avLst/>
          </a:prstGeom>
          <a:noFill/>
          <a:ln/>
        </p:spPr>
        <p:txBody>
          <a:bodyPr wrap="square" rtlCol="0" anchor="ctr"/>
          <a:lstStyle/>
          <a:p>
            <a:pPr marL="0" indent="0">
              <a:buNone/>
            </a:pPr>
            <a:r>
              <a:rPr lang="en-US" sz="1450" b="1" dirty="0">
                <a:solidFill>
                  <a:srgbClr val="5B21B6"/>
                </a:solidFill>
                <a:latin typeface="Calibri" pitchFamily="34" charset="0"/>
                <a:ea typeface="Calibri" pitchFamily="34" charset="-122"/>
                <a:cs typeface="Calibri" pitchFamily="34" charset="-120"/>
              </a:rPr>
              <a:t>ML Runtime</a:t>
            </a:r>
            <a:endParaRPr lang="en-US" sz="1450" dirty="0"/>
          </a:p>
        </p:txBody>
      </p:sp>
      <p:sp>
        <p:nvSpPr>
          <p:cNvPr id="10" name="Text 8"/>
          <p:cNvSpPr/>
          <p:nvPr/>
        </p:nvSpPr>
        <p:spPr>
          <a:xfrm>
            <a:off x="4206240" y="2999232"/>
            <a:ext cx="7315200" cy="914400"/>
          </a:xfrm>
          <a:prstGeom prst="rect">
            <a:avLst/>
          </a:prstGeom>
          <a:noFill/>
          <a:ln/>
        </p:spPr>
        <p:txBody>
          <a:bodyPr wrap="square" rtlCol="0" anchor="ctr"/>
          <a:lstStyle/>
          <a:p>
            <a:pPr marL="0" indent="0">
              <a:lnSpc>
                <a:spcPts val="1600"/>
              </a:lnSpc>
              <a:buNone/>
            </a:pPr>
            <a:r>
              <a:rPr lang="en-US" sz="1300" dirty="0">
                <a:solidFill>
                  <a:srgbClr val="241242"/>
                </a:solidFill>
                <a:latin typeface="Calibri" pitchFamily="34" charset="0"/>
                <a:ea typeface="Calibri" pitchFamily="34" charset="-122"/>
                <a:cs typeface="Calibri" pitchFamily="34" charset="-120"/>
              </a:rPr>
              <a:t>Incluye TensorFlow, PyTorch, MLflow y XGBoost preinstalados — usado en nuestros laboratorios.</a:t>
            </a:r>
            <a:endParaRPr lang="en-US" sz="1300" dirty="0"/>
          </a:p>
        </p:txBody>
      </p:sp>
      <p:sp>
        <p:nvSpPr>
          <p:cNvPr id="11" name="Shape 9"/>
          <p:cNvSpPr/>
          <p:nvPr/>
        </p:nvSpPr>
        <p:spPr>
          <a:xfrm>
            <a:off x="457200" y="4078224"/>
            <a:ext cx="11247120" cy="914400"/>
          </a:xfrm>
          <a:prstGeom prst="roundRect">
            <a:avLst>
              <a:gd name="adj" fmla="val 12000"/>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2" name="Text 10"/>
          <p:cNvSpPr/>
          <p:nvPr/>
        </p:nvSpPr>
        <p:spPr>
          <a:xfrm>
            <a:off x="731520" y="4078224"/>
            <a:ext cx="3291840" cy="914400"/>
          </a:xfrm>
          <a:prstGeom prst="rect">
            <a:avLst/>
          </a:prstGeom>
          <a:noFill/>
          <a:ln/>
        </p:spPr>
        <p:txBody>
          <a:bodyPr wrap="square" rtlCol="0" anchor="ctr"/>
          <a:lstStyle/>
          <a:p>
            <a:pPr marL="0" indent="0">
              <a:buNone/>
            </a:pPr>
            <a:r>
              <a:rPr lang="en-US" sz="1450" b="1" dirty="0">
                <a:solidFill>
                  <a:srgbClr val="5B21B6"/>
                </a:solidFill>
                <a:latin typeface="Calibri" pitchFamily="34" charset="0"/>
                <a:ea typeface="Calibri" pitchFamily="34" charset="-122"/>
                <a:cs typeface="Calibri" pitchFamily="34" charset="-120"/>
              </a:rPr>
              <a:t>Cluster Policies</a:t>
            </a:r>
            <a:endParaRPr lang="en-US" sz="1450" dirty="0"/>
          </a:p>
        </p:txBody>
      </p:sp>
      <p:sp>
        <p:nvSpPr>
          <p:cNvPr id="13" name="Text 11"/>
          <p:cNvSpPr/>
          <p:nvPr/>
        </p:nvSpPr>
        <p:spPr>
          <a:xfrm>
            <a:off x="4206240" y="4078224"/>
            <a:ext cx="7315200" cy="914400"/>
          </a:xfrm>
          <a:prstGeom prst="rect">
            <a:avLst/>
          </a:prstGeom>
          <a:noFill/>
          <a:ln/>
        </p:spPr>
        <p:txBody>
          <a:bodyPr wrap="square" rtlCol="0" anchor="ctr"/>
          <a:lstStyle/>
          <a:p>
            <a:pPr marL="0" indent="0">
              <a:lnSpc>
                <a:spcPts val="1600"/>
              </a:lnSpc>
              <a:buNone/>
            </a:pPr>
            <a:r>
              <a:rPr lang="en-US" sz="1300" dirty="0">
                <a:solidFill>
                  <a:srgbClr val="241242"/>
                </a:solidFill>
                <a:latin typeface="Calibri" pitchFamily="34" charset="0"/>
                <a:ea typeface="Calibri" pitchFamily="34" charset="-122"/>
                <a:cs typeface="Calibri" pitchFamily="34" charset="-120"/>
              </a:rPr>
              <a:t>Reglas definidas por el administrador: tipo de instancia permitido, tamaño máximo, auto-terminación obligatoria.</a:t>
            </a:r>
            <a:endParaRPr lang="en-US" sz="1300" dirty="0"/>
          </a:p>
        </p:txBody>
      </p:sp>
      <p:sp>
        <p:nvSpPr>
          <p:cNvPr id="14" name="Shape 12"/>
          <p:cNvSpPr/>
          <p:nvPr/>
        </p:nvSpPr>
        <p:spPr>
          <a:xfrm>
            <a:off x="457200" y="5157216"/>
            <a:ext cx="11247120" cy="914400"/>
          </a:xfrm>
          <a:prstGeom prst="roundRect">
            <a:avLst>
              <a:gd name="adj" fmla="val 12000"/>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5" name="Text 13"/>
          <p:cNvSpPr/>
          <p:nvPr/>
        </p:nvSpPr>
        <p:spPr>
          <a:xfrm>
            <a:off x="731520" y="5157216"/>
            <a:ext cx="3291840" cy="914400"/>
          </a:xfrm>
          <a:prstGeom prst="rect">
            <a:avLst/>
          </a:prstGeom>
          <a:noFill/>
          <a:ln/>
        </p:spPr>
        <p:txBody>
          <a:bodyPr wrap="square" rtlCol="0" anchor="ctr"/>
          <a:lstStyle/>
          <a:p>
            <a:pPr marL="0" indent="0">
              <a:buNone/>
            </a:pPr>
            <a:r>
              <a:rPr lang="en-US" sz="1450" b="1" dirty="0">
                <a:solidFill>
                  <a:srgbClr val="5B21B6"/>
                </a:solidFill>
                <a:latin typeface="Calibri" pitchFamily="34" charset="0"/>
                <a:ea typeface="Calibri" pitchFamily="34" charset="-122"/>
                <a:cs typeface="Calibri" pitchFamily="34" charset="-120"/>
              </a:rPr>
              <a:t>Node type / Driver type</a:t>
            </a:r>
            <a:endParaRPr lang="en-US" sz="1450" dirty="0"/>
          </a:p>
        </p:txBody>
      </p:sp>
      <p:sp>
        <p:nvSpPr>
          <p:cNvPr id="16" name="Text 14"/>
          <p:cNvSpPr/>
          <p:nvPr/>
        </p:nvSpPr>
        <p:spPr>
          <a:xfrm>
            <a:off x="4206240" y="5157216"/>
            <a:ext cx="7315200" cy="914400"/>
          </a:xfrm>
          <a:prstGeom prst="rect">
            <a:avLst/>
          </a:prstGeom>
          <a:noFill/>
          <a:ln/>
        </p:spPr>
        <p:txBody>
          <a:bodyPr wrap="square" rtlCol="0" anchor="ctr"/>
          <a:lstStyle/>
          <a:p>
            <a:pPr marL="0" indent="0">
              <a:lnSpc>
                <a:spcPts val="1600"/>
              </a:lnSpc>
              <a:buNone/>
            </a:pPr>
            <a:r>
              <a:rPr lang="en-US" sz="1300" dirty="0">
                <a:solidFill>
                  <a:srgbClr val="241242"/>
                </a:solidFill>
                <a:latin typeface="Calibri" pitchFamily="34" charset="0"/>
                <a:ea typeface="Calibri" pitchFamily="34" charset="-122"/>
                <a:cs typeface="Calibri" pitchFamily="34" charset="-120"/>
              </a:rPr>
              <a:t>Tamaño de las máquinas: memoria, CPU y, opcionalmente, GPU para Deep Learning.</a:t>
            </a:r>
            <a:endParaRPr lang="en-US" sz="1300" dirty="0"/>
          </a:p>
        </p:txBody>
      </p:sp>
      <p:sp>
        <p:nvSpPr>
          <p:cNvPr id="17" name="Text 15"/>
          <p:cNvSpPr/>
          <p:nvPr/>
        </p:nvSpPr>
        <p:spPr>
          <a:xfrm>
            <a:off x="457200" y="6144768"/>
            <a:ext cx="11247120" cy="274320"/>
          </a:xfrm>
          <a:prstGeom prst="rect">
            <a:avLst/>
          </a:prstGeom>
          <a:noFill/>
          <a:ln/>
        </p:spPr>
        <p:txBody>
          <a:bodyPr wrap="square" rtlCol="0" anchor="ctr"/>
          <a:lstStyle/>
          <a:p>
            <a:pPr marL="0" indent="0">
              <a:buNone/>
            </a:pPr>
            <a:r>
              <a:rPr lang="en-US" sz="1100" i="1" dirty="0">
                <a:solidFill>
                  <a:srgbClr val="6B5B95"/>
                </a:solidFill>
                <a:latin typeface="Calibri" pitchFamily="34" charset="0"/>
                <a:ea typeface="Calibri" pitchFamily="34" charset="-122"/>
                <a:cs typeface="Calibri" pitchFamily="34" charset="-120"/>
              </a:rPr>
              <a:t>Estos conceptos aplican a los workspaces con cómputo clásico (cuentas de pago). En Free Edition no se seleccionan manualmente — el cómputo serverless los gestiona por ti.</a:t>
            </a:r>
            <a:endParaRPr lang="en-US" sz="1100" dirty="0"/>
          </a:p>
        </p:txBody>
      </p:sp>
      <p:sp>
        <p:nvSpPr>
          <p:cNvPr id="18" name="Text 1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19" name="Text 1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400800" cy="6400800"/>
          </a:xfrm>
          <a:prstGeom prst="ellipse">
            <a:avLst/>
          </a:prstGeom>
          <a:solidFill>
            <a:srgbClr val="5B21B6">
              <a:alpha val="45000"/>
            </a:srgbClr>
          </a:solidFill>
          <a:ln/>
        </p:spPr>
        <p:txBody>
          <a:bodyPr/>
          <a:lstStyle/>
          <a:p>
            <a:endParaRPr lang="es-ES"/>
          </a:p>
        </p:txBody>
      </p:sp>
      <p:sp>
        <p:nvSpPr>
          <p:cNvPr id="3" name="Text 1"/>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4" name="Text 2"/>
          <p:cNvSpPr/>
          <p:nvPr/>
        </p:nvSpPr>
        <p:spPr>
          <a:xfrm>
            <a:off x="457200" y="1828800"/>
            <a:ext cx="3657600" cy="1463040"/>
          </a:xfrm>
          <a:prstGeom prst="rect">
            <a:avLst/>
          </a:prstGeom>
          <a:noFill/>
          <a:ln/>
        </p:spPr>
        <p:txBody>
          <a:bodyPr wrap="square" rtlCol="0" anchor="ctr"/>
          <a:lstStyle/>
          <a:p>
            <a:pPr marL="0" indent="0">
              <a:buNone/>
            </a:pPr>
            <a:r>
              <a:rPr lang="en-US" sz="9000" b="1" dirty="0">
                <a:solidFill>
                  <a:srgbClr val="2D0F5E"/>
                </a:solidFill>
                <a:latin typeface="Cambria" pitchFamily="34" charset="0"/>
                <a:ea typeface="Cambria" pitchFamily="34" charset="-122"/>
                <a:cs typeface="Cambria" pitchFamily="34" charset="-120"/>
              </a:rPr>
              <a:t>03</a:t>
            </a:r>
            <a:endParaRPr lang="en-US" sz="9000" dirty="0"/>
          </a:p>
        </p:txBody>
      </p:sp>
      <p:sp>
        <p:nvSpPr>
          <p:cNvPr id="5" name="Text 3"/>
          <p:cNvSpPr/>
          <p:nvPr/>
        </p:nvSpPr>
        <p:spPr>
          <a:xfrm>
            <a:off x="502920" y="324612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TEORÍA — BLOQUE 3</a:t>
            </a:r>
            <a:endParaRPr lang="en-US" sz="1300" dirty="0"/>
          </a:p>
        </p:txBody>
      </p:sp>
      <p:sp>
        <p:nvSpPr>
          <p:cNvPr id="6" name="Text 4"/>
          <p:cNvSpPr/>
          <p:nvPr/>
        </p:nvSpPr>
        <p:spPr>
          <a:xfrm>
            <a:off x="457200" y="3611880"/>
            <a:ext cx="1051560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Notebooks colaborativos</a:t>
            </a:r>
            <a:endParaRPr lang="en-US" sz="3800" dirty="0"/>
          </a:p>
        </p:txBody>
      </p:sp>
      <p:sp>
        <p:nvSpPr>
          <p:cNvPr id="7" name="Text 5"/>
          <p:cNvSpPr/>
          <p:nvPr/>
        </p:nvSpPr>
        <p:spPr>
          <a:xfrm>
            <a:off x="457200" y="4709160"/>
            <a:ext cx="9601200" cy="64008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El entorno de trabajo diario de un equipo de Data Science en escala</a:t>
            </a:r>
            <a:endParaRPr lang="en-US" sz="1500" dirty="0"/>
          </a:p>
        </p:txBody>
      </p:sp>
      <p:sp>
        <p:nvSpPr>
          <p:cNvPr id="8" name="Text 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9" name="Text 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TRABAJO EN EQUIPO, EN TIEMPO REAL</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241242"/>
                </a:solidFill>
                <a:latin typeface="Cambria" pitchFamily="34" charset="0"/>
                <a:ea typeface="Cambria" pitchFamily="34" charset="-122"/>
                <a:cs typeface="Cambria" pitchFamily="34" charset="-120"/>
              </a:rPr>
              <a:t>Notebooks colaborativos</a:t>
            </a:r>
            <a:endParaRPr lang="en-US" sz="3200" dirty="0"/>
          </a:p>
        </p:txBody>
      </p:sp>
      <p:sp>
        <p:nvSpPr>
          <p:cNvPr id="5" name="Text 3"/>
          <p:cNvSpPr/>
          <p:nvPr/>
        </p:nvSpPr>
        <p:spPr>
          <a:xfrm>
            <a:off x="457200" y="1737360"/>
            <a:ext cx="11247120" cy="777240"/>
          </a:xfrm>
          <a:prstGeom prst="rect">
            <a:avLst/>
          </a:prstGeom>
          <a:noFill/>
          <a:ln/>
        </p:spPr>
        <p:txBody>
          <a:bodyPr wrap="square" rtlCol="0" anchor="ctr"/>
          <a:lstStyle/>
          <a:p>
            <a:pPr marL="0" indent="0">
              <a:lnSpc>
                <a:spcPts val="1900"/>
              </a:lnSpc>
              <a:buNone/>
            </a:pPr>
            <a:r>
              <a:rPr lang="en-US" sz="1500" dirty="0">
                <a:solidFill>
                  <a:srgbClr val="241242"/>
                </a:solidFill>
                <a:latin typeface="Calibri" pitchFamily="34" charset="0"/>
                <a:ea typeface="Calibri" pitchFamily="34" charset="-122"/>
                <a:cs typeface="Calibri" pitchFamily="34" charset="-120"/>
              </a:rPr>
              <a:t>Los notebooks de Databricks permiten que varias personas editen, comenten y ejecuten el mismo documento simultáneamente — como Google Docs, pero para código y datos.</a:t>
            </a:r>
            <a:endParaRPr lang="en-US" sz="1500" dirty="0"/>
          </a:p>
        </p:txBody>
      </p:sp>
      <p:sp>
        <p:nvSpPr>
          <p:cNvPr id="6" name="Shape 4"/>
          <p:cNvSpPr/>
          <p:nvPr/>
        </p:nvSpPr>
        <p:spPr>
          <a:xfrm>
            <a:off x="457200" y="2697480"/>
            <a:ext cx="457200" cy="457200"/>
          </a:xfrm>
          <a:prstGeom prst="ellipse">
            <a:avLst/>
          </a:prstGeom>
          <a:solidFill>
            <a:srgbClr val="C026D3"/>
          </a:solidFill>
          <a:ln/>
        </p:spPr>
        <p:txBody>
          <a:bodyPr/>
          <a:lstStyle/>
          <a:p>
            <a:endParaRPr lang="es-ES"/>
          </a:p>
        </p:txBody>
      </p:sp>
      <p:sp>
        <p:nvSpPr>
          <p:cNvPr id="7" name="Text 5"/>
          <p:cNvSpPr/>
          <p:nvPr/>
        </p:nvSpPr>
        <p:spPr>
          <a:xfrm>
            <a:off x="457200" y="2697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457200" y="3246120"/>
            <a:ext cx="3520440" cy="365760"/>
          </a:xfrm>
          <a:prstGeom prst="rect">
            <a:avLst/>
          </a:prstGeom>
          <a:noFill/>
          <a:ln/>
        </p:spPr>
        <p:txBody>
          <a:bodyPr wrap="square" rtlCol="0" anchor="ctr"/>
          <a:lstStyle/>
          <a:p>
            <a:pPr marL="0" indent="0">
              <a:buNone/>
            </a:pPr>
            <a:r>
              <a:rPr lang="en-US" sz="1300" b="1" dirty="0">
                <a:solidFill>
                  <a:srgbClr val="5B21B6"/>
                </a:solidFill>
                <a:latin typeface="Calibri" pitchFamily="34" charset="0"/>
                <a:ea typeface="Calibri" pitchFamily="34" charset="-122"/>
                <a:cs typeface="Calibri" pitchFamily="34" charset="-120"/>
              </a:rPr>
              <a:t>Multi-lenguaje</a:t>
            </a:r>
            <a:endParaRPr lang="en-US" sz="1300" dirty="0"/>
          </a:p>
        </p:txBody>
      </p:sp>
      <p:sp>
        <p:nvSpPr>
          <p:cNvPr id="9" name="Text 7"/>
          <p:cNvSpPr/>
          <p:nvPr/>
        </p:nvSpPr>
        <p:spPr>
          <a:xfrm>
            <a:off x="457200" y="3593592"/>
            <a:ext cx="3520440" cy="73152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Python, SQL, Scala y R en el mismo notebook, celda por celda.</a:t>
            </a:r>
            <a:endParaRPr lang="en-US" sz="1100" dirty="0"/>
          </a:p>
        </p:txBody>
      </p:sp>
      <p:sp>
        <p:nvSpPr>
          <p:cNvPr id="10" name="Shape 8"/>
          <p:cNvSpPr/>
          <p:nvPr/>
        </p:nvSpPr>
        <p:spPr>
          <a:xfrm>
            <a:off x="4251960" y="2697480"/>
            <a:ext cx="457200" cy="457200"/>
          </a:xfrm>
          <a:prstGeom prst="ellipse">
            <a:avLst/>
          </a:prstGeom>
          <a:solidFill>
            <a:srgbClr val="C026D3"/>
          </a:solidFill>
          <a:ln/>
        </p:spPr>
        <p:txBody>
          <a:bodyPr/>
          <a:lstStyle/>
          <a:p>
            <a:endParaRPr lang="es-ES"/>
          </a:p>
        </p:txBody>
      </p:sp>
      <p:sp>
        <p:nvSpPr>
          <p:cNvPr id="11" name="Text 9"/>
          <p:cNvSpPr/>
          <p:nvPr/>
        </p:nvSpPr>
        <p:spPr>
          <a:xfrm>
            <a:off x="4251960" y="2697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251960" y="3246120"/>
            <a:ext cx="3520440" cy="365760"/>
          </a:xfrm>
          <a:prstGeom prst="rect">
            <a:avLst/>
          </a:prstGeom>
          <a:noFill/>
          <a:ln/>
        </p:spPr>
        <p:txBody>
          <a:bodyPr wrap="square" rtlCol="0" anchor="ctr"/>
          <a:lstStyle/>
          <a:p>
            <a:pPr marL="0" indent="0">
              <a:buNone/>
            </a:pPr>
            <a:r>
              <a:rPr lang="en-US" sz="1300" b="1" dirty="0">
                <a:solidFill>
                  <a:srgbClr val="5B21B6"/>
                </a:solidFill>
                <a:latin typeface="Calibri" pitchFamily="34" charset="0"/>
                <a:ea typeface="Calibri" pitchFamily="34" charset="-122"/>
                <a:cs typeface="Calibri" pitchFamily="34" charset="-120"/>
              </a:rPr>
              <a:t>Coautoría en vivo</a:t>
            </a:r>
            <a:endParaRPr lang="en-US" sz="1300" dirty="0"/>
          </a:p>
        </p:txBody>
      </p:sp>
      <p:sp>
        <p:nvSpPr>
          <p:cNvPr id="13" name="Text 11"/>
          <p:cNvSpPr/>
          <p:nvPr/>
        </p:nvSpPr>
        <p:spPr>
          <a:xfrm>
            <a:off x="4251960" y="3593592"/>
            <a:ext cx="3520440" cy="73152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Cursores y ediciones de otros usuarios visibles en tiempo real.</a:t>
            </a:r>
            <a:endParaRPr lang="en-US" sz="1100" dirty="0"/>
          </a:p>
        </p:txBody>
      </p:sp>
      <p:sp>
        <p:nvSpPr>
          <p:cNvPr id="14" name="Shape 12"/>
          <p:cNvSpPr/>
          <p:nvPr/>
        </p:nvSpPr>
        <p:spPr>
          <a:xfrm>
            <a:off x="8046720" y="2697480"/>
            <a:ext cx="457200" cy="457200"/>
          </a:xfrm>
          <a:prstGeom prst="ellipse">
            <a:avLst/>
          </a:prstGeom>
          <a:solidFill>
            <a:srgbClr val="C026D3"/>
          </a:solidFill>
          <a:ln/>
        </p:spPr>
        <p:txBody>
          <a:bodyPr/>
          <a:lstStyle/>
          <a:p>
            <a:endParaRPr lang="es-ES"/>
          </a:p>
        </p:txBody>
      </p:sp>
      <p:sp>
        <p:nvSpPr>
          <p:cNvPr id="15" name="Text 13"/>
          <p:cNvSpPr/>
          <p:nvPr/>
        </p:nvSpPr>
        <p:spPr>
          <a:xfrm>
            <a:off x="8046720" y="2697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8046720" y="3246120"/>
            <a:ext cx="3520440" cy="365760"/>
          </a:xfrm>
          <a:prstGeom prst="rect">
            <a:avLst/>
          </a:prstGeom>
          <a:noFill/>
          <a:ln/>
        </p:spPr>
        <p:txBody>
          <a:bodyPr wrap="square" rtlCol="0" anchor="ctr"/>
          <a:lstStyle/>
          <a:p>
            <a:pPr marL="0" indent="0">
              <a:buNone/>
            </a:pPr>
            <a:r>
              <a:rPr lang="en-US" sz="1300" b="1" dirty="0">
                <a:solidFill>
                  <a:srgbClr val="5B21B6"/>
                </a:solidFill>
                <a:latin typeface="Calibri" pitchFamily="34" charset="0"/>
                <a:ea typeface="Calibri" pitchFamily="34" charset="-122"/>
                <a:cs typeface="Calibri" pitchFamily="34" charset="-120"/>
              </a:rPr>
              <a:t>Comentarios</a:t>
            </a:r>
            <a:endParaRPr lang="en-US" sz="1300" dirty="0"/>
          </a:p>
        </p:txBody>
      </p:sp>
      <p:sp>
        <p:nvSpPr>
          <p:cNvPr id="17" name="Text 15"/>
          <p:cNvSpPr/>
          <p:nvPr/>
        </p:nvSpPr>
        <p:spPr>
          <a:xfrm>
            <a:off x="8046720" y="3593592"/>
            <a:ext cx="3520440" cy="73152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Discusión en línea sobre celdas específicas, sin interrumpir el código.</a:t>
            </a:r>
            <a:endParaRPr lang="en-US" sz="1100" dirty="0"/>
          </a:p>
        </p:txBody>
      </p:sp>
      <p:sp>
        <p:nvSpPr>
          <p:cNvPr id="18" name="Shape 16"/>
          <p:cNvSpPr/>
          <p:nvPr/>
        </p:nvSpPr>
        <p:spPr>
          <a:xfrm>
            <a:off x="457200" y="4434840"/>
            <a:ext cx="457200" cy="457200"/>
          </a:xfrm>
          <a:prstGeom prst="ellipse">
            <a:avLst/>
          </a:prstGeom>
          <a:solidFill>
            <a:srgbClr val="C026D3"/>
          </a:solidFill>
          <a:ln/>
        </p:spPr>
        <p:txBody>
          <a:bodyPr/>
          <a:lstStyle/>
          <a:p>
            <a:endParaRPr lang="es-ES"/>
          </a:p>
        </p:txBody>
      </p:sp>
      <p:sp>
        <p:nvSpPr>
          <p:cNvPr id="19" name="Text 17"/>
          <p:cNvSpPr/>
          <p:nvPr/>
        </p:nvSpPr>
        <p:spPr>
          <a:xfrm>
            <a:off x="45720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457200" y="4983480"/>
            <a:ext cx="3520440" cy="365760"/>
          </a:xfrm>
          <a:prstGeom prst="rect">
            <a:avLst/>
          </a:prstGeom>
          <a:noFill/>
          <a:ln/>
        </p:spPr>
        <p:txBody>
          <a:bodyPr wrap="square" rtlCol="0" anchor="ctr"/>
          <a:lstStyle/>
          <a:p>
            <a:pPr marL="0" indent="0">
              <a:buNone/>
            </a:pPr>
            <a:r>
              <a:rPr lang="en-US" sz="1300" b="1" dirty="0">
                <a:solidFill>
                  <a:srgbClr val="5B21B6"/>
                </a:solidFill>
                <a:latin typeface="Calibri" pitchFamily="34" charset="0"/>
                <a:ea typeface="Calibri" pitchFamily="34" charset="-122"/>
                <a:cs typeface="Calibri" pitchFamily="34" charset="-120"/>
              </a:rPr>
              <a:t>Historial de versiones</a:t>
            </a:r>
            <a:endParaRPr lang="en-US" sz="1300" dirty="0"/>
          </a:p>
        </p:txBody>
      </p:sp>
      <p:sp>
        <p:nvSpPr>
          <p:cNvPr id="21" name="Text 19"/>
          <p:cNvSpPr/>
          <p:nvPr/>
        </p:nvSpPr>
        <p:spPr>
          <a:xfrm>
            <a:off x="457200" y="5330952"/>
            <a:ext cx="3520440" cy="73152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Cada guardado queda registrado; se puede restaurar cualquier versión anterior.</a:t>
            </a:r>
            <a:endParaRPr lang="en-US" sz="1100" dirty="0"/>
          </a:p>
        </p:txBody>
      </p:sp>
      <p:sp>
        <p:nvSpPr>
          <p:cNvPr id="22" name="Shape 20"/>
          <p:cNvSpPr/>
          <p:nvPr/>
        </p:nvSpPr>
        <p:spPr>
          <a:xfrm>
            <a:off x="4251960" y="4434840"/>
            <a:ext cx="457200" cy="457200"/>
          </a:xfrm>
          <a:prstGeom prst="ellipse">
            <a:avLst/>
          </a:prstGeom>
          <a:solidFill>
            <a:srgbClr val="C026D3"/>
          </a:solidFill>
          <a:ln/>
        </p:spPr>
        <p:txBody>
          <a:bodyPr/>
          <a:lstStyle/>
          <a:p>
            <a:endParaRPr lang="es-ES"/>
          </a:p>
        </p:txBody>
      </p:sp>
      <p:sp>
        <p:nvSpPr>
          <p:cNvPr id="23" name="Text 21"/>
          <p:cNvSpPr/>
          <p:nvPr/>
        </p:nvSpPr>
        <p:spPr>
          <a:xfrm>
            <a:off x="425196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4251960" y="4983480"/>
            <a:ext cx="3520440" cy="365760"/>
          </a:xfrm>
          <a:prstGeom prst="rect">
            <a:avLst/>
          </a:prstGeom>
          <a:noFill/>
          <a:ln/>
        </p:spPr>
        <p:txBody>
          <a:bodyPr wrap="square" rtlCol="0" anchor="ctr"/>
          <a:lstStyle/>
          <a:p>
            <a:pPr marL="0" indent="0">
              <a:buNone/>
            </a:pPr>
            <a:r>
              <a:rPr lang="en-US" sz="1300" b="1" dirty="0">
                <a:solidFill>
                  <a:srgbClr val="5B21B6"/>
                </a:solidFill>
                <a:latin typeface="Calibri" pitchFamily="34" charset="0"/>
                <a:ea typeface="Calibri" pitchFamily="34" charset="-122"/>
                <a:cs typeface="Calibri" pitchFamily="34" charset="-120"/>
              </a:rPr>
              <a:t>Dashboards</a:t>
            </a:r>
            <a:endParaRPr lang="en-US" sz="1300" dirty="0"/>
          </a:p>
        </p:txBody>
      </p:sp>
      <p:sp>
        <p:nvSpPr>
          <p:cNvPr id="25" name="Text 23"/>
          <p:cNvSpPr/>
          <p:nvPr/>
        </p:nvSpPr>
        <p:spPr>
          <a:xfrm>
            <a:off x="4251960" y="5330952"/>
            <a:ext cx="3520440" cy="73152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Convierte las salidas de las celdas en un tablero de presentación con un clic.</a:t>
            </a:r>
            <a:endParaRPr lang="en-US" sz="1100" dirty="0"/>
          </a:p>
        </p:txBody>
      </p:sp>
      <p:sp>
        <p:nvSpPr>
          <p:cNvPr id="26" name="Shape 24"/>
          <p:cNvSpPr/>
          <p:nvPr/>
        </p:nvSpPr>
        <p:spPr>
          <a:xfrm>
            <a:off x="8046720" y="4434840"/>
            <a:ext cx="457200" cy="457200"/>
          </a:xfrm>
          <a:prstGeom prst="ellipse">
            <a:avLst/>
          </a:prstGeom>
          <a:solidFill>
            <a:srgbClr val="C026D3"/>
          </a:solidFill>
          <a:ln/>
        </p:spPr>
        <p:txBody>
          <a:bodyPr/>
          <a:lstStyle/>
          <a:p>
            <a:endParaRPr lang="es-ES"/>
          </a:p>
        </p:txBody>
      </p:sp>
      <p:sp>
        <p:nvSpPr>
          <p:cNvPr id="27" name="Text 25"/>
          <p:cNvSpPr/>
          <p:nvPr/>
        </p:nvSpPr>
        <p:spPr>
          <a:xfrm>
            <a:off x="8046720" y="44348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8046720" y="4983480"/>
            <a:ext cx="3520440" cy="365760"/>
          </a:xfrm>
          <a:prstGeom prst="rect">
            <a:avLst/>
          </a:prstGeom>
          <a:noFill/>
          <a:ln/>
        </p:spPr>
        <p:txBody>
          <a:bodyPr wrap="square" rtlCol="0" anchor="ctr"/>
          <a:lstStyle/>
          <a:p>
            <a:pPr marL="0" indent="0">
              <a:buNone/>
            </a:pPr>
            <a:r>
              <a:rPr lang="en-US" sz="1300" b="1" dirty="0">
                <a:solidFill>
                  <a:srgbClr val="5B21B6"/>
                </a:solidFill>
                <a:latin typeface="Calibri" pitchFamily="34" charset="0"/>
                <a:ea typeface="Calibri" pitchFamily="34" charset="-122"/>
                <a:cs typeface="Calibri" pitchFamily="34" charset="-120"/>
              </a:rPr>
              <a:t>Programación de Jobs</a:t>
            </a:r>
            <a:endParaRPr lang="en-US" sz="1300" dirty="0"/>
          </a:p>
        </p:txBody>
      </p:sp>
      <p:sp>
        <p:nvSpPr>
          <p:cNvPr id="29" name="Text 27"/>
          <p:cNvSpPr/>
          <p:nvPr/>
        </p:nvSpPr>
        <p:spPr>
          <a:xfrm>
            <a:off x="8046720" y="5330952"/>
            <a:ext cx="3520440" cy="731520"/>
          </a:xfrm>
          <a:prstGeom prst="rect">
            <a:avLst/>
          </a:prstGeom>
          <a:noFill/>
          <a:ln/>
        </p:spPr>
        <p:txBody>
          <a:bodyPr wrap="square" rtlCol="0" anchor="ctr"/>
          <a:lstStyle/>
          <a:p>
            <a:pPr marL="0" indent="0">
              <a:lnSpc>
                <a:spcPts val="1400"/>
              </a:lnSpc>
              <a:buNone/>
            </a:pPr>
            <a:r>
              <a:rPr lang="en-US" sz="1100" dirty="0">
                <a:solidFill>
                  <a:srgbClr val="6B5B95"/>
                </a:solidFill>
                <a:latin typeface="Calibri" pitchFamily="34" charset="0"/>
                <a:ea typeface="Calibri" pitchFamily="34" charset="-122"/>
                <a:cs typeface="Calibri" pitchFamily="34" charset="-120"/>
              </a:rPr>
              <a:t>Un notebook puede ejecutarse automáticamente como una tarea programada.</a:t>
            </a:r>
            <a:endParaRPr lang="en-US" sz="1100" dirty="0"/>
          </a:p>
        </p:txBody>
      </p:sp>
      <p:sp>
        <p:nvSpPr>
          <p:cNvPr id="30" name="Text 28"/>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31" name="Text 29"/>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SINTAXIS ESENCIAL DEL NOTEBOOK</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Magic Commands</a:t>
            </a:r>
            <a:endParaRPr lang="en-US" sz="3200" dirty="0"/>
          </a:p>
        </p:txBody>
      </p:sp>
      <p:sp>
        <p:nvSpPr>
          <p:cNvPr id="5" name="Shape 3"/>
          <p:cNvSpPr/>
          <p:nvPr/>
        </p:nvSpPr>
        <p:spPr>
          <a:xfrm>
            <a:off x="457200" y="192024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685800" y="192024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%python</a:t>
            </a:r>
            <a:endParaRPr lang="en-US" sz="1500" dirty="0"/>
          </a:p>
        </p:txBody>
      </p:sp>
      <p:sp>
        <p:nvSpPr>
          <p:cNvPr id="7" name="Text 5"/>
          <p:cNvSpPr/>
          <p:nvPr/>
        </p:nvSpPr>
        <p:spPr>
          <a:xfrm>
            <a:off x="2286000" y="192024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Ejecuta la celda como código Python (lenguaje por defecto).</a:t>
            </a:r>
            <a:endParaRPr lang="en-US" sz="1150" dirty="0"/>
          </a:p>
        </p:txBody>
      </p:sp>
      <p:sp>
        <p:nvSpPr>
          <p:cNvPr id="8" name="Shape 6"/>
          <p:cNvSpPr/>
          <p:nvPr/>
        </p:nvSpPr>
        <p:spPr>
          <a:xfrm>
            <a:off x="6126480" y="192024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9" name="Text 7"/>
          <p:cNvSpPr/>
          <p:nvPr/>
        </p:nvSpPr>
        <p:spPr>
          <a:xfrm>
            <a:off x="6355080" y="192024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%sql</a:t>
            </a:r>
            <a:endParaRPr lang="en-US" sz="1500" dirty="0"/>
          </a:p>
        </p:txBody>
      </p:sp>
      <p:sp>
        <p:nvSpPr>
          <p:cNvPr id="10" name="Text 8"/>
          <p:cNvSpPr/>
          <p:nvPr/>
        </p:nvSpPr>
        <p:spPr>
          <a:xfrm>
            <a:off x="7955280" y="192024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Ejecuta consultas SQL directamente sobre tablas del catálogo.</a:t>
            </a:r>
            <a:endParaRPr lang="en-US" sz="1150" dirty="0"/>
          </a:p>
        </p:txBody>
      </p:sp>
      <p:sp>
        <p:nvSpPr>
          <p:cNvPr id="11" name="Shape 9"/>
          <p:cNvSpPr/>
          <p:nvPr/>
        </p:nvSpPr>
        <p:spPr>
          <a:xfrm>
            <a:off x="457200" y="297180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2" name="Text 10"/>
          <p:cNvSpPr/>
          <p:nvPr/>
        </p:nvSpPr>
        <p:spPr>
          <a:xfrm>
            <a:off x="685800" y="297180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%scala</a:t>
            </a:r>
            <a:endParaRPr lang="en-US" sz="1500" dirty="0"/>
          </a:p>
        </p:txBody>
      </p:sp>
      <p:sp>
        <p:nvSpPr>
          <p:cNvPr id="13" name="Text 11"/>
          <p:cNvSpPr/>
          <p:nvPr/>
        </p:nvSpPr>
        <p:spPr>
          <a:xfrm>
            <a:off x="2286000" y="297180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Ejecuta código Scala en la misma sesión de Spark.</a:t>
            </a:r>
            <a:endParaRPr lang="en-US" sz="1150" dirty="0"/>
          </a:p>
        </p:txBody>
      </p:sp>
      <p:sp>
        <p:nvSpPr>
          <p:cNvPr id="14" name="Shape 12"/>
          <p:cNvSpPr/>
          <p:nvPr/>
        </p:nvSpPr>
        <p:spPr>
          <a:xfrm>
            <a:off x="6126480" y="297180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5" name="Text 13"/>
          <p:cNvSpPr/>
          <p:nvPr/>
        </p:nvSpPr>
        <p:spPr>
          <a:xfrm>
            <a:off x="6355080" y="297180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%md</a:t>
            </a:r>
            <a:endParaRPr lang="en-US" sz="1500" dirty="0"/>
          </a:p>
        </p:txBody>
      </p:sp>
      <p:sp>
        <p:nvSpPr>
          <p:cNvPr id="16" name="Text 14"/>
          <p:cNvSpPr/>
          <p:nvPr/>
        </p:nvSpPr>
        <p:spPr>
          <a:xfrm>
            <a:off x="7955280" y="297180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Renderiza texto en Markdown — ideal para documentar el notebook.</a:t>
            </a:r>
            <a:endParaRPr lang="en-US" sz="1150" dirty="0"/>
          </a:p>
        </p:txBody>
      </p:sp>
      <p:sp>
        <p:nvSpPr>
          <p:cNvPr id="17" name="Shape 15"/>
          <p:cNvSpPr/>
          <p:nvPr/>
        </p:nvSpPr>
        <p:spPr>
          <a:xfrm>
            <a:off x="457200" y="402336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8" name="Text 16"/>
          <p:cNvSpPr/>
          <p:nvPr/>
        </p:nvSpPr>
        <p:spPr>
          <a:xfrm>
            <a:off x="685800" y="402336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%fs</a:t>
            </a:r>
            <a:endParaRPr lang="en-US" sz="1500" dirty="0"/>
          </a:p>
        </p:txBody>
      </p:sp>
      <p:sp>
        <p:nvSpPr>
          <p:cNvPr id="19" name="Text 17"/>
          <p:cNvSpPr/>
          <p:nvPr/>
        </p:nvSpPr>
        <p:spPr>
          <a:xfrm>
            <a:off x="2286000" y="402336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Comandos de sistema de archivos sobre DBFS (ls, cp, rm).</a:t>
            </a:r>
            <a:endParaRPr lang="en-US" sz="1150" dirty="0"/>
          </a:p>
        </p:txBody>
      </p:sp>
      <p:sp>
        <p:nvSpPr>
          <p:cNvPr id="20" name="Shape 18"/>
          <p:cNvSpPr/>
          <p:nvPr/>
        </p:nvSpPr>
        <p:spPr>
          <a:xfrm>
            <a:off x="6126480" y="402336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21" name="Text 19"/>
          <p:cNvSpPr/>
          <p:nvPr/>
        </p:nvSpPr>
        <p:spPr>
          <a:xfrm>
            <a:off x="6355080" y="402336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%sh</a:t>
            </a:r>
            <a:endParaRPr lang="en-US" sz="1500" dirty="0"/>
          </a:p>
        </p:txBody>
      </p:sp>
      <p:sp>
        <p:nvSpPr>
          <p:cNvPr id="22" name="Text 20"/>
          <p:cNvSpPr/>
          <p:nvPr/>
        </p:nvSpPr>
        <p:spPr>
          <a:xfrm>
            <a:off x="7955280" y="402336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Ejecuta comandos de shell dentro del nodo Driver.</a:t>
            </a:r>
            <a:endParaRPr lang="en-US" sz="1150" dirty="0"/>
          </a:p>
        </p:txBody>
      </p:sp>
      <p:sp>
        <p:nvSpPr>
          <p:cNvPr id="23" name="Shape 21"/>
          <p:cNvSpPr/>
          <p:nvPr/>
        </p:nvSpPr>
        <p:spPr>
          <a:xfrm>
            <a:off x="457200" y="507492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24" name="Text 22"/>
          <p:cNvSpPr/>
          <p:nvPr/>
        </p:nvSpPr>
        <p:spPr>
          <a:xfrm>
            <a:off x="685800" y="507492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%run</a:t>
            </a:r>
            <a:endParaRPr lang="en-US" sz="1500" dirty="0"/>
          </a:p>
        </p:txBody>
      </p:sp>
      <p:sp>
        <p:nvSpPr>
          <p:cNvPr id="25" name="Text 23"/>
          <p:cNvSpPr/>
          <p:nvPr/>
        </p:nvSpPr>
        <p:spPr>
          <a:xfrm>
            <a:off x="2286000" y="507492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Ejecuta otro notebook como si fuera un módulo importado.</a:t>
            </a:r>
            <a:endParaRPr lang="en-US" sz="1150" dirty="0"/>
          </a:p>
        </p:txBody>
      </p:sp>
      <p:sp>
        <p:nvSpPr>
          <p:cNvPr id="26" name="Shape 24"/>
          <p:cNvSpPr/>
          <p:nvPr/>
        </p:nvSpPr>
        <p:spPr>
          <a:xfrm>
            <a:off x="6126480" y="5074920"/>
            <a:ext cx="5394960" cy="896112"/>
          </a:xfrm>
          <a:prstGeom prst="roundRect">
            <a:avLst>
              <a:gd name="adj" fmla="val 10204"/>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27" name="Text 25"/>
          <p:cNvSpPr/>
          <p:nvPr/>
        </p:nvSpPr>
        <p:spPr>
          <a:xfrm>
            <a:off x="6355080" y="5074920"/>
            <a:ext cx="1554480" cy="896112"/>
          </a:xfrm>
          <a:prstGeom prst="rect">
            <a:avLst/>
          </a:prstGeom>
          <a:noFill/>
          <a:ln/>
        </p:spPr>
        <p:txBody>
          <a:bodyPr wrap="square" rtlCol="0" anchor="ctr"/>
          <a:lstStyle/>
          <a:p>
            <a:pPr marL="0" indent="0">
              <a:buNone/>
            </a:pPr>
            <a:r>
              <a:rPr lang="en-US" sz="1500" b="1" dirty="0">
                <a:solidFill>
                  <a:srgbClr val="E93DAC"/>
                </a:solidFill>
                <a:latin typeface="Courier New" pitchFamily="34" charset="0"/>
                <a:ea typeface="Courier New" pitchFamily="34" charset="-122"/>
                <a:cs typeface="Courier New" pitchFamily="34" charset="-120"/>
              </a:rPr>
              <a:t>%pip</a:t>
            </a:r>
            <a:endParaRPr lang="en-US" sz="1500" dirty="0"/>
          </a:p>
        </p:txBody>
      </p:sp>
      <p:sp>
        <p:nvSpPr>
          <p:cNvPr id="28" name="Text 26"/>
          <p:cNvSpPr/>
          <p:nvPr/>
        </p:nvSpPr>
        <p:spPr>
          <a:xfrm>
            <a:off x="7955280" y="5074920"/>
            <a:ext cx="3429000" cy="896112"/>
          </a:xfrm>
          <a:prstGeom prst="rect">
            <a:avLst/>
          </a:prstGeom>
          <a:noFill/>
          <a:ln/>
        </p:spPr>
        <p:txBody>
          <a:bodyPr wrap="square" rtlCol="0" anchor="ctr"/>
          <a:lstStyle/>
          <a:p>
            <a:pPr marL="0" indent="0">
              <a:lnSpc>
                <a:spcPts val="1400"/>
              </a:lnSpc>
              <a:buNone/>
            </a:pPr>
            <a:r>
              <a:rPr lang="en-US" sz="1150" dirty="0">
                <a:solidFill>
                  <a:srgbClr val="FFFFFF"/>
                </a:solidFill>
                <a:latin typeface="Calibri" pitchFamily="34" charset="0"/>
                <a:ea typeface="Calibri" pitchFamily="34" charset="-122"/>
                <a:cs typeface="Calibri" pitchFamily="34" charset="-120"/>
              </a:rPr>
              <a:t>Instala librerías Python directamente en el cluster.</a:t>
            </a:r>
            <a:endParaRPr lang="en-US" sz="1150" dirty="0"/>
          </a:p>
        </p:txBody>
      </p:sp>
      <p:sp>
        <p:nvSpPr>
          <p:cNvPr id="29" name="Text 27"/>
          <p:cNvSpPr/>
          <p:nvPr/>
        </p:nvSpPr>
        <p:spPr>
          <a:xfrm>
            <a:off x="457200" y="5989320"/>
            <a:ext cx="11247120" cy="320040"/>
          </a:xfrm>
          <a:prstGeom prst="rect">
            <a:avLst/>
          </a:prstGeom>
          <a:noFill/>
          <a:ln/>
        </p:spPr>
        <p:txBody>
          <a:bodyPr wrap="square" rtlCol="0" anchor="ctr"/>
          <a:lstStyle/>
          <a:p>
            <a:pPr marL="0" indent="0">
              <a:buNone/>
            </a:pPr>
            <a:r>
              <a:rPr lang="en-US" sz="1100" i="1" dirty="0">
                <a:solidFill>
                  <a:srgbClr val="F1ECFB"/>
                </a:solidFill>
                <a:latin typeface="Calibri" pitchFamily="34" charset="0"/>
                <a:ea typeface="Calibri" pitchFamily="34" charset="-122"/>
                <a:cs typeface="Calibri" pitchFamily="34" charset="-120"/>
              </a:rPr>
              <a:t>En notebooks serverless de Databricks Free Edition, %scala y %r no están disponibles — trabajaremos en Python y SQL.</a:t>
            </a:r>
            <a:endParaRPr lang="en-US" sz="1100" dirty="0"/>
          </a:p>
        </p:txBody>
      </p:sp>
      <p:sp>
        <p:nvSpPr>
          <p:cNvPr id="30" name="Text 28"/>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31" name="Text 29"/>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CONTROL DE VERSIONES PROFESIONAL</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Databricks Repos: Git integrado</a:t>
            </a:r>
            <a:endParaRPr lang="en-US" sz="3000" dirty="0"/>
          </a:p>
        </p:txBody>
      </p:sp>
      <p:sp>
        <p:nvSpPr>
          <p:cNvPr id="5" name="Text 3"/>
          <p:cNvSpPr/>
          <p:nvPr/>
        </p:nvSpPr>
        <p:spPr>
          <a:xfrm>
            <a:off x="457200" y="1737360"/>
            <a:ext cx="11247120" cy="822960"/>
          </a:xfrm>
          <a:prstGeom prst="rect">
            <a:avLst/>
          </a:prstGeom>
          <a:noFill/>
          <a:ln/>
        </p:spPr>
        <p:txBody>
          <a:bodyPr wrap="square" rtlCol="0" anchor="ctr"/>
          <a:lstStyle/>
          <a:p>
            <a:pPr marL="0" indent="0">
              <a:lnSpc>
                <a:spcPts val="1900"/>
              </a:lnSpc>
              <a:buNone/>
            </a:pPr>
            <a:r>
              <a:rPr lang="en-US" sz="1500" dirty="0">
                <a:solidFill>
                  <a:srgbClr val="241242"/>
                </a:solidFill>
                <a:latin typeface="Calibri" pitchFamily="34" charset="0"/>
                <a:ea typeface="Calibri" pitchFamily="34" charset="-122"/>
                <a:cs typeface="Calibri" pitchFamily="34" charset="-120"/>
              </a:rPr>
              <a:t>Databricks Repos conecta cada carpeta del Workspace con un repositorio de GitHub, GitLab o Azure DevOps, llevando buenas prácticas de ingeniería de software a la ciencia de datos.</a:t>
            </a:r>
            <a:endParaRPr lang="en-US" sz="1500" dirty="0"/>
          </a:p>
        </p:txBody>
      </p:sp>
      <p:sp>
        <p:nvSpPr>
          <p:cNvPr id="6" name="Shape 4"/>
          <p:cNvSpPr/>
          <p:nvPr/>
        </p:nvSpPr>
        <p:spPr>
          <a:xfrm>
            <a:off x="457200" y="2743200"/>
            <a:ext cx="457200" cy="457200"/>
          </a:xfrm>
          <a:prstGeom prst="ellipse">
            <a:avLst/>
          </a:prstGeom>
          <a:solidFill>
            <a:srgbClr val="5B21B6"/>
          </a:solidFill>
          <a:ln/>
        </p:spPr>
        <p:txBody>
          <a:bodyPr/>
          <a:lstStyle/>
          <a:p>
            <a:endParaRPr lang="es-ES"/>
          </a:p>
        </p:txBody>
      </p:sp>
      <p:sp>
        <p:nvSpPr>
          <p:cNvPr id="7" name="Text 5"/>
          <p:cNvSpPr/>
          <p:nvPr/>
        </p:nvSpPr>
        <p:spPr>
          <a:xfrm>
            <a:off x="457200" y="27432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43000" y="2724912"/>
            <a:ext cx="10424160" cy="502920"/>
          </a:xfrm>
          <a:prstGeom prst="rect">
            <a:avLst/>
          </a:prstGeom>
          <a:noFill/>
          <a:ln/>
        </p:spPr>
        <p:txBody>
          <a:bodyPr wrap="square" rtlCol="0" anchor="ctr"/>
          <a:lstStyle/>
          <a:p>
            <a:pPr marL="0" indent="0">
              <a:buNone/>
            </a:pPr>
            <a:r>
              <a:rPr lang="en-US" sz="1400" dirty="0">
                <a:solidFill>
                  <a:srgbClr val="241242"/>
                </a:solidFill>
                <a:latin typeface="Calibri" pitchFamily="34" charset="0"/>
                <a:ea typeface="Calibri" pitchFamily="34" charset="-122"/>
                <a:cs typeface="Calibri" pitchFamily="34" charset="-120"/>
              </a:rPr>
              <a:t>Clonar el repositorio del proyecto</a:t>
            </a:r>
            <a:endParaRPr lang="en-US" sz="1400" dirty="0"/>
          </a:p>
        </p:txBody>
      </p:sp>
      <p:sp>
        <p:nvSpPr>
          <p:cNvPr id="9" name="Shape 7"/>
          <p:cNvSpPr/>
          <p:nvPr/>
        </p:nvSpPr>
        <p:spPr>
          <a:xfrm>
            <a:off x="685800" y="3200400"/>
            <a:ext cx="0" cy="320040"/>
          </a:xfrm>
          <a:prstGeom prst="line">
            <a:avLst/>
          </a:prstGeom>
          <a:noFill/>
          <a:ln w="19050">
            <a:solidFill>
              <a:srgbClr val="5B21B6"/>
            </a:solidFill>
            <a:prstDash val="dash"/>
          </a:ln>
        </p:spPr>
        <p:txBody>
          <a:bodyPr/>
          <a:lstStyle/>
          <a:p>
            <a:endParaRPr lang="es-ES"/>
          </a:p>
        </p:txBody>
      </p:sp>
      <p:sp>
        <p:nvSpPr>
          <p:cNvPr id="10" name="Shape 8"/>
          <p:cNvSpPr/>
          <p:nvPr/>
        </p:nvSpPr>
        <p:spPr>
          <a:xfrm>
            <a:off x="457200" y="3520440"/>
            <a:ext cx="457200" cy="457200"/>
          </a:xfrm>
          <a:prstGeom prst="ellipse">
            <a:avLst/>
          </a:prstGeom>
          <a:solidFill>
            <a:srgbClr val="5B21B6"/>
          </a:solidFill>
          <a:ln/>
        </p:spPr>
        <p:txBody>
          <a:bodyPr/>
          <a:lstStyle/>
          <a:p>
            <a:endParaRPr lang="es-ES"/>
          </a:p>
        </p:txBody>
      </p:sp>
      <p:sp>
        <p:nvSpPr>
          <p:cNvPr id="11" name="Text 9"/>
          <p:cNvSpPr/>
          <p:nvPr/>
        </p:nvSpPr>
        <p:spPr>
          <a:xfrm>
            <a:off x="457200" y="3520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143000" y="3502152"/>
            <a:ext cx="10424160" cy="502920"/>
          </a:xfrm>
          <a:prstGeom prst="rect">
            <a:avLst/>
          </a:prstGeom>
          <a:noFill/>
          <a:ln/>
        </p:spPr>
        <p:txBody>
          <a:bodyPr wrap="square" rtlCol="0" anchor="ctr"/>
          <a:lstStyle/>
          <a:p>
            <a:pPr marL="0" indent="0">
              <a:buNone/>
            </a:pPr>
            <a:r>
              <a:rPr lang="en-US" sz="1400" dirty="0">
                <a:solidFill>
                  <a:srgbClr val="241242"/>
                </a:solidFill>
                <a:latin typeface="Calibri" pitchFamily="34" charset="0"/>
                <a:ea typeface="Calibri" pitchFamily="34" charset="-122"/>
                <a:cs typeface="Calibri" pitchFamily="34" charset="-120"/>
              </a:rPr>
              <a:t>Crear una rama (branch) para tu experimento</a:t>
            </a:r>
            <a:endParaRPr lang="en-US" sz="1400" dirty="0"/>
          </a:p>
        </p:txBody>
      </p:sp>
      <p:sp>
        <p:nvSpPr>
          <p:cNvPr id="13" name="Shape 11"/>
          <p:cNvSpPr/>
          <p:nvPr/>
        </p:nvSpPr>
        <p:spPr>
          <a:xfrm>
            <a:off x="685800" y="3977640"/>
            <a:ext cx="0" cy="320040"/>
          </a:xfrm>
          <a:prstGeom prst="line">
            <a:avLst/>
          </a:prstGeom>
          <a:noFill/>
          <a:ln w="19050">
            <a:solidFill>
              <a:srgbClr val="5B21B6"/>
            </a:solidFill>
            <a:prstDash val="dash"/>
          </a:ln>
        </p:spPr>
        <p:txBody>
          <a:bodyPr/>
          <a:lstStyle/>
          <a:p>
            <a:endParaRPr lang="es-ES"/>
          </a:p>
        </p:txBody>
      </p:sp>
      <p:sp>
        <p:nvSpPr>
          <p:cNvPr id="14" name="Shape 12"/>
          <p:cNvSpPr/>
          <p:nvPr/>
        </p:nvSpPr>
        <p:spPr>
          <a:xfrm>
            <a:off x="457200" y="4297680"/>
            <a:ext cx="457200" cy="457200"/>
          </a:xfrm>
          <a:prstGeom prst="ellipse">
            <a:avLst/>
          </a:prstGeom>
          <a:solidFill>
            <a:srgbClr val="5B21B6"/>
          </a:solidFill>
          <a:ln/>
        </p:spPr>
        <p:txBody>
          <a:bodyPr/>
          <a:lstStyle/>
          <a:p>
            <a:endParaRPr lang="es-ES"/>
          </a:p>
        </p:txBody>
      </p:sp>
      <p:sp>
        <p:nvSpPr>
          <p:cNvPr id="15" name="Text 13"/>
          <p:cNvSpPr/>
          <p:nvPr/>
        </p:nvSpPr>
        <p:spPr>
          <a:xfrm>
            <a:off x="457200" y="42976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143000" y="4279392"/>
            <a:ext cx="10424160" cy="502920"/>
          </a:xfrm>
          <a:prstGeom prst="rect">
            <a:avLst/>
          </a:prstGeom>
          <a:noFill/>
          <a:ln/>
        </p:spPr>
        <p:txBody>
          <a:bodyPr wrap="square" rtlCol="0" anchor="ctr"/>
          <a:lstStyle/>
          <a:p>
            <a:pPr marL="0" indent="0">
              <a:buNone/>
            </a:pPr>
            <a:r>
              <a:rPr lang="en-US" sz="1400" dirty="0">
                <a:solidFill>
                  <a:srgbClr val="241242"/>
                </a:solidFill>
                <a:latin typeface="Calibri" pitchFamily="34" charset="0"/>
                <a:ea typeface="Calibri" pitchFamily="34" charset="-122"/>
                <a:cs typeface="Calibri" pitchFamily="34" charset="-120"/>
              </a:rPr>
              <a:t>Commit y push de notebooks como archivos .py o .ipynb</a:t>
            </a:r>
            <a:endParaRPr lang="en-US" sz="1400" dirty="0"/>
          </a:p>
        </p:txBody>
      </p:sp>
      <p:sp>
        <p:nvSpPr>
          <p:cNvPr id="17" name="Shape 15"/>
          <p:cNvSpPr/>
          <p:nvPr/>
        </p:nvSpPr>
        <p:spPr>
          <a:xfrm>
            <a:off x="685800" y="4754880"/>
            <a:ext cx="0" cy="320040"/>
          </a:xfrm>
          <a:prstGeom prst="line">
            <a:avLst/>
          </a:prstGeom>
          <a:noFill/>
          <a:ln w="19050">
            <a:solidFill>
              <a:srgbClr val="5B21B6"/>
            </a:solidFill>
            <a:prstDash val="dash"/>
          </a:ln>
        </p:spPr>
        <p:txBody>
          <a:bodyPr/>
          <a:lstStyle/>
          <a:p>
            <a:endParaRPr lang="es-ES"/>
          </a:p>
        </p:txBody>
      </p:sp>
      <p:sp>
        <p:nvSpPr>
          <p:cNvPr id="18" name="Shape 16"/>
          <p:cNvSpPr/>
          <p:nvPr/>
        </p:nvSpPr>
        <p:spPr>
          <a:xfrm>
            <a:off x="457200" y="5074920"/>
            <a:ext cx="457200" cy="457200"/>
          </a:xfrm>
          <a:prstGeom prst="ellipse">
            <a:avLst/>
          </a:prstGeom>
          <a:solidFill>
            <a:srgbClr val="5B21B6"/>
          </a:solidFill>
          <a:ln/>
        </p:spPr>
        <p:txBody>
          <a:bodyPr/>
          <a:lstStyle/>
          <a:p>
            <a:endParaRPr lang="es-ES"/>
          </a:p>
        </p:txBody>
      </p:sp>
      <p:sp>
        <p:nvSpPr>
          <p:cNvPr id="19" name="Text 17"/>
          <p:cNvSpPr/>
          <p:nvPr/>
        </p:nvSpPr>
        <p:spPr>
          <a:xfrm>
            <a:off x="457200" y="5074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8"/>
          <p:cNvSpPr/>
          <p:nvPr/>
        </p:nvSpPr>
        <p:spPr>
          <a:xfrm>
            <a:off x="1143000" y="5056632"/>
            <a:ext cx="10424160" cy="502920"/>
          </a:xfrm>
          <a:prstGeom prst="rect">
            <a:avLst/>
          </a:prstGeom>
          <a:noFill/>
          <a:ln/>
        </p:spPr>
        <p:txBody>
          <a:bodyPr wrap="square" rtlCol="0" anchor="ctr"/>
          <a:lstStyle/>
          <a:p>
            <a:pPr marL="0" indent="0">
              <a:buNone/>
            </a:pPr>
            <a:r>
              <a:rPr lang="en-US" sz="1400" dirty="0">
                <a:solidFill>
                  <a:srgbClr val="241242"/>
                </a:solidFill>
                <a:latin typeface="Calibri" pitchFamily="34" charset="0"/>
                <a:ea typeface="Calibri" pitchFamily="34" charset="-122"/>
                <a:cs typeface="Calibri" pitchFamily="34" charset="-120"/>
              </a:rPr>
              <a:t>Pull Request y revisión de código en equipo</a:t>
            </a:r>
            <a:endParaRPr lang="en-US" sz="1400" dirty="0"/>
          </a:p>
        </p:txBody>
      </p:sp>
      <p:sp>
        <p:nvSpPr>
          <p:cNvPr id="21" name="Shape 19"/>
          <p:cNvSpPr/>
          <p:nvPr/>
        </p:nvSpPr>
        <p:spPr>
          <a:xfrm>
            <a:off x="685800" y="5532120"/>
            <a:ext cx="0" cy="320040"/>
          </a:xfrm>
          <a:prstGeom prst="line">
            <a:avLst/>
          </a:prstGeom>
          <a:noFill/>
          <a:ln w="19050">
            <a:solidFill>
              <a:srgbClr val="5B21B6"/>
            </a:solidFill>
            <a:prstDash val="dash"/>
          </a:ln>
        </p:spPr>
        <p:txBody>
          <a:bodyPr/>
          <a:lstStyle/>
          <a:p>
            <a:endParaRPr lang="es-ES"/>
          </a:p>
        </p:txBody>
      </p:sp>
      <p:sp>
        <p:nvSpPr>
          <p:cNvPr id="22" name="Shape 20"/>
          <p:cNvSpPr/>
          <p:nvPr/>
        </p:nvSpPr>
        <p:spPr>
          <a:xfrm>
            <a:off x="457200" y="5852160"/>
            <a:ext cx="457200" cy="457200"/>
          </a:xfrm>
          <a:prstGeom prst="ellipse">
            <a:avLst/>
          </a:prstGeom>
          <a:solidFill>
            <a:srgbClr val="5B21B6"/>
          </a:solidFill>
          <a:ln/>
        </p:spPr>
        <p:txBody>
          <a:bodyPr/>
          <a:lstStyle/>
          <a:p>
            <a:endParaRPr lang="es-ES"/>
          </a:p>
        </p:txBody>
      </p:sp>
      <p:sp>
        <p:nvSpPr>
          <p:cNvPr id="23" name="Text 21"/>
          <p:cNvSpPr/>
          <p:nvPr/>
        </p:nvSpPr>
        <p:spPr>
          <a:xfrm>
            <a:off x="457200" y="5852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2"/>
          <p:cNvSpPr/>
          <p:nvPr/>
        </p:nvSpPr>
        <p:spPr>
          <a:xfrm>
            <a:off x="1143000" y="5833872"/>
            <a:ext cx="10424160" cy="502920"/>
          </a:xfrm>
          <a:prstGeom prst="rect">
            <a:avLst/>
          </a:prstGeom>
          <a:noFill/>
          <a:ln/>
        </p:spPr>
        <p:txBody>
          <a:bodyPr wrap="square" rtlCol="0" anchor="ctr"/>
          <a:lstStyle/>
          <a:p>
            <a:pPr marL="0" indent="0">
              <a:buNone/>
            </a:pPr>
            <a:r>
              <a:rPr lang="en-US" sz="1400" dirty="0">
                <a:solidFill>
                  <a:srgbClr val="241242"/>
                </a:solidFill>
                <a:latin typeface="Calibri" pitchFamily="34" charset="0"/>
                <a:ea typeface="Calibri" pitchFamily="34" charset="-122"/>
                <a:cs typeface="Calibri" pitchFamily="34" charset="-120"/>
              </a:rPr>
              <a:t>Merge a main y despliegue vía CI/CD</a:t>
            </a:r>
            <a:endParaRPr lang="en-US" sz="1400" dirty="0"/>
          </a:p>
        </p:txBody>
      </p:sp>
      <p:sp>
        <p:nvSpPr>
          <p:cNvPr id="25" name="Text 23"/>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6" name="Text 24"/>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400800" cy="6400800"/>
          </a:xfrm>
          <a:prstGeom prst="ellipse">
            <a:avLst/>
          </a:prstGeom>
          <a:solidFill>
            <a:srgbClr val="5B21B6">
              <a:alpha val="45000"/>
            </a:srgbClr>
          </a:solidFill>
          <a:ln/>
        </p:spPr>
        <p:txBody>
          <a:bodyPr/>
          <a:lstStyle/>
          <a:p>
            <a:endParaRPr lang="es-ES"/>
          </a:p>
        </p:txBody>
      </p:sp>
      <p:sp>
        <p:nvSpPr>
          <p:cNvPr id="3" name="Text 1"/>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4" name="Text 2"/>
          <p:cNvSpPr/>
          <p:nvPr/>
        </p:nvSpPr>
        <p:spPr>
          <a:xfrm>
            <a:off x="457200" y="1828800"/>
            <a:ext cx="3657600" cy="1463040"/>
          </a:xfrm>
          <a:prstGeom prst="rect">
            <a:avLst/>
          </a:prstGeom>
          <a:noFill/>
          <a:ln/>
        </p:spPr>
        <p:txBody>
          <a:bodyPr wrap="square" rtlCol="0" anchor="ctr"/>
          <a:lstStyle/>
          <a:p>
            <a:pPr marL="0" indent="0">
              <a:buNone/>
            </a:pPr>
            <a:r>
              <a:rPr lang="en-US" sz="9000" b="1" dirty="0">
                <a:solidFill>
                  <a:srgbClr val="2D0F5E"/>
                </a:solidFill>
                <a:latin typeface="Cambria" pitchFamily="34" charset="0"/>
                <a:ea typeface="Cambria" pitchFamily="34" charset="-122"/>
                <a:cs typeface="Cambria" pitchFamily="34" charset="-120"/>
              </a:rPr>
              <a:t>LAB 1</a:t>
            </a:r>
            <a:endParaRPr lang="en-US" sz="9000" dirty="0"/>
          </a:p>
        </p:txBody>
      </p:sp>
      <p:sp>
        <p:nvSpPr>
          <p:cNvPr id="5" name="Text 3"/>
          <p:cNvSpPr/>
          <p:nvPr/>
        </p:nvSpPr>
        <p:spPr>
          <a:xfrm>
            <a:off x="502920" y="324612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PRÁCTICA GUIADA</a:t>
            </a:r>
            <a:endParaRPr lang="en-US" sz="1300" dirty="0"/>
          </a:p>
        </p:txBody>
      </p:sp>
      <p:sp>
        <p:nvSpPr>
          <p:cNvPr id="6" name="Text 4"/>
          <p:cNvSpPr/>
          <p:nvPr/>
        </p:nvSpPr>
        <p:spPr>
          <a:xfrm>
            <a:off x="457200" y="3611880"/>
            <a:ext cx="1051560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Manejo de clusters y notebooks en PySpark</a:t>
            </a:r>
            <a:endParaRPr lang="en-US" sz="3800" dirty="0"/>
          </a:p>
        </p:txBody>
      </p:sp>
      <p:sp>
        <p:nvSpPr>
          <p:cNvPr id="7" name="Text 5"/>
          <p:cNvSpPr/>
          <p:nvPr/>
        </p:nvSpPr>
        <p:spPr>
          <a:xfrm>
            <a:off x="457200" y="4709160"/>
            <a:ext cx="9601200" cy="64008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Abrimos Databricks Free Edition y trabajamos el notebook 01_clusters_notebooks_pyspark.ipynb</a:t>
            </a:r>
            <a:endParaRPr lang="en-US" sz="1500" dirty="0"/>
          </a:p>
        </p:txBody>
      </p:sp>
      <p:sp>
        <p:nvSpPr>
          <p:cNvPr id="8" name="Text 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9" name="Text 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ANTES DE ABRIR EL NOTEBOOK</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Checklist del Laboratorio 1</a:t>
            </a:r>
            <a:endParaRPr lang="en-US" sz="3000" dirty="0"/>
          </a:p>
        </p:txBody>
      </p:sp>
      <p:sp>
        <p:nvSpPr>
          <p:cNvPr id="5" name="Shape 3"/>
          <p:cNvSpPr/>
          <p:nvPr/>
        </p:nvSpPr>
        <p:spPr>
          <a:xfrm>
            <a:off x="457200" y="2011680"/>
            <a:ext cx="320040" cy="320040"/>
          </a:xfrm>
          <a:prstGeom prst="roundRect">
            <a:avLst>
              <a:gd name="adj" fmla="val 17143"/>
            </a:avLst>
          </a:prstGeom>
          <a:solidFill>
            <a:srgbClr val="F4F1FB"/>
          </a:solidFill>
          <a:ln w="19050">
            <a:solidFill>
              <a:srgbClr val="5B21B6"/>
            </a:solidFill>
            <a:prstDash val="solid"/>
          </a:ln>
        </p:spPr>
        <p:txBody>
          <a:bodyPr/>
          <a:lstStyle/>
          <a:p>
            <a:endParaRPr lang="es-ES"/>
          </a:p>
        </p:txBody>
      </p:sp>
      <p:sp>
        <p:nvSpPr>
          <p:cNvPr id="6" name="Text 4"/>
          <p:cNvSpPr/>
          <p:nvPr/>
        </p:nvSpPr>
        <p:spPr>
          <a:xfrm>
            <a:off x="960120" y="1956816"/>
            <a:ext cx="10515600" cy="502920"/>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Crear cuenta gratuita en Databricks Free Edition (docs.databricks.com/getting-started/free-edition) si no la tienes.</a:t>
            </a:r>
            <a:endParaRPr lang="en-US" sz="1350" dirty="0"/>
          </a:p>
        </p:txBody>
      </p:sp>
      <p:sp>
        <p:nvSpPr>
          <p:cNvPr id="7" name="Shape 5"/>
          <p:cNvSpPr/>
          <p:nvPr/>
        </p:nvSpPr>
        <p:spPr>
          <a:xfrm>
            <a:off x="457200" y="2670048"/>
            <a:ext cx="320040" cy="320040"/>
          </a:xfrm>
          <a:prstGeom prst="roundRect">
            <a:avLst>
              <a:gd name="adj" fmla="val 17143"/>
            </a:avLst>
          </a:prstGeom>
          <a:solidFill>
            <a:srgbClr val="F4F1FB"/>
          </a:solidFill>
          <a:ln w="19050">
            <a:solidFill>
              <a:srgbClr val="5B21B6"/>
            </a:solidFill>
            <a:prstDash val="solid"/>
          </a:ln>
        </p:spPr>
        <p:txBody>
          <a:bodyPr/>
          <a:lstStyle/>
          <a:p>
            <a:endParaRPr lang="es-ES"/>
          </a:p>
        </p:txBody>
      </p:sp>
      <p:sp>
        <p:nvSpPr>
          <p:cNvPr id="8" name="Text 6"/>
          <p:cNvSpPr/>
          <p:nvPr/>
        </p:nvSpPr>
        <p:spPr>
          <a:xfrm>
            <a:off x="960120" y="2615184"/>
            <a:ext cx="10515600" cy="502920"/>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Entrar al Workspace y crear un notebook nuevo — el cómputo Serverless se conecta automáticamente, sin configurar un cluster manual.</a:t>
            </a:r>
            <a:endParaRPr lang="en-US" sz="1350" dirty="0"/>
          </a:p>
        </p:txBody>
      </p:sp>
      <p:sp>
        <p:nvSpPr>
          <p:cNvPr id="9" name="Shape 7"/>
          <p:cNvSpPr/>
          <p:nvPr/>
        </p:nvSpPr>
        <p:spPr>
          <a:xfrm>
            <a:off x="457200" y="3328416"/>
            <a:ext cx="320040" cy="320040"/>
          </a:xfrm>
          <a:prstGeom prst="roundRect">
            <a:avLst>
              <a:gd name="adj" fmla="val 17143"/>
            </a:avLst>
          </a:prstGeom>
          <a:solidFill>
            <a:srgbClr val="F4F1FB"/>
          </a:solidFill>
          <a:ln w="19050">
            <a:solidFill>
              <a:srgbClr val="5B21B6"/>
            </a:solidFill>
            <a:prstDash val="solid"/>
          </a:ln>
        </p:spPr>
        <p:txBody>
          <a:bodyPr/>
          <a:lstStyle/>
          <a:p>
            <a:endParaRPr lang="es-ES"/>
          </a:p>
        </p:txBody>
      </p:sp>
      <p:sp>
        <p:nvSpPr>
          <p:cNvPr id="10" name="Text 8"/>
          <p:cNvSpPr/>
          <p:nvPr/>
        </p:nvSpPr>
        <p:spPr>
          <a:xfrm>
            <a:off x="960120" y="3273552"/>
            <a:ext cx="10515600" cy="502920"/>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Importar el notebook 01_clusters_notebooks_pyspark.ipynb al Workspace.</a:t>
            </a:r>
            <a:endParaRPr lang="en-US" sz="1350" dirty="0"/>
          </a:p>
        </p:txBody>
      </p:sp>
      <p:sp>
        <p:nvSpPr>
          <p:cNvPr id="11" name="Shape 9"/>
          <p:cNvSpPr/>
          <p:nvPr/>
        </p:nvSpPr>
        <p:spPr>
          <a:xfrm>
            <a:off x="457200" y="3986784"/>
            <a:ext cx="320040" cy="320040"/>
          </a:xfrm>
          <a:prstGeom prst="roundRect">
            <a:avLst>
              <a:gd name="adj" fmla="val 17143"/>
            </a:avLst>
          </a:prstGeom>
          <a:solidFill>
            <a:srgbClr val="F4F1FB"/>
          </a:solidFill>
          <a:ln w="19050">
            <a:solidFill>
              <a:srgbClr val="5B21B6"/>
            </a:solidFill>
            <a:prstDash val="solid"/>
          </a:ln>
        </p:spPr>
        <p:txBody>
          <a:bodyPr/>
          <a:lstStyle/>
          <a:p>
            <a:endParaRPr lang="es-ES"/>
          </a:p>
        </p:txBody>
      </p:sp>
      <p:sp>
        <p:nvSpPr>
          <p:cNvPr id="12" name="Text 10"/>
          <p:cNvSpPr/>
          <p:nvPr/>
        </p:nvSpPr>
        <p:spPr>
          <a:xfrm>
            <a:off x="960120" y="3931920"/>
            <a:ext cx="10515600" cy="502920"/>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Verificar en la esquina superior que el notebook está "Connected" a Serverless.</a:t>
            </a:r>
            <a:endParaRPr lang="en-US" sz="1350" dirty="0"/>
          </a:p>
        </p:txBody>
      </p:sp>
      <p:sp>
        <p:nvSpPr>
          <p:cNvPr id="13" name="Shape 11"/>
          <p:cNvSpPr/>
          <p:nvPr/>
        </p:nvSpPr>
        <p:spPr>
          <a:xfrm>
            <a:off x="457200" y="4645152"/>
            <a:ext cx="320040" cy="320040"/>
          </a:xfrm>
          <a:prstGeom prst="roundRect">
            <a:avLst>
              <a:gd name="adj" fmla="val 17143"/>
            </a:avLst>
          </a:prstGeom>
          <a:solidFill>
            <a:srgbClr val="F4F1FB"/>
          </a:solidFill>
          <a:ln w="19050">
            <a:solidFill>
              <a:srgbClr val="5B21B6"/>
            </a:solidFill>
            <a:prstDash val="solid"/>
          </a:ln>
        </p:spPr>
        <p:txBody>
          <a:bodyPr/>
          <a:lstStyle/>
          <a:p>
            <a:endParaRPr lang="es-ES"/>
          </a:p>
        </p:txBody>
      </p:sp>
      <p:sp>
        <p:nvSpPr>
          <p:cNvPr id="14" name="Text 12"/>
          <p:cNvSpPr/>
          <p:nvPr/>
        </p:nvSpPr>
        <p:spPr>
          <a:xfrm>
            <a:off x="960120" y="4590288"/>
            <a:ext cx="10515600" cy="502920"/>
          </a:xfrm>
          <a:prstGeom prst="rect">
            <a:avLst/>
          </a:prstGeom>
          <a:noFill/>
          <a:ln/>
        </p:spPr>
        <p:txBody>
          <a:bodyPr wrap="square" rtlCol="0" anchor="ctr"/>
          <a:lstStyle/>
          <a:p>
            <a:pPr marL="0" indent="0">
              <a:buNone/>
            </a:pPr>
            <a:r>
              <a:rPr lang="en-US" sz="1350" dirty="0">
                <a:solidFill>
                  <a:srgbClr val="241242"/>
                </a:solidFill>
                <a:latin typeface="Calibri" pitchFamily="34" charset="0"/>
                <a:ea typeface="Calibri" pitchFamily="34" charset="-122"/>
                <a:cs typeface="Calibri" pitchFamily="34" charset="-120"/>
              </a:rPr>
              <a:t>Ejecutar celda por celda, leyendo los comentarios explicativos.</a:t>
            </a:r>
            <a:endParaRPr lang="en-US" sz="1350" dirty="0"/>
          </a:p>
        </p:txBody>
      </p:sp>
      <p:sp>
        <p:nvSpPr>
          <p:cNvPr id="15" name="Shape 13"/>
          <p:cNvSpPr/>
          <p:nvPr/>
        </p:nvSpPr>
        <p:spPr>
          <a:xfrm>
            <a:off x="457200" y="5394960"/>
            <a:ext cx="11247120" cy="822960"/>
          </a:xfrm>
          <a:prstGeom prst="roundRect">
            <a:avLst>
              <a:gd name="adj" fmla="val 13333"/>
            </a:avLst>
          </a:prstGeom>
          <a:solidFill>
            <a:srgbClr val="1E0A45"/>
          </a:solidFill>
          <a:ln/>
          <a:effectLst>
            <a:outerShdw blurRad="76200" dist="38100" dir="5400000" algn="bl" rotWithShape="0">
              <a:srgbClr val="1E0A45">
                <a:alpha val="18000"/>
              </a:srgbClr>
            </a:outerShdw>
          </a:effectLst>
        </p:spPr>
        <p:txBody>
          <a:bodyPr/>
          <a:lstStyle/>
          <a:p>
            <a:endParaRPr lang="es-ES"/>
          </a:p>
        </p:txBody>
      </p:sp>
      <p:sp>
        <p:nvSpPr>
          <p:cNvPr id="16" name="Text 14"/>
          <p:cNvSpPr/>
          <p:nvPr/>
        </p:nvSpPr>
        <p:spPr>
          <a:xfrm>
            <a:off x="685800" y="5394960"/>
            <a:ext cx="10789920" cy="822960"/>
          </a:xfrm>
          <a:prstGeom prst="rect">
            <a:avLst/>
          </a:prstGeom>
          <a:noFill/>
          <a:ln/>
        </p:spPr>
        <p:txBody>
          <a:bodyPr wrap="square" rtlCol="0" anchor="ctr"/>
          <a:lstStyle/>
          <a:p>
            <a:pPr marL="0" indent="0">
              <a:buNone/>
            </a:pPr>
            <a:r>
              <a:rPr lang="en-US" sz="1250" i="1" dirty="0">
                <a:solidFill>
                  <a:srgbClr val="F1ECFB"/>
                </a:solidFill>
                <a:latin typeface="Calibri" pitchFamily="34" charset="0"/>
                <a:ea typeface="Calibri" pitchFamily="34" charset="-122"/>
                <a:cs typeface="Calibri" pitchFamily="34" charset="-120"/>
              </a:rPr>
              <a:t>Objetivo del laboratorio: explorar el cómputo serverless del Workspace, leer un dataset con PySpark y ejecutar transformaciones distribuidas (select, filter, groupBy) sobre un DataFrame.</a:t>
            </a:r>
            <a:endParaRPr lang="en-US" sz="1250" dirty="0"/>
          </a:p>
        </p:txBody>
      </p:sp>
      <p:sp>
        <p:nvSpPr>
          <p:cNvPr id="17" name="Text 15"/>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18" name="Text 16"/>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400800" cy="6400800"/>
          </a:xfrm>
          <a:prstGeom prst="ellipse">
            <a:avLst/>
          </a:prstGeom>
          <a:solidFill>
            <a:srgbClr val="5B21B6">
              <a:alpha val="45000"/>
            </a:srgbClr>
          </a:solidFill>
          <a:ln/>
        </p:spPr>
        <p:txBody>
          <a:bodyPr/>
          <a:lstStyle/>
          <a:p>
            <a:endParaRPr lang="es-ES"/>
          </a:p>
        </p:txBody>
      </p:sp>
      <p:sp>
        <p:nvSpPr>
          <p:cNvPr id="3" name="Text 1"/>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4" name="Text 2"/>
          <p:cNvSpPr/>
          <p:nvPr/>
        </p:nvSpPr>
        <p:spPr>
          <a:xfrm>
            <a:off x="457200" y="1828800"/>
            <a:ext cx="3657600" cy="1463040"/>
          </a:xfrm>
          <a:prstGeom prst="rect">
            <a:avLst/>
          </a:prstGeom>
          <a:noFill/>
          <a:ln/>
        </p:spPr>
        <p:txBody>
          <a:bodyPr wrap="square" rtlCol="0" anchor="ctr"/>
          <a:lstStyle/>
          <a:p>
            <a:pPr marL="0" indent="0">
              <a:buNone/>
            </a:pPr>
            <a:r>
              <a:rPr lang="en-US" sz="9000" b="1" dirty="0">
                <a:solidFill>
                  <a:srgbClr val="2D0F5E"/>
                </a:solidFill>
                <a:latin typeface="Cambria" pitchFamily="34" charset="0"/>
                <a:ea typeface="Cambria" pitchFamily="34" charset="-122"/>
                <a:cs typeface="Cambria" pitchFamily="34" charset="-120"/>
              </a:rPr>
              <a:t>04</a:t>
            </a:r>
            <a:endParaRPr lang="en-US" sz="9000" dirty="0"/>
          </a:p>
        </p:txBody>
      </p:sp>
      <p:sp>
        <p:nvSpPr>
          <p:cNvPr id="5" name="Text 3"/>
          <p:cNvSpPr/>
          <p:nvPr/>
        </p:nvSpPr>
        <p:spPr>
          <a:xfrm>
            <a:off x="502920" y="324612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TEORÍA — BLOQUE 4</a:t>
            </a:r>
            <a:endParaRPr lang="en-US" sz="1300" dirty="0"/>
          </a:p>
        </p:txBody>
      </p:sp>
      <p:sp>
        <p:nvSpPr>
          <p:cNvPr id="6" name="Text 4"/>
          <p:cNvSpPr/>
          <p:nvPr/>
        </p:nvSpPr>
        <p:spPr>
          <a:xfrm>
            <a:off x="457200" y="3611880"/>
            <a:ext cx="1051560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MLflow: Tracking y Model Registry</a:t>
            </a:r>
            <a:endParaRPr lang="en-US" sz="3800" dirty="0"/>
          </a:p>
        </p:txBody>
      </p:sp>
      <p:sp>
        <p:nvSpPr>
          <p:cNvPr id="7" name="Text 5"/>
          <p:cNvSpPr/>
          <p:nvPr/>
        </p:nvSpPr>
        <p:spPr>
          <a:xfrm>
            <a:off x="457200" y="4709160"/>
            <a:ext cx="9601200" cy="64008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El ciclo de vida completo de un modelo de Machine Learning, versionado y reproducible</a:t>
            </a:r>
            <a:endParaRPr lang="en-US" sz="1500" dirty="0"/>
          </a:p>
        </p:txBody>
      </p:sp>
      <p:sp>
        <p:nvSpPr>
          <p:cNvPr id="8" name="Text 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9" name="Text 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GESTIÓN DEL CICLO DE VIDA DE ML</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241242"/>
                </a:solidFill>
                <a:latin typeface="Cambria" pitchFamily="34" charset="0"/>
                <a:ea typeface="Cambria" pitchFamily="34" charset="-122"/>
                <a:cs typeface="Cambria" pitchFamily="34" charset="-120"/>
              </a:rPr>
              <a:t>¿Qué es MLflow?</a:t>
            </a:r>
            <a:endParaRPr lang="en-US" sz="3200" dirty="0"/>
          </a:p>
        </p:txBody>
      </p:sp>
      <p:sp>
        <p:nvSpPr>
          <p:cNvPr id="5" name="Text 3"/>
          <p:cNvSpPr/>
          <p:nvPr/>
        </p:nvSpPr>
        <p:spPr>
          <a:xfrm>
            <a:off x="457200" y="1737360"/>
            <a:ext cx="11247120" cy="822960"/>
          </a:xfrm>
          <a:prstGeom prst="rect">
            <a:avLst/>
          </a:prstGeom>
          <a:noFill/>
          <a:ln/>
        </p:spPr>
        <p:txBody>
          <a:bodyPr wrap="square" rtlCol="0" anchor="ctr"/>
          <a:lstStyle/>
          <a:p>
            <a:pPr marL="0" indent="0">
              <a:lnSpc>
                <a:spcPts val="1900"/>
              </a:lnSpc>
              <a:buNone/>
            </a:pPr>
            <a:r>
              <a:rPr lang="en-US" sz="1500" dirty="0">
                <a:solidFill>
                  <a:srgbClr val="241242"/>
                </a:solidFill>
                <a:latin typeface="Calibri" pitchFamily="34" charset="0"/>
                <a:ea typeface="Calibri" pitchFamily="34" charset="-122"/>
                <a:cs typeface="Calibri" pitchFamily="34" charset="-120"/>
              </a:rPr>
              <a:t>Plataforma open source, integrada de forma nativa en Databricks, para gestionar el ciclo de vida completo de Machine Learning: experimentación, reproducibilidad, empaquetado y despliegue.</a:t>
            </a:r>
            <a:endParaRPr lang="en-US" sz="1500" dirty="0"/>
          </a:p>
        </p:txBody>
      </p:sp>
      <p:sp>
        <p:nvSpPr>
          <p:cNvPr id="6" name="Shape 4"/>
          <p:cNvSpPr/>
          <p:nvPr/>
        </p:nvSpPr>
        <p:spPr>
          <a:xfrm>
            <a:off x="457200" y="2788920"/>
            <a:ext cx="5349240" cy="1645920"/>
          </a:xfrm>
          <a:prstGeom prst="roundRect">
            <a:avLst>
              <a:gd name="adj" fmla="val 7778"/>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7" name="Shape 5"/>
          <p:cNvSpPr/>
          <p:nvPr/>
        </p:nvSpPr>
        <p:spPr>
          <a:xfrm>
            <a:off x="731520" y="3063240"/>
            <a:ext cx="594360" cy="594360"/>
          </a:xfrm>
          <a:prstGeom prst="ellipse">
            <a:avLst/>
          </a:prstGeom>
          <a:solidFill>
            <a:srgbClr val="C026D3"/>
          </a:solidFill>
          <a:ln/>
        </p:spPr>
        <p:txBody>
          <a:bodyPr/>
          <a:lstStyle/>
          <a:p>
            <a:endParaRPr lang="es-ES"/>
          </a:p>
        </p:txBody>
      </p:sp>
      <p:sp>
        <p:nvSpPr>
          <p:cNvPr id="8" name="Text 6"/>
          <p:cNvSpPr/>
          <p:nvPr/>
        </p:nvSpPr>
        <p:spPr>
          <a:xfrm>
            <a:off x="731520" y="30632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a:t>
            </a:r>
            <a:endParaRPr lang="en-US" sz="2200" dirty="0"/>
          </a:p>
        </p:txBody>
      </p:sp>
      <p:sp>
        <p:nvSpPr>
          <p:cNvPr id="9" name="Text 7"/>
          <p:cNvSpPr/>
          <p:nvPr/>
        </p:nvSpPr>
        <p:spPr>
          <a:xfrm>
            <a:off x="1508760" y="3017520"/>
            <a:ext cx="4023360" cy="365760"/>
          </a:xfrm>
          <a:prstGeom prst="rect">
            <a:avLst/>
          </a:prstGeom>
          <a:noFill/>
          <a:ln/>
        </p:spPr>
        <p:txBody>
          <a:bodyPr wrap="square" rtlCol="0" anchor="ctr"/>
          <a:lstStyle/>
          <a:p>
            <a:pPr marL="0" indent="0">
              <a:buNone/>
            </a:pPr>
            <a:r>
              <a:rPr lang="en-US" sz="1600" b="1" dirty="0">
                <a:solidFill>
                  <a:srgbClr val="241242"/>
                </a:solidFill>
                <a:latin typeface="Cambria" pitchFamily="34" charset="0"/>
                <a:ea typeface="Cambria" pitchFamily="34" charset="-122"/>
                <a:cs typeface="Cambria" pitchFamily="34" charset="-120"/>
              </a:rPr>
              <a:t>Tracking</a:t>
            </a:r>
            <a:endParaRPr lang="en-US" sz="1600" dirty="0"/>
          </a:p>
        </p:txBody>
      </p:sp>
      <p:sp>
        <p:nvSpPr>
          <p:cNvPr id="10" name="Text 8"/>
          <p:cNvSpPr/>
          <p:nvPr/>
        </p:nvSpPr>
        <p:spPr>
          <a:xfrm>
            <a:off x="1508760" y="3410712"/>
            <a:ext cx="4023360" cy="868680"/>
          </a:xfrm>
          <a:prstGeom prst="rect">
            <a:avLst/>
          </a:prstGeom>
          <a:noFill/>
          <a:ln/>
        </p:spPr>
        <p:txBody>
          <a:bodyPr wrap="square" rtlCol="0" anchor="ctr"/>
          <a:lstStyle/>
          <a:p>
            <a:pPr marL="0" indent="0">
              <a:lnSpc>
                <a:spcPts val="1500"/>
              </a:lnSpc>
              <a:buNone/>
            </a:pPr>
            <a:r>
              <a:rPr lang="en-US" sz="1200" dirty="0">
                <a:solidFill>
                  <a:srgbClr val="6B5B95"/>
                </a:solidFill>
                <a:latin typeface="Calibri" pitchFamily="34" charset="0"/>
                <a:ea typeface="Calibri" pitchFamily="34" charset="-122"/>
                <a:cs typeface="Calibri" pitchFamily="34" charset="-120"/>
              </a:rPr>
              <a:t>Registra parámetros, métricas, artefactos y código de cada ejecución (run).</a:t>
            </a:r>
            <a:endParaRPr lang="en-US" sz="1200" dirty="0"/>
          </a:p>
        </p:txBody>
      </p:sp>
      <p:sp>
        <p:nvSpPr>
          <p:cNvPr id="11" name="Shape 9"/>
          <p:cNvSpPr/>
          <p:nvPr/>
        </p:nvSpPr>
        <p:spPr>
          <a:xfrm>
            <a:off x="6080760" y="2788920"/>
            <a:ext cx="5349240" cy="1645920"/>
          </a:xfrm>
          <a:prstGeom prst="roundRect">
            <a:avLst>
              <a:gd name="adj" fmla="val 7778"/>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2" name="Shape 10"/>
          <p:cNvSpPr/>
          <p:nvPr/>
        </p:nvSpPr>
        <p:spPr>
          <a:xfrm>
            <a:off x="6355080" y="3063240"/>
            <a:ext cx="594360" cy="594360"/>
          </a:xfrm>
          <a:prstGeom prst="ellipse">
            <a:avLst/>
          </a:prstGeom>
          <a:solidFill>
            <a:srgbClr val="C026D3"/>
          </a:solidFill>
          <a:ln/>
        </p:spPr>
        <p:txBody>
          <a:bodyPr/>
          <a:lstStyle/>
          <a:p>
            <a:endParaRPr lang="es-ES"/>
          </a:p>
        </p:txBody>
      </p:sp>
      <p:sp>
        <p:nvSpPr>
          <p:cNvPr id="13" name="Text 11"/>
          <p:cNvSpPr/>
          <p:nvPr/>
        </p:nvSpPr>
        <p:spPr>
          <a:xfrm>
            <a:off x="6355080" y="306324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a:t>
            </a:r>
            <a:endParaRPr lang="en-US" sz="2200" dirty="0"/>
          </a:p>
        </p:txBody>
      </p:sp>
      <p:sp>
        <p:nvSpPr>
          <p:cNvPr id="14" name="Text 12"/>
          <p:cNvSpPr/>
          <p:nvPr/>
        </p:nvSpPr>
        <p:spPr>
          <a:xfrm>
            <a:off x="7132320" y="3017520"/>
            <a:ext cx="4023360" cy="365760"/>
          </a:xfrm>
          <a:prstGeom prst="rect">
            <a:avLst/>
          </a:prstGeom>
          <a:noFill/>
          <a:ln/>
        </p:spPr>
        <p:txBody>
          <a:bodyPr wrap="square" rtlCol="0" anchor="ctr"/>
          <a:lstStyle/>
          <a:p>
            <a:pPr marL="0" indent="0">
              <a:buNone/>
            </a:pPr>
            <a:r>
              <a:rPr lang="en-US" sz="1600" b="1" dirty="0">
                <a:solidFill>
                  <a:srgbClr val="241242"/>
                </a:solidFill>
                <a:latin typeface="Cambria" pitchFamily="34" charset="0"/>
                <a:ea typeface="Cambria" pitchFamily="34" charset="-122"/>
                <a:cs typeface="Cambria" pitchFamily="34" charset="-120"/>
              </a:rPr>
              <a:t>Projects</a:t>
            </a:r>
            <a:endParaRPr lang="en-US" sz="1600" dirty="0"/>
          </a:p>
        </p:txBody>
      </p:sp>
      <p:sp>
        <p:nvSpPr>
          <p:cNvPr id="15" name="Text 13"/>
          <p:cNvSpPr/>
          <p:nvPr/>
        </p:nvSpPr>
        <p:spPr>
          <a:xfrm>
            <a:off x="7132320" y="3410712"/>
            <a:ext cx="4023360" cy="868680"/>
          </a:xfrm>
          <a:prstGeom prst="rect">
            <a:avLst/>
          </a:prstGeom>
          <a:noFill/>
          <a:ln/>
        </p:spPr>
        <p:txBody>
          <a:bodyPr wrap="square" rtlCol="0" anchor="ctr"/>
          <a:lstStyle/>
          <a:p>
            <a:pPr marL="0" indent="0">
              <a:lnSpc>
                <a:spcPts val="1500"/>
              </a:lnSpc>
              <a:buNone/>
            </a:pPr>
            <a:r>
              <a:rPr lang="en-US" sz="1200" dirty="0">
                <a:solidFill>
                  <a:srgbClr val="6B5B95"/>
                </a:solidFill>
                <a:latin typeface="Calibri" pitchFamily="34" charset="0"/>
                <a:ea typeface="Calibri" pitchFamily="34" charset="-122"/>
                <a:cs typeface="Calibri" pitchFamily="34" charset="-120"/>
              </a:rPr>
              <a:t>Empaqueta código en un formato reutilizable y reproducible.</a:t>
            </a:r>
            <a:endParaRPr lang="en-US" sz="1200" dirty="0"/>
          </a:p>
        </p:txBody>
      </p:sp>
      <p:sp>
        <p:nvSpPr>
          <p:cNvPr id="16" name="Shape 14"/>
          <p:cNvSpPr/>
          <p:nvPr/>
        </p:nvSpPr>
        <p:spPr>
          <a:xfrm>
            <a:off x="457200" y="4663440"/>
            <a:ext cx="5349240" cy="1645920"/>
          </a:xfrm>
          <a:prstGeom prst="roundRect">
            <a:avLst>
              <a:gd name="adj" fmla="val 7778"/>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7" name="Shape 15"/>
          <p:cNvSpPr/>
          <p:nvPr/>
        </p:nvSpPr>
        <p:spPr>
          <a:xfrm>
            <a:off x="731520" y="4937760"/>
            <a:ext cx="594360" cy="594360"/>
          </a:xfrm>
          <a:prstGeom prst="ellipse">
            <a:avLst/>
          </a:prstGeom>
          <a:solidFill>
            <a:srgbClr val="C026D3"/>
          </a:solidFill>
          <a:ln/>
        </p:spPr>
        <p:txBody>
          <a:bodyPr/>
          <a:lstStyle/>
          <a:p>
            <a:endParaRPr lang="es-ES"/>
          </a:p>
        </p:txBody>
      </p:sp>
      <p:sp>
        <p:nvSpPr>
          <p:cNvPr id="18" name="Text 16"/>
          <p:cNvSpPr/>
          <p:nvPr/>
        </p:nvSpPr>
        <p:spPr>
          <a:xfrm>
            <a:off x="731520" y="49377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19" name="Text 17"/>
          <p:cNvSpPr/>
          <p:nvPr/>
        </p:nvSpPr>
        <p:spPr>
          <a:xfrm>
            <a:off x="1508760" y="4892040"/>
            <a:ext cx="4023360" cy="365760"/>
          </a:xfrm>
          <a:prstGeom prst="rect">
            <a:avLst/>
          </a:prstGeom>
          <a:noFill/>
          <a:ln/>
        </p:spPr>
        <p:txBody>
          <a:bodyPr wrap="square" rtlCol="0" anchor="ctr"/>
          <a:lstStyle/>
          <a:p>
            <a:pPr marL="0" indent="0">
              <a:buNone/>
            </a:pPr>
            <a:r>
              <a:rPr lang="en-US" sz="1600" b="1" dirty="0">
                <a:solidFill>
                  <a:srgbClr val="241242"/>
                </a:solidFill>
                <a:latin typeface="Cambria" pitchFamily="34" charset="0"/>
                <a:ea typeface="Cambria" pitchFamily="34" charset="-122"/>
                <a:cs typeface="Cambria" pitchFamily="34" charset="-120"/>
              </a:rPr>
              <a:t>Models</a:t>
            </a:r>
            <a:endParaRPr lang="en-US" sz="1600" dirty="0"/>
          </a:p>
        </p:txBody>
      </p:sp>
      <p:sp>
        <p:nvSpPr>
          <p:cNvPr id="20" name="Text 18"/>
          <p:cNvSpPr/>
          <p:nvPr/>
        </p:nvSpPr>
        <p:spPr>
          <a:xfrm>
            <a:off x="1508760" y="5285232"/>
            <a:ext cx="4023360" cy="868680"/>
          </a:xfrm>
          <a:prstGeom prst="rect">
            <a:avLst/>
          </a:prstGeom>
          <a:noFill/>
          <a:ln/>
        </p:spPr>
        <p:txBody>
          <a:bodyPr wrap="square" rtlCol="0" anchor="ctr"/>
          <a:lstStyle/>
          <a:p>
            <a:pPr marL="0" indent="0">
              <a:lnSpc>
                <a:spcPts val="1500"/>
              </a:lnSpc>
              <a:buNone/>
            </a:pPr>
            <a:r>
              <a:rPr lang="en-US" sz="1200" dirty="0">
                <a:solidFill>
                  <a:srgbClr val="6B5B95"/>
                </a:solidFill>
                <a:latin typeface="Calibri" pitchFamily="34" charset="0"/>
                <a:ea typeface="Calibri" pitchFamily="34" charset="-122"/>
                <a:cs typeface="Calibri" pitchFamily="34" charset="-120"/>
              </a:rPr>
              <a:t>Formato estándar para empaquetar modelos de cualquier framework.</a:t>
            </a:r>
            <a:endParaRPr lang="en-US" sz="1200" dirty="0"/>
          </a:p>
        </p:txBody>
      </p:sp>
      <p:sp>
        <p:nvSpPr>
          <p:cNvPr id="21" name="Shape 19"/>
          <p:cNvSpPr/>
          <p:nvPr/>
        </p:nvSpPr>
        <p:spPr>
          <a:xfrm>
            <a:off x="6080760" y="4663440"/>
            <a:ext cx="5349240" cy="1645920"/>
          </a:xfrm>
          <a:prstGeom prst="roundRect">
            <a:avLst>
              <a:gd name="adj" fmla="val 7778"/>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22" name="Shape 20"/>
          <p:cNvSpPr/>
          <p:nvPr/>
        </p:nvSpPr>
        <p:spPr>
          <a:xfrm>
            <a:off x="6355080" y="4937760"/>
            <a:ext cx="594360" cy="594360"/>
          </a:xfrm>
          <a:prstGeom prst="ellipse">
            <a:avLst/>
          </a:prstGeom>
          <a:solidFill>
            <a:srgbClr val="C026D3"/>
          </a:solidFill>
          <a:ln/>
        </p:spPr>
        <p:txBody>
          <a:bodyPr/>
          <a:lstStyle/>
          <a:p>
            <a:endParaRPr lang="es-ES"/>
          </a:p>
        </p:txBody>
      </p:sp>
      <p:sp>
        <p:nvSpPr>
          <p:cNvPr id="23" name="Text 21"/>
          <p:cNvSpPr/>
          <p:nvPr/>
        </p:nvSpPr>
        <p:spPr>
          <a:xfrm>
            <a:off x="6355080" y="4937760"/>
            <a:ext cx="59436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24" name="Text 22"/>
          <p:cNvSpPr/>
          <p:nvPr/>
        </p:nvSpPr>
        <p:spPr>
          <a:xfrm>
            <a:off x="7132320" y="4892040"/>
            <a:ext cx="4023360" cy="365760"/>
          </a:xfrm>
          <a:prstGeom prst="rect">
            <a:avLst/>
          </a:prstGeom>
          <a:noFill/>
          <a:ln/>
        </p:spPr>
        <p:txBody>
          <a:bodyPr wrap="square" rtlCol="0" anchor="ctr"/>
          <a:lstStyle/>
          <a:p>
            <a:pPr marL="0" indent="0">
              <a:buNone/>
            </a:pPr>
            <a:r>
              <a:rPr lang="en-US" sz="1600" b="1" dirty="0">
                <a:solidFill>
                  <a:srgbClr val="241242"/>
                </a:solidFill>
                <a:latin typeface="Cambria" pitchFamily="34" charset="0"/>
                <a:ea typeface="Cambria" pitchFamily="34" charset="-122"/>
                <a:cs typeface="Cambria" pitchFamily="34" charset="-120"/>
              </a:rPr>
              <a:t>Model Registry</a:t>
            </a:r>
            <a:endParaRPr lang="en-US" sz="1600" dirty="0"/>
          </a:p>
        </p:txBody>
      </p:sp>
      <p:sp>
        <p:nvSpPr>
          <p:cNvPr id="25" name="Text 23"/>
          <p:cNvSpPr/>
          <p:nvPr/>
        </p:nvSpPr>
        <p:spPr>
          <a:xfrm>
            <a:off x="7132320" y="5285232"/>
            <a:ext cx="4023360" cy="868680"/>
          </a:xfrm>
          <a:prstGeom prst="rect">
            <a:avLst/>
          </a:prstGeom>
          <a:noFill/>
          <a:ln/>
        </p:spPr>
        <p:txBody>
          <a:bodyPr wrap="square" rtlCol="0" anchor="ctr"/>
          <a:lstStyle/>
          <a:p>
            <a:pPr marL="0" indent="0">
              <a:lnSpc>
                <a:spcPts val="1500"/>
              </a:lnSpc>
              <a:buNone/>
            </a:pPr>
            <a:r>
              <a:rPr lang="en-US" sz="1200" dirty="0">
                <a:solidFill>
                  <a:srgbClr val="6B5B95"/>
                </a:solidFill>
                <a:latin typeface="Calibri" pitchFamily="34" charset="0"/>
                <a:ea typeface="Calibri" pitchFamily="34" charset="-122"/>
                <a:cs typeface="Calibri" pitchFamily="34" charset="-120"/>
              </a:rPr>
              <a:t>Repositorio centralizado para versionar y promover modelos a producción.</a:t>
            </a:r>
            <a:endParaRPr lang="en-US" sz="1200" dirty="0"/>
          </a:p>
        </p:txBody>
      </p:sp>
      <p:sp>
        <p:nvSpPr>
          <p:cNvPr id="26" name="Text 24"/>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7" name="Text 25"/>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EL CORAZÓN DE LA EXPERIMENTACIÓN</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MLflow Tracking: Experiments y Runs</a:t>
            </a:r>
            <a:endParaRPr lang="en-US" sz="2800" dirty="0"/>
          </a:p>
        </p:txBody>
      </p:sp>
      <p:sp>
        <p:nvSpPr>
          <p:cNvPr id="5" name="Shape 3"/>
          <p:cNvSpPr/>
          <p:nvPr/>
        </p:nvSpPr>
        <p:spPr>
          <a:xfrm>
            <a:off x="457200" y="1965960"/>
            <a:ext cx="11247120" cy="914400"/>
          </a:xfrm>
          <a:prstGeom prst="roundRect">
            <a:avLst>
              <a:gd name="adj" fmla="val 12000"/>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731520" y="1965960"/>
            <a:ext cx="2377440" cy="914400"/>
          </a:xfrm>
          <a:prstGeom prst="rect">
            <a:avLst/>
          </a:prstGeom>
          <a:noFill/>
          <a:ln/>
        </p:spPr>
        <p:txBody>
          <a:bodyPr wrap="square" rtlCol="0" anchor="ctr"/>
          <a:lstStyle/>
          <a:p>
            <a:pPr marL="0" indent="0">
              <a:buNone/>
            </a:pPr>
            <a:r>
              <a:rPr lang="en-US" sz="1500" b="1" dirty="0">
                <a:solidFill>
                  <a:srgbClr val="E93DAC"/>
                </a:solidFill>
                <a:latin typeface="Calibri" pitchFamily="34" charset="0"/>
                <a:ea typeface="Calibri" pitchFamily="34" charset="-122"/>
                <a:cs typeface="Calibri" pitchFamily="34" charset="-120"/>
              </a:rPr>
              <a:t>Experiment</a:t>
            </a:r>
            <a:endParaRPr lang="en-US" sz="1500" dirty="0"/>
          </a:p>
        </p:txBody>
      </p:sp>
      <p:sp>
        <p:nvSpPr>
          <p:cNvPr id="7" name="Text 5"/>
          <p:cNvSpPr/>
          <p:nvPr/>
        </p:nvSpPr>
        <p:spPr>
          <a:xfrm>
            <a:off x="3200400" y="1965960"/>
            <a:ext cx="8229600" cy="91440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Contenedor lógico que agrupa todos los intentos (runs) para resolver un mismo problema.</a:t>
            </a:r>
            <a:endParaRPr lang="en-US" sz="1300" dirty="0"/>
          </a:p>
        </p:txBody>
      </p:sp>
      <p:sp>
        <p:nvSpPr>
          <p:cNvPr id="8" name="Shape 6"/>
          <p:cNvSpPr/>
          <p:nvPr/>
        </p:nvSpPr>
        <p:spPr>
          <a:xfrm>
            <a:off x="457200" y="3246120"/>
            <a:ext cx="3383280" cy="2606040"/>
          </a:xfrm>
          <a:prstGeom prst="roundRect">
            <a:avLst>
              <a:gd name="adj" fmla="val 4912"/>
            </a:avLst>
          </a:prstGeom>
          <a:solidFill>
            <a:srgbClr val="5B21B6"/>
          </a:solidFill>
          <a:ln/>
          <a:effectLst>
            <a:outerShdw blurRad="76200" dist="38100" dir="5400000" algn="bl" rotWithShape="0">
              <a:srgbClr val="1E0A45">
                <a:alpha val="18000"/>
              </a:srgbClr>
            </a:outerShdw>
          </a:effectLst>
        </p:spPr>
        <p:txBody>
          <a:bodyPr/>
          <a:lstStyle/>
          <a:p>
            <a:endParaRPr lang="es-ES"/>
          </a:p>
        </p:txBody>
      </p:sp>
      <p:sp>
        <p:nvSpPr>
          <p:cNvPr id="9" name="Text 7"/>
          <p:cNvSpPr/>
          <p:nvPr/>
        </p:nvSpPr>
        <p:spPr>
          <a:xfrm>
            <a:off x="685800" y="3383280"/>
            <a:ext cx="29260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Run 1</a:t>
            </a:r>
            <a:endParaRPr lang="en-US" sz="1500" dirty="0"/>
          </a:p>
        </p:txBody>
      </p:sp>
      <p:sp>
        <p:nvSpPr>
          <p:cNvPr id="10" name="Text 8"/>
          <p:cNvSpPr/>
          <p:nvPr/>
        </p:nvSpPr>
        <p:spPr>
          <a:xfrm>
            <a:off x="685800" y="384048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Parámetros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(n_estimators, max_depth)</a:t>
            </a:r>
            <a:endParaRPr lang="en-US" sz="1000" dirty="0"/>
          </a:p>
        </p:txBody>
      </p:sp>
      <p:sp>
        <p:nvSpPr>
          <p:cNvPr id="11" name="Text 9"/>
          <p:cNvSpPr/>
          <p:nvPr/>
        </p:nvSpPr>
        <p:spPr>
          <a:xfrm>
            <a:off x="685800" y="434340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Métricas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(accuracy, F1-score)</a:t>
            </a:r>
            <a:endParaRPr lang="en-US" sz="1000" dirty="0"/>
          </a:p>
        </p:txBody>
      </p:sp>
      <p:sp>
        <p:nvSpPr>
          <p:cNvPr id="12" name="Text 10"/>
          <p:cNvSpPr/>
          <p:nvPr/>
        </p:nvSpPr>
        <p:spPr>
          <a:xfrm>
            <a:off x="685800" y="484632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Artefactos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(modelo, gráficos, datasets)</a:t>
            </a:r>
            <a:endParaRPr lang="en-US" sz="1000" dirty="0"/>
          </a:p>
        </p:txBody>
      </p:sp>
      <p:sp>
        <p:nvSpPr>
          <p:cNvPr id="13" name="Text 11"/>
          <p:cNvSpPr/>
          <p:nvPr/>
        </p:nvSpPr>
        <p:spPr>
          <a:xfrm>
            <a:off x="685800" y="534924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Metadata</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(código fuente, fecha, autor)</a:t>
            </a:r>
            <a:endParaRPr lang="en-US" sz="1000" dirty="0"/>
          </a:p>
        </p:txBody>
      </p:sp>
      <p:sp>
        <p:nvSpPr>
          <p:cNvPr id="14" name="Shape 12"/>
          <p:cNvSpPr/>
          <p:nvPr/>
        </p:nvSpPr>
        <p:spPr>
          <a:xfrm>
            <a:off x="4160520" y="3246120"/>
            <a:ext cx="3383280" cy="2606040"/>
          </a:xfrm>
          <a:prstGeom prst="roundRect">
            <a:avLst>
              <a:gd name="adj" fmla="val 4912"/>
            </a:avLst>
          </a:prstGeom>
          <a:solidFill>
            <a:srgbClr val="5B21B6"/>
          </a:solidFill>
          <a:ln/>
          <a:effectLst>
            <a:outerShdw blurRad="76200" dist="38100" dir="5400000" algn="bl" rotWithShape="0">
              <a:srgbClr val="1E0A45">
                <a:alpha val="18000"/>
              </a:srgbClr>
            </a:outerShdw>
          </a:effectLst>
        </p:spPr>
        <p:txBody>
          <a:bodyPr/>
          <a:lstStyle/>
          <a:p>
            <a:endParaRPr lang="es-ES"/>
          </a:p>
        </p:txBody>
      </p:sp>
      <p:sp>
        <p:nvSpPr>
          <p:cNvPr id="15" name="Text 13"/>
          <p:cNvSpPr/>
          <p:nvPr/>
        </p:nvSpPr>
        <p:spPr>
          <a:xfrm>
            <a:off x="4389120" y="3383280"/>
            <a:ext cx="29260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Run 2</a:t>
            </a:r>
            <a:endParaRPr lang="en-US" sz="1500" dirty="0"/>
          </a:p>
        </p:txBody>
      </p:sp>
      <p:sp>
        <p:nvSpPr>
          <p:cNvPr id="16" name="Text 14"/>
          <p:cNvSpPr/>
          <p:nvPr/>
        </p:nvSpPr>
        <p:spPr>
          <a:xfrm>
            <a:off x="4389120" y="384048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Parámetros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(n_estimators, max_depth)</a:t>
            </a:r>
            <a:endParaRPr lang="en-US" sz="1000" dirty="0"/>
          </a:p>
        </p:txBody>
      </p:sp>
      <p:sp>
        <p:nvSpPr>
          <p:cNvPr id="17" name="Text 15"/>
          <p:cNvSpPr/>
          <p:nvPr/>
        </p:nvSpPr>
        <p:spPr>
          <a:xfrm>
            <a:off x="4389120" y="434340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Métricas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(accuracy, F1-score)</a:t>
            </a:r>
            <a:endParaRPr lang="en-US" sz="1000" dirty="0"/>
          </a:p>
        </p:txBody>
      </p:sp>
      <p:sp>
        <p:nvSpPr>
          <p:cNvPr id="18" name="Text 16"/>
          <p:cNvSpPr/>
          <p:nvPr/>
        </p:nvSpPr>
        <p:spPr>
          <a:xfrm>
            <a:off x="4389120" y="484632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Artefactos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(modelo, gráficos, datasets)</a:t>
            </a:r>
            <a:endParaRPr lang="en-US" sz="1000" dirty="0"/>
          </a:p>
        </p:txBody>
      </p:sp>
      <p:sp>
        <p:nvSpPr>
          <p:cNvPr id="19" name="Text 17"/>
          <p:cNvSpPr/>
          <p:nvPr/>
        </p:nvSpPr>
        <p:spPr>
          <a:xfrm>
            <a:off x="4389120" y="534924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Metadata</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(código fuente, fecha, autor)</a:t>
            </a:r>
            <a:endParaRPr lang="en-US" sz="1000" dirty="0"/>
          </a:p>
        </p:txBody>
      </p:sp>
      <p:sp>
        <p:nvSpPr>
          <p:cNvPr id="20" name="Shape 18"/>
          <p:cNvSpPr/>
          <p:nvPr/>
        </p:nvSpPr>
        <p:spPr>
          <a:xfrm>
            <a:off x="7863840" y="3246120"/>
            <a:ext cx="3383280" cy="2606040"/>
          </a:xfrm>
          <a:prstGeom prst="roundRect">
            <a:avLst>
              <a:gd name="adj" fmla="val 4912"/>
            </a:avLst>
          </a:prstGeom>
          <a:solidFill>
            <a:srgbClr val="5B21B6"/>
          </a:solidFill>
          <a:ln/>
          <a:effectLst>
            <a:outerShdw blurRad="76200" dist="38100" dir="5400000" algn="bl" rotWithShape="0">
              <a:srgbClr val="1E0A45">
                <a:alpha val="18000"/>
              </a:srgbClr>
            </a:outerShdw>
          </a:effectLst>
        </p:spPr>
        <p:txBody>
          <a:bodyPr/>
          <a:lstStyle/>
          <a:p>
            <a:endParaRPr lang="es-ES"/>
          </a:p>
        </p:txBody>
      </p:sp>
      <p:sp>
        <p:nvSpPr>
          <p:cNvPr id="21" name="Text 19"/>
          <p:cNvSpPr/>
          <p:nvPr/>
        </p:nvSpPr>
        <p:spPr>
          <a:xfrm>
            <a:off x="8092440" y="3383280"/>
            <a:ext cx="292608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Run 3</a:t>
            </a:r>
            <a:endParaRPr lang="en-US" sz="1500" dirty="0"/>
          </a:p>
        </p:txBody>
      </p:sp>
      <p:sp>
        <p:nvSpPr>
          <p:cNvPr id="22" name="Text 20"/>
          <p:cNvSpPr/>
          <p:nvPr/>
        </p:nvSpPr>
        <p:spPr>
          <a:xfrm>
            <a:off x="8092440" y="384048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Parámetros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(n_estimators, max_depth)</a:t>
            </a:r>
            <a:endParaRPr lang="en-US" sz="1000" dirty="0"/>
          </a:p>
        </p:txBody>
      </p:sp>
      <p:sp>
        <p:nvSpPr>
          <p:cNvPr id="23" name="Text 21"/>
          <p:cNvSpPr/>
          <p:nvPr/>
        </p:nvSpPr>
        <p:spPr>
          <a:xfrm>
            <a:off x="8092440" y="434340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Métricas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(accuracy, F1-score)</a:t>
            </a:r>
            <a:endParaRPr lang="en-US" sz="1000" dirty="0"/>
          </a:p>
        </p:txBody>
      </p:sp>
      <p:sp>
        <p:nvSpPr>
          <p:cNvPr id="24" name="Text 22"/>
          <p:cNvSpPr/>
          <p:nvPr/>
        </p:nvSpPr>
        <p:spPr>
          <a:xfrm>
            <a:off x="8092440" y="484632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Artefactos</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(modelo, gráficos, datasets)</a:t>
            </a:r>
            <a:endParaRPr lang="en-US" sz="1000" dirty="0"/>
          </a:p>
        </p:txBody>
      </p:sp>
      <p:sp>
        <p:nvSpPr>
          <p:cNvPr id="25" name="Text 23"/>
          <p:cNvSpPr/>
          <p:nvPr/>
        </p:nvSpPr>
        <p:spPr>
          <a:xfrm>
            <a:off x="8092440" y="5349240"/>
            <a:ext cx="2926080" cy="502920"/>
          </a:xfrm>
          <a:prstGeom prst="rect">
            <a:avLst/>
          </a:prstGeom>
          <a:noFill/>
          <a:ln/>
        </p:spPr>
        <p:txBody>
          <a:bodyPr wrap="square" rtlCol="0" anchor="ctr"/>
          <a:lstStyle/>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Metadata</a:t>
            </a:r>
            <a:endParaRPr lang="en-US" sz="1000" dirty="0"/>
          </a:p>
          <a:p>
            <a:pPr marL="0" indent="0">
              <a:lnSpc>
                <a:spcPts val="1200"/>
              </a:lnSpc>
              <a:buNone/>
            </a:pPr>
            <a:r>
              <a:rPr lang="en-US" sz="1000" dirty="0">
                <a:solidFill>
                  <a:srgbClr val="EDE4FB"/>
                </a:solidFill>
                <a:latin typeface="Calibri" pitchFamily="34" charset="0"/>
                <a:ea typeface="Calibri" pitchFamily="34" charset="-122"/>
                <a:cs typeface="Calibri" pitchFamily="34" charset="-120"/>
              </a:rPr>
              <a:t>(código fuente, fecha, autor)</a:t>
            </a:r>
            <a:endParaRPr lang="en-US" sz="1000" dirty="0"/>
          </a:p>
        </p:txBody>
      </p:sp>
      <p:sp>
        <p:nvSpPr>
          <p:cNvPr id="26" name="Text 24"/>
          <p:cNvSpPr/>
          <p:nvPr/>
        </p:nvSpPr>
        <p:spPr>
          <a:xfrm>
            <a:off x="457200" y="6035040"/>
            <a:ext cx="11247120" cy="365760"/>
          </a:xfrm>
          <a:prstGeom prst="rect">
            <a:avLst/>
          </a:prstGeom>
          <a:noFill/>
          <a:ln/>
        </p:spPr>
        <p:txBody>
          <a:bodyPr wrap="square" rtlCol="0" anchor="ctr"/>
          <a:lstStyle/>
          <a:p>
            <a:pPr marL="0" indent="0">
              <a:buNone/>
            </a:pPr>
            <a:r>
              <a:rPr lang="en-US" sz="1200" i="1" dirty="0">
                <a:solidFill>
                  <a:srgbClr val="F1ECFB"/>
                </a:solidFill>
                <a:latin typeface="Calibri" pitchFamily="34" charset="0"/>
                <a:ea typeface="Calibri" pitchFamily="34" charset="-122"/>
                <a:cs typeface="Calibri" pitchFamily="34" charset="-120"/>
              </a:rPr>
              <a:t>Cada ejecución de tu código de entrenamiento se guarda como un "run" comparable en la UI de MLflow.</a:t>
            </a:r>
            <a:endParaRPr lang="en-US" sz="1200" dirty="0"/>
          </a:p>
        </p:txBody>
      </p:sp>
      <p:sp>
        <p:nvSpPr>
          <p:cNvPr id="27" name="Text 25"/>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28" name="Text 26"/>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LA API EN LA PRÁCTICA</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2800" b="1" dirty="0">
                <a:solidFill>
                  <a:srgbClr val="241242"/>
                </a:solidFill>
                <a:latin typeface="Cambria" pitchFamily="34" charset="0"/>
                <a:ea typeface="Cambria" pitchFamily="34" charset="-122"/>
                <a:cs typeface="Cambria" pitchFamily="34" charset="-120"/>
              </a:rPr>
              <a:t>Registrando un experimento con código</a:t>
            </a:r>
            <a:endParaRPr lang="en-US" sz="2800" dirty="0"/>
          </a:p>
        </p:txBody>
      </p:sp>
      <p:sp>
        <p:nvSpPr>
          <p:cNvPr id="5" name="Shape 3"/>
          <p:cNvSpPr/>
          <p:nvPr/>
        </p:nvSpPr>
        <p:spPr>
          <a:xfrm>
            <a:off x="457200" y="1828800"/>
            <a:ext cx="6949440" cy="4434840"/>
          </a:xfrm>
          <a:prstGeom prst="roundRect">
            <a:avLst>
              <a:gd name="adj" fmla="val 2062"/>
            </a:avLst>
          </a:prstGeom>
          <a:solidFill>
            <a:srgbClr val="1E0A45"/>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731520" y="2011680"/>
            <a:ext cx="6400800" cy="4114800"/>
          </a:xfrm>
          <a:prstGeom prst="rect">
            <a:avLst/>
          </a:prstGeom>
          <a:noFill/>
          <a:ln/>
        </p:spPr>
        <p:txBody>
          <a:bodyPr wrap="square" rtlCol="0" anchor="ctr"/>
          <a:lstStyle/>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import mlflow</a:t>
            </a:r>
            <a:endParaRPr lang="en-US" sz="1250" dirty="0"/>
          </a:p>
          <a:p>
            <a:pPr marL="0" indent="0">
              <a:lnSpc>
                <a:spcPts val="1700"/>
              </a:lnSpc>
              <a:buNone/>
            </a:pP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with mlflow.start_run(run_name="random_forest_v1"):</a:t>
            </a: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mlflow.log_param("n_estimators", 200)</a:t>
            </a: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mlflow.log_param("max_depth", 8)</a:t>
            </a:r>
            <a:endParaRPr lang="en-US" sz="1250" dirty="0"/>
          </a:p>
          <a:p>
            <a:pPr marL="0" indent="0">
              <a:lnSpc>
                <a:spcPts val="1700"/>
              </a:lnSpc>
              <a:buNone/>
            </a:pP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model.fit(X_train, y_train)</a:t>
            </a: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preds = model.predict(X_test)</a:t>
            </a:r>
            <a:endParaRPr lang="en-US" sz="1250" dirty="0"/>
          </a:p>
          <a:p>
            <a:pPr marL="0" indent="0">
              <a:lnSpc>
                <a:spcPts val="1700"/>
              </a:lnSpc>
              <a:buNone/>
            </a:pP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mlflow.log_metric("accuracy", accuracy_score(y_test, preds))</a:t>
            </a: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mlflow.log_metric("f1_score", f1_score(y_test, preds))</a:t>
            </a:r>
            <a:endParaRPr lang="en-US" sz="1250" dirty="0"/>
          </a:p>
          <a:p>
            <a:pPr marL="0" indent="0">
              <a:lnSpc>
                <a:spcPts val="1700"/>
              </a:lnSpc>
              <a:buNone/>
            </a:pPr>
            <a:endParaRPr lang="en-US" sz="1250" dirty="0"/>
          </a:p>
          <a:p>
            <a:pPr marL="0" indent="0">
              <a:lnSpc>
                <a:spcPts val="1700"/>
              </a:lnSpc>
              <a:buNone/>
            </a:pPr>
            <a:r>
              <a:rPr lang="en-US" sz="1250" dirty="0">
                <a:solidFill>
                  <a:srgbClr val="E9E0FA"/>
                </a:solidFill>
                <a:latin typeface="Courier New" pitchFamily="34" charset="0"/>
                <a:ea typeface="Courier New" pitchFamily="34" charset="-122"/>
                <a:cs typeface="Courier New" pitchFamily="34" charset="-120"/>
              </a:rPr>
              <a:t>    mlflow.sklearn.log_model(model, "model")</a:t>
            </a:r>
            <a:endParaRPr lang="en-US" sz="1250" dirty="0"/>
          </a:p>
        </p:txBody>
      </p:sp>
      <p:sp>
        <p:nvSpPr>
          <p:cNvPr id="7" name="Text 5"/>
          <p:cNvSpPr/>
          <p:nvPr/>
        </p:nvSpPr>
        <p:spPr>
          <a:xfrm>
            <a:off x="7680960" y="1828800"/>
            <a:ext cx="4023360" cy="320040"/>
          </a:xfrm>
          <a:prstGeom prst="rect">
            <a:avLst/>
          </a:prstGeom>
          <a:noFill/>
          <a:ln/>
        </p:spPr>
        <p:txBody>
          <a:bodyPr wrap="square" rtlCol="0" anchor="ctr"/>
          <a:lstStyle/>
          <a:p>
            <a:pPr marL="0" indent="0">
              <a:buNone/>
            </a:pPr>
            <a:r>
              <a:rPr lang="en-US" sz="1300" b="1" dirty="0">
                <a:solidFill>
                  <a:srgbClr val="C026D3"/>
                </a:solidFill>
                <a:latin typeface="Courier New" pitchFamily="34" charset="0"/>
                <a:ea typeface="Courier New" pitchFamily="34" charset="-122"/>
                <a:cs typeface="Courier New" pitchFamily="34" charset="-120"/>
              </a:rPr>
              <a:t>start_run()</a:t>
            </a:r>
            <a:endParaRPr lang="en-US" sz="1300" dirty="0"/>
          </a:p>
        </p:txBody>
      </p:sp>
      <p:sp>
        <p:nvSpPr>
          <p:cNvPr id="8" name="Text 6"/>
          <p:cNvSpPr/>
          <p:nvPr/>
        </p:nvSpPr>
        <p:spPr>
          <a:xfrm>
            <a:off x="7680960" y="2157984"/>
            <a:ext cx="4023360" cy="64008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Abre un nuevo run dentro del experimento activo.</a:t>
            </a:r>
            <a:endParaRPr lang="en-US" sz="1150" dirty="0"/>
          </a:p>
        </p:txBody>
      </p:sp>
      <p:sp>
        <p:nvSpPr>
          <p:cNvPr id="9" name="Text 7"/>
          <p:cNvSpPr/>
          <p:nvPr/>
        </p:nvSpPr>
        <p:spPr>
          <a:xfrm>
            <a:off x="7680960" y="2926080"/>
            <a:ext cx="4023360" cy="320040"/>
          </a:xfrm>
          <a:prstGeom prst="rect">
            <a:avLst/>
          </a:prstGeom>
          <a:noFill/>
          <a:ln/>
        </p:spPr>
        <p:txBody>
          <a:bodyPr wrap="square" rtlCol="0" anchor="ctr"/>
          <a:lstStyle/>
          <a:p>
            <a:pPr marL="0" indent="0">
              <a:buNone/>
            </a:pPr>
            <a:r>
              <a:rPr lang="en-US" sz="1300" b="1" dirty="0">
                <a:solidFill>
                  <a:srgbClr val="C026D3"/>
                </a:solidFill>
                <a:latin typeface="Courier New" pitchFamily="34" charset="0"/>
                <a:ea typeface="Courier New" pitchFamily="34" charset="-122"/>
                <a:cs typeface="Courier New" pitchFamily="34" charset="-120"/>
              </a:rPr>
              <a:t>log_param()</a:t>
            </a:r>
            <a:endParaRPr lang="en-US" sz="1300" dirty="0"/>
          </a:p>
        </p:txBody>
      </p:sp>
      <p:sp>
        <p:nvSpPr>
          <p:cNvPr id="10" name="Text 8"/>
          <p:cNvSpPr/>
          <p:nvPr/>
        </p:nvSpPr>
        <p:spPr>
          <a:xfrm>
            <a:off x="7680960" y="3255264"/>
            <a:ext cx="4023360" cy="64008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Guarda un hiperparámetro (valor fijo por run).</a:t>
            </a:r>
            <a:endParaRPr lang="en-US" sz="1150" dirty="0"/>
          </a:p>
        </p:txBody>
      </p:sp>
      <p:sp>
        <p:nvSpPr>
          <p:cNvPr id="11" name="Text 9"/>
          <p:cNvSpPr/>
          <p:nvPr/>
        </p:nvSpPr>
        <p:spPr>
          <a:xfrm>
            <a:off x="7680960" y="4023360"/>
            <a:ext cx="4023360" cy="320040"/>
          </a:xfrm>
          <a:prstGeom prst="rect">
            <a:avLst/>
          </a:prstGeom>
          <a:noFill/>
          <a:ln/>
        </p:spPr>
        <p:txBody>
          <a:bodyPr wrap="square" rtlCol="0" anchor="ctr"/>
          <a:lstStyle/>
          <a:p>
            <a:pPr marL="0" indent="0">
              <a:buNone/>
            </a:pPr>
            <a:r>
              <a:rPr lang="en-US" sz="1300" b="1" dirty="0">
                <a:solidFill>
                  <a:srgbClr val="C026D3"/>
                </a:solidFill>
                <a:latin typeface="Courier New" pitchFamily="34" charset="0"/>
                <a:ea typeface="Courier New" pitchFamily="34" charset="-122"/>
                <a:cs typeface="Courier New" pitchFamily="34" charset="-120"/>
              </a:rPr>
              <a:t>log_metric()</a:t>
            </a:r>
            <a:endParaRPr lang="en-US" sz="1300" dirty="0"/>
          </a:p>
        </p:txBody>
      </p:sp>
      <p:sp>
        <p:nvSpPr>
          <p:cNvPr id="12" name="Text 10"/>
          <p:cNvSpPr/>
          <p:nvPr/>
        </p:nvSpPr>
        <p:spPr>
          <a:xfrm>
            <a:off x="7680960" y="4352544"/>
            <a:ext cx="4023360" cy="64008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Guarda un valor numérico de desempeño.</a:t>
            </a:r>
            <a:endParaRPr lang="en-US" sz="1150" dirty="0"/>
          </a:p>
        </p:txBody>
      </p:sp>
      <p:sp>
        <p:nvSpPr>
          <p:cNvPr id="13" name="Text 11"/>
          <p:cNvSpPr/>
          <p:nvPr/>
        </p:nvSpPr>
        <p:spPr>
          <a:xfrm>
            <a:off x="7680960" y="5120640"/>
            <a:ext cx="4023360" cy="320040"/>
          </a:xfrm>
          <a:prstGeom prst="rect">
            <a:avLst/>
          </a:prstGeom>
          <a:noFill/>
          <a:ln/>
        </p:spPr>
        <p:txBody>
          <a:bodyPr wrap="square" rtlCol="0" anchor="ctr"/>
          <a:lstStyle/>
          <a:p>
            <a:pPr marL="0" indent="0">
              <a:buNone/>
            </a:pPr>
            <a:r>
              <a:rPr lang="en-US" sz="1300" b="1" dirty="0">
                <a:solidFill>
                  <a:srgbClr val="C026D3"/>
                </a:solidFill>
                <a:latin typeface="Courier New" pitchFamily="34" charset="0"/>
                <a:ea typeface="Courier New" pitchFamily="34" charset="-122"/>
                <a:cs typeface="Courier New" pitchFamily="34" charset="-120"/>
              </a:rPr>
              <a:t>log_model()</a:t>
            </a:r>
            <a:endParaRPr lang="en-US" sz="1300" dirty="0"/>
          </a:p>
        </p:txBody>
      </p:sp>
      <p:sp>
        <p:nvSpPr>
          <p:cNvPr id="14" name="Text 12"/>
          <p:cNvSpPr/>
          <p:nvPr/>
        </p:nvSpPr>
        <p:spPr>
          <a:xfrm>
            <a:off x="7680960" y="5449824"/>
            <a:ext cx="4023360" cy="64008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Empaqueta y versiona el modelo entrenado.</a:t>
            </a:r>
            <a:endParaRPr lang="en-US" sz="1150" dirty="0"/>
          </a:p>
        </p:txBody>
      </p:sp>
      <p:sp>
        <p:nvSpPr>
          <p:cNvPr id="15" name="Text 13"/>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16" name="Text 14"/>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MENOS CÓDIGO, MISMO CONTROL</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Autologging: una sola línea</a:t>
            </a:r>
            <a:endParaRPr lang="en-US" sz="3000" dirty="0"/>
          </a:p>
        </p:txBody>
      </p:sp>
      <p:sp>
        <p:nvSpPr>
          <p:cNvPr id="5" name="Text 3"/>
          <p:cNvSpPr/>
          <p:nvPr/>
        </p:nvSpPr>
        <p:spPr>
          <a:xfrm>
            <a:off x="457200" y="1783080"/>
            <a:ext cx="11247120" cy="914400"/>
          </a:xfrm>
          <a:prstGeom prst="rect">
            <a:avLst/>
          </a:prstGeom>
          <a:noFill/>
          <a:ln/>
        </p:spPr>
        <p:txBody>
          <a:bodyPr wrap="square" rtlCol="0" anchor="ctr"/>
          <a:lstStyle/>
          <a:p>
            <a:pPr marL="0" indent="0">
              <a:lnSpc>
                <a:spcPts val="2000"/>
              </a:lnSpc>
              <a:buNone/>
            </a:pPr>
            <a:r>
              <a:rPr lang="en-US" sz="1500" dirty="0">
                <a:solidFill>
                  <a:srgbClr val="241242"/>
                </a:solidFill>
                <a:latin typeface="Calibri" pitchFamily="34" charset="0"/>
                <a:ea typeface="Calibri" pitchFamily="34" charset="-122"/>
                <a:cs typeface="Calibri" pitchFamily="34" charset="-120"/>
              </a:rPr>
              <a:t>Databricks habilita mlflow.autolog() para registrar automáticamente parámetros, métricas y el modelo, sin necesidad de llamar log_param o log_metric manualmente. Compatible con scikit-learn, TensorFlow, PyTorch, XGBoost y más.</a:t>
            </a:r>
            <a:endParaRPr lang="en-US" sz="1500" dirty="0"/>
          </a:p>
        </p:txBody>
      </p:sp>
      <p:sp>
        <p:nvSpPr>
          <p:cNvPr id="6" name="Shape 4"/>
          <p:cNvSpPr/>
          <p:nvPr/>
        </p:nvSpPr>
        <p:spPr>
          <a:xfrm>
            <a:off x="457200" y="2880360"/>
            <a:ext cx="11247120" cy="1371600"/>
          </a:xfrm>
          <a:prstGeom prst="roundRect">
            <a:avLst>
              <a:gd name="adj" fmla="val 8000"/>
            </a:avLst>
          </a:prstGeom>
          <a:solidFill>
            <a:srgbClr val="1E0A45"/>
          </a:solidFill>
          <a:ln/>
          <a:effectLst>
            <a:outerShdw blurRad="76200" dist="38100" dir="5400000" algn="bl" rotWithShape="0">
              <a:srgbClr val="1E0A45">
                <a:alpha val="18000"/>
              </a:srgbClr>
            </a:outerShdw>
          </a:effectLst>
        </p:spPr>
        <p:txBody>
          <a:bodyPr/>
          <a:lstStyle/>
          <a:p>
            <a:endParaRPr lang="es-ES"/>
          </a:p>
        </p:txBody>
      </p:sp>
      <p:sp>
        <p:nvSpPr>
          <p:cNvPr id="7" name="Text 5"/>
          <p:cNvSpPr/>
          <p:nvPr/>
        </p:nvSpPr>
        <p:spPr>
          <a:xfrm>
            <a:off x="822960" y="3063240"/>
            <a:ext cx="10515600" cy="1051560"/>
          </a:xfrm>
          <a:prstGeom prst="rect">
            <a:avLst/>
          </a:prstGeom>
          <a:noFill/>
          <a:ln/>
        </p:spPr>
        <p:txBody>
          <a:bodyPr wrap="square" rtlCol="0" anchor="ctr"/>
          <a:lstStyle/>
          <a:p>
            <a:pPr marL="0" indent="0">
              <a:lnSpc>
                <a:spcPts val="2000"/>
              </a:lnSpc>
              <a:buNone/>
            </a:pPr>
            <a:r>
              <a:rPr lang="en-US" sz="1500" dirty="0">
                <a:solidFill>
                  <a:srgbClr val="E9E0FA"/>
                </a:solidFill>
                <a:latin typeface="Courier New" pitchFamily="34" charset="0"/>
                <a:ea typeface="Courier New" pitchFamily="34" charset="-122"/>
                <a:cs typeface="Courier New" pitchFamily="34" charset="-120"/>
              </a:rPr>
              <a:t>import mlflow</a:t>
            </a:r>
            <a:endParaRPr lang="en-US" sz="1500" dirty="0"/>
          </a:p>
          <a:p>
            <a:pPr marL="0" indent="0">
              <a:lnSpc>
                <a:spcPts val="2000"/>
              </a:lnSpc>
              <a:buNone/>
            </a:pPr>
            <a:r>
              <a:rPr lang="en-US" sz="1500" dirty="0">
                <a:solidFill>
                  <a:srgbClr val="E9E0FA"/>
                </a:solidFill>
                <a:latin typeface="Courier New" pitchFamily="34" charset="0"/>
                <a:ea typeface="Courier New" pitchFamily="34" charset="-122"/>
                <a:cs typeface="Courier New" pitchFamily="34" charset="-120"/>
              </a:rPr>
              <a:t>mlflow.autolog()</a:t>
            </a:r>
            <a:endParaRPr lang="en-US" sz="1500" dirty="0"/>
          </a:p>
          <a:p>
            <a:pPr marL="0" indent="0">
              <a:lnSpc>
                <a:spcPts val="2000"/>
              </a:lnSpc>
              <a:buNone/>
            </a:pPr>
            <a:endParaRPr lang="en-US" sz="1500" dirty="0"/>
          </a:p>
          <a:p>
            <a:pPr marL="0" indent="0">
              <a:lnSpc>
                <a:spcPts val="2000"/>
              </a:lnSpc>
              <a:buNone/>
            </a:pPr>
            <a:r>
              <a:rPr lang="en-US" sz="1500" dirty="0">
                <a:solidFill>
                  <a:srgbClr val="E9E0FA"/>
                </a:solidFill>
                <a:latin typeface="Courier New" pitchFamily="34" charset="0"/>
                <a:ea typeface="Courier New" pitchFamily="34" charset="-122"/>
                <a:cs typeface="Courier New" pitchFamily="34" charset="-120"/>
              </a:rPr>
              <a:t>model.fit(X_train, y_train)   # todo se registra automáticamente</a:t>
            </a:r>
            <a:endParaRPr lang="en-US" sz="1500" dirty="0"/>
          </a:p>
        </p:txBody>
      </p:sp>
      <p:sp>
        <p:nvSpPr>
          <p:cNvPr id="8" name="Text 6"/>
          <p:cNvSpPr/>
          <p:nvPr/>
        </p:nvSpPr>
        <p:spPr>
          <a:xfrm>
            <a:off x="457200" y="4572000"/>
            <a:ext cx="11247120" cy="548640"/>
          </a:xfrm>
          <a:prstGeom prst="rect">
            <a:avLst/>
          </a:prstGeom>
          <a:noFill/>
          <a:ln/>
        </p:spPr>
        <p:txBody>
          <a:bodyPr wrap="square" rtlCol="0" anchor="ctr"/>
          <a:lstStyle/>
          <a:p>
            <a:pPr marL="0" indent="0">
              <a:buNone/>
            </a:pPr>
            <a:r>
              <a:rPr lang="en-US" sz="1300" i="1" dirty="0">
                <a:solidFill>
                  <a:srgbClr val="6B5B95"/>
                </a:solidFill>
                <a:latin typeface="Calibri" pitchFamily="34" charset="0"/>
                <a:ea typeface="Calibri" pitchFamily="34" charset="-122"/>
                <a:cs typeface="Calibri" pitchFamily="34" charset="-120"/>
              </a:rPr>
              <a:t>Recomendación pedagógica: usar log manual (slide anterior) para enseñar los conceptos, y autolog() para acelerar el trabajo en proyectos reales.</a:t>
            </a:r>
            <a:endParaRPr lang="en-US" sz="1300" dirty="0"/>
          </a:p>
        </p:txBody>
      </p:sp>
      <p:sp>
        <p:nvSpPr>
          <p:cNvPr id="9" name="Text 7"/>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10" name="Text 8"/>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DEL EXPERIMENTO A PRODUCCIÓN</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MLflow Model Registry</a:t>
            </a:r>
            <a:endParaRPr lang="en-US" sz="3000" dirty="0"/>
          </a:p>
        </p:txBody>
      </p:sp>
      <p:sp>
        <p:nvSpPr>
          <p:cNvPr id="5" name="Text 3"/>
          <p:cNvSpPr/>
          <p:nvPr/>
        </p:nvSpPr>
        <p:spPr>
          <a:xfrm>
            <a:off x="457200" y="1783080"/>
            <a:ext cx="11247120" cy="640080"/>
          </a:xfrm>
          <a:prstGeom prst="rect">
            <a:avLst/>
          </a:prstGeom>
          <a:noFill/>
          <a:ln/>
        </p:spPr>
        <p:txBody>
          <a:bodyPr wrap="square" rtlCol="0" anchor="ctr"/>
          <a:lstStyle/>
          <a:p>
            <a:pPr marL="0" indent="0">
              <a:buNone/>
            </a:pPr>
            <a:r>
              <a:rPr lang="en-US" sz="1400" dirty="0">
                <a:solidFill>
                  <a:srgbClr val="F1ECFB"/>
                </a:solidFill>
                <a:latin typeface="Calibri" pitchFamily="34" charset="0"/>
                <a:ea typeface="Calibri" pitchFamily="34" charset="-122"/>
                <a:cs typeface="Calibri" pitchFamily="34" charset="-120"/>
              </a:rPr>
              <a:t>Un repositorio centralizado y versionado de modelos, con un flujo de aprobación (stages) claro entre el equipo de Data Science y el de Producción.</a:t>
            </a:r>
            <a:endParaRPr lang="en-US" sz="1400" dirty="0"/>
          </a:p>
        </p:txBody>
      </p:sp>
      <p:sp>
        <p:nvSpPr>
          <p:cNvPr id="6" name="Shape 4"/>
          <p:cNvSpPr/>
          <p:nvPr/>
        </p:nvSpPr>
        <p:spPr>
          <a:xfrm>
            <a:off x="457200" y="2834640"/>
            <a:ext cx="2606040" cy="1828800"/>
          </a:xfrm>
          <a:prstGeom prst="roundRect">
            <a:avLst>
              <a:gd name="adj" fmla="val 7000"/>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7" name="Text 5"/>
          <p:cNvSpPr/>
          <p:nvPr/>
        </p:nvSpPr>
        <p:spPr>
          <a:xfrm>
            <a:off x="640080" y="3017520"/>
            <a:ext cx="224028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None</a:t>
            </a:r>
            <a:endParaRPr lang="en-US" sz="1600" dirty="0"/>
          </a:p>
        </p:txBody>
      </p:sp>
      <p:sp>
        <p:nvSpPr>
          <p:cNvPr id="8" name="Text 6"/>
          <p:cNvSpPr/>
          <p:nvPr/>
        </p:nvSpPr>
        <p:spPr>
          <a:xfrm>
            <a:off x="640080" y="3429000"/>
            <a:ext cx="2240280" cy="1097280"/>
          </a:xfrm>
          <a:prstGeom prst="rect">
            <a:avLst/>
          </a:prstGeom>
          <a:noFill/>
          <a:ln/>
        </p:spPr>
        <p:txBody>
          <a:bodyPr wrap="square" rtlCol="0" anchor="ctr"/>
          <a:lstStyle/>
          <a:p>
            <a:pPr marL="0" indent="0">
              <a:lnSpc>
                <a:spcPts val="1500"/>
              </a:lnSpc>
              <a:buNone/>
            </a:pPr>
            <a:r>
              <a:rPr lang="en-US" sz="1150" dirty="0">
                <a:solidFill>
                  <a:srgbClr val="EDE4FB"/>
                </a:solidFill>
                <a:latin typeface="Calibri" pitchFamily="34" charset="0"/>
                <a:ea typeface="Calibri" pitchFamily="34" charset="-122"/>
                <a:cs typeface="Calibri" pitchFamily="34" charset="-120"/>
              </a:rPr>
              <a:t>Modelo recién registrado</a:t>
            </a:r>
            <a:endParaRPr lang="en-US" sz="1150" dirty="0"/>
          </a:p>
        </p:txBody>
      </p:sp>
      <p:sp>
        <p:nvSpPr>
          <p:cNvPr id="9" name="Text 7"/>
          <p:cNvSpPr/>
          <p:nvPr/>
        </p:nvSpPr>
        <p:spPr>
          <a:xfrm>
            <a:off x="3063240" y="3520440"/>
            <a:ext cx="365760" cy="4572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0" name="Shape 8"/>
          <p:cNvSpPr/>
          <p:nvPr/>
        </p:nvSpPr>
        <p:spPr>
          <a:xfrm>
            <a:off x="3291840" y="2834640"/>
            <a:ext cx="2606040" cy="1828800"/>
          </a:xfrm>
          <a:prstGeom prst="roundRect">
            <a:avLst>
              <a:gd name="adj" fmla="val 7000"/>
            </a:avLst>
          </a:prstGeom>
          <a:solidFill>
            <a:srgbClr val="5B21B6"/>
          </a:solidFill>
          <a:ln/>
          <a:effectLst>
            <a:outerShdw blurRad="76200" dist="38100" dir="5400000" algn="bl" rotWithShape="0">
              <a:srgbClr val="1E0A45">
                <a:alpha val="18000"/>
              </a:srgbClr>
            </a:outerShdw>
          </a:effectLst>
        </p:spPr>
        <p:txBody>
          <a:bodyPr/>
          <a:lstStyle/>
          <a:p>
            <a:endParaRPr lang="es-ES"/>
          </a:p>
        </p:txBody>
      </p:sp>
      <p:sp>
        <p:nvSpPr>
          <p:cNvPr id="11" name="Text 9"/>
          <p:cNvSpPr/>
          <p:nvPr/>
        </p:nvSpPr>
        <p:spPr>
          <a:xfrm>
            <a:off x="3474720" y="3017520"/>
            <a:ext cx="224028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Staging</a:t>
            </a:r>
            <a:endParaRPr lang="en-US" sz="1600" dirty="0"/>
          </a:p>
        </p:txBody>
      </p:sp>
      <p:sp>
        <p:nvSpPr>
          <p:cNvPr id="12" name="Text 10"/>
          <p:cNvSpPr/>
          <p:nvPr/>
        </p:nvSpPr>
        <p:spPr>
          <a:xfrm>
            <a:off x="3474720" y="3429000"/>
            <a:ext cx="2240280" cy="1097280"/>
          </a:xfrm>
          <a:prstGeom prst="rect">
            <a:avLst/>
          </a:prstGeom>
          <a:noFill/>
          <a:ln/>
        </p:spPr>
        <p:txBody>
          <a:bodyPr wrap="square" rtlCol="0" anchor="ctr"/>
          <a:lstStyle/>
          <a:p>
            <a:pPr marL="0" indent="0">
              <a:lnSpc>
                <a:spcPts val="1500"/>
              </a:lnSpc>
              <a:buNone/>
            </a:pPr>
            <a:r>
              <a:rPr lang="en-US" sz="1150" dirty="0">
                <a:solidFill>
                  <a:srgbClr val="EDE4FB"/>
                </a:solidFill>
                <a:latin typeface="Calibri" pitchFamily="34" charset="0"/>
                <a:ea typeface="Calibri" pitchFamily="34" charset="-122"/>
                <a:cs typeface="Calibri" pitchFamily="34" charset="-120"/>
              </a:rPr>
              <a:t>En validación y pruebas</a:t>
            </a:r>
            <a:endParaRPr lang="en-US" sz="1150" dirty="0"/>
          </a:p>
        </p:txBody>
      </p:sp>
      <p:sp>
        <p:nvSpPr>
          <p:cNvPr id="13" name="Text 11"/>
          <p:cNvSpPr/>
          <p:nvPr/>
        </p:nvSpPr>
        <p:spPr>
          <a:xfrm>
            <a:off x="5897880" y="3520440"/>
            <a:ext cx="365760" cy="4572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4" name="Shape 12"/>
          <p:cNvSpPr/>
          <p:nvPr/>
        </p:nvSpPr>
        <p:spPr>
          <a:xfrm>
            <a:off x="6126480" y="2834640"/>
            <a:ext cx="2606040" cy="1828800"/>
          </a:xfrm>
          <a:prstGeom prst="roundRect">
            <a:avLst>
              <a:gd name="adj" fmla="val 7000"/>
            </a:avLst>
          </a:prstGeom>
          <a:solidFill>
            <a:srgbClr val="C026D3"/>
          </a:solidFill>
          <a:ln/>
          <a:effectLst>
            <a:outerShdw blurRad="76200" dist="38100" dir="5400000" algn="bl" rotWithShape="0">
              <a:srgbClr val="1E0A45">
                <a:alpha val="18000"/>
              </a:srgbClr>
            </a:outerShdw>
          </a:effectLst>
        </p:spPr>
        <p:txBody>
          <a:bodyPr/>
          <a:lstStyle/>
          <a:p>
            <a:endParaRPr lang="es-ES"/>
          </a:p>
        </p:txBody>
      </p:sp>
      <p:sp>
        <p:nvSpPr>
          <p:cNvPr id="15" name="Text 13"/>
          <p:cNvSpPr/>
          <p:nvPr/>
        </p:nvSpPr>
        <p:spPr>
          <a:xfrm>
            <a:off x="6309360" y="3017520"/>
            <a:ext cx="224028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Production</a:t>
            </a:r>
            <a:endParaRPr lang="en-US" sz="1600" dirty="0"/>
          </a:p>
        </p:txBody>
      </p:sp>
      <p:sp>
        <p:nvSpPr>
          <p:cNvPr id="16" name="Text 14"/>
          <p:cNvSpPr/>
          <p:nvPr/>
        </p:nvSpPr>
        <p:spPr>
          <a:xfrm>
            <a:off x="6309360" y="3429000"/>
            <a:ext cx="2240280" cy="1097280"/>
          </a:xfrm>
          <a:prstGeom prst="rect">
            <a:avLst/>
          </a:prstGeom>
          <a:noFill/>
          <a:ln/>
        </p:spPr>
        <p:txBody>
          <a:bodyPr wrap="square" rtlCol="0" anchor="ctr"/>
          <a:lstStyle/>
          <a:p>
            <a:pPr marL="0" indent="0">
              <a:lnSpc>
                <a:spcPts val="1500"/>
              </a:lnSpc>
              <a:buNone/>
            </a:pPr>
            <a:r>
              <a:rPr lang="en-US" sz="1150" dirty="0">
                <a:solidFill>
                  <a:srgbClr val="EDE4FB"/>
                </a:solidFill>
                <a:latin typeface="Calibri" pitchFamily="34" charset="0"/>
                <a:ea typeface="Calibri" pitchFamily="34" charset="-122"/>
                <a:cs typeface="Calibri" pitchFamily="34" charset="-120"/>
              </a:rPr>
              <a:t>Sirviendo tráfico real</a:t>
            </a:r>
            <a:endParaRPr lang="en-US" sz="1150" dirty="0"/>
          </a:p>
        </p:txBody>
      </p:sp>
      <p:sp>
        <p:nvSpPr>
          <p:cNvPr id="17" name="Text 15"/>
          <p:cNvSpPr/>
          <p:nvPr/>
        </p:nvSpPr>
        <p:spPr>
          <a:xfrm>
            <a:off x="8732520" y="3520440"/>
            <a:ext cx="365760" cy="4572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18" name="Shape 16"/>
          <p:cNvSpPr/>
          <p:nvPr/>
        </p:nvSpPr>
        <p:spPr>
          <a:xfrm>
            <a:off x="8961120" y="2834640"/>
            <a:ext cx="2606040" cy="1828800"/>
          </a:xfrm>
          <a:prstGeom prst="roundRect">
            <a:avLst>
              <a:gd name="adj" fmla="val 7000"/>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19" name="Text 17"/>
          <p:cNvSpPr/>
          <p:nvPr/>
        </p:nvSpPr>
        <p:spPr>
          <a:xfrm>
            <a:off x="9144000" y="3017520"/>
            <a:ext cx="224028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Archived</a:t>
            </a:r>
            <a:endParaRPr lang="en-US" sz="1600" dirty="0"/>
          </a:p>
        </p:txBody>
      </p:sp>
      <p:sp>
        <p:nvSpPr>
          <p:cNvPr id="20" name="Text 18"/>
          <p:cNvSpPr/>
          <p:nvPr/>
        </p:nvSpPr>
        <p:spPr>
          <a:xfrm>
            <a:off x="9144000" y="3429000"/>
            <a:ext cx="2240280" cy="1097280"/>
          </a:xfrm>
          <a:prstGeom prst="rect">
            <a:avLst/>
          </a:prstGeom>
          <a:noFill/>
          <a:ln/>
        </p:spPr>
        <p:txBody>
          <a:bodyPr wrap="square" rtlCol="0" anchor="ctr"/>
          <a:lstStyle/>
          <a:p>
            <a:pPr marL="0" indent="0">
              <a:lnSpc>
                <a:spcPts val="1500"/>
              </a:lnSpc>
              <a:buNone/>
            </a:pPr>
            <a:r>
              <a:rPr lang="en-US" sz="1150" dirty="0">
                <a:solidFill>
                  <a:srgbClr val="EDE4FB"/>
                </a:solidFill>
                <a:latin typeface="Calibri" pitchFamily="34" charset="0"/>
                <a:ea typeface="Calibri" pitchFamily="34" charset="-122"/>
                <a:cs typeface="Calibri" pitchFamily="34" charset="-120"/>
              </a:rPr>
              <a:t>Reemplazado por una versión nueva</a:t>
            </a:r>
            <a:endParaRPr lang="en-US" sz="1150" dirty="0"/>
          </a:p>
        </p:txBody>
      </p:sp>
      <p:sp>
        <p:nvSpPr>
          <p:cNvPr id="21" name="Text 19"/>
          <p:cNvSpPr/>
          <p:nvPr/>
        </p:nvSpPr>
        <p:spPr>
          <a:xfrm>
            <a:off x="457200" y="5074920"/>
            <a:ext cx="11247120" cy="640080"/>
          </a:xfrm>
          <a:prstGeom prst="rect">
            <a:avLst/>
          </a:prstGeom>
          <a:noFill/>
          <a:ln/>
        </p:spPr>
        <p:txBody>
          <a:bodyPr wrap="square" rtlCol="0" anchor="ctr"/>
          <a:lstStyle/>
          <a:p>
            <a:pPr marL="0" indent="0">
              <a:buNone/>
            </a:pPr>
            <a:r>
              <a:rPr lang="en-US" sz="1300" i="1" dirty="0">
                <a:solidFill>
                  <a:srgbClr val="F1ECFB"/>
                </a:solidFill>
                <a:latin typeface="Calibri" pitchFamily="34" charset="0"/>
                <a:ea typeface="Calibri" pitchFamily="34" charset="-122"/>
                <a:cs typeface="Calibri" pitchFamily="34" charset="-120"/>
              </a:rPr>
              <a:t>Cada vez que se registra una nueva versión de un modelo, se conserva el historial completo — permitiendo hacer rollback instantáneo si algo falla en producción.</a:t>
            </a:r>
            <a:endParaRPr lang="en-US" sz="1300" dirty="0"/>
          </a:p>
        </p:txBody>
      </p:sp>
      <p:sp>
        <p:nvSpPr>
          <p:cNvPr id="22" name="Text 20"/>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23" name="Text 21"/>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400800" cy="6400800"/>
          </a:xfrm>
          <a:prstGeom prst="ellipse">
            <a:avLst/>
          </a:prstGeom>
          <a:solidFill>
            <a:srgbClr val="5B21B6">
              <a:alpha val="45000"/>
            </a:srgbClr>
          </a:solidFill>
          <a:ln/>
        </p:spPr>
        <p:txBody>
          <a:bodyPr/>
          <a:lstStyle/>
          <a:p>
            <a:endParaRPr lang="es-ES"/>
          </a:p>
        </p:txBody>
      </p:sp>
      <p:sp>
        <p:nvSpPr>
          <p:cNvPr id="3" name="Text 1"/>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4" name="Text 2"/>
          <p:cNvSpPr/>
          <p:nvPr/>
        </p:nvSpPr>
        <p:spPr>
          <a:xfrm>
            <a:off x="457200" y="1828800"/>
            <a:ext cx="3657600" cy="1463040"/>
          </a:xfrm>
          <a:prstGeom prst="rect">
            <a:avLst/>
          </a:prstGeom>
          <a:noFill/>
          <a:ln/>
        </p:spPr>
        <p:txBody>
          <a:bodyPr wrap="square" rtlCol="0" anchor="ctr"/>
          <a:lstStyle/>
          <a:p>
            <a:pPr marL="0" indent="0">
              <a:buNone/>
            </a:pPr>
            <a:r>
              <a:rPr lang="en-US" sz="9000" b="1" dirty="0">
                <a:solidFill>
                  <a:srgbClr val="2D0F5E"/>
                </a:solidFill>
                <a:latin typeface="Cambria" pitchFamily="34" charset="0"/>
                <a:ea typeface="Cambria" pitchFamily="34" charset="-122"/>
                <a:cs typeface="Cambria" pitchFamily="34" charset="-120"/>
              </a:rPr>
              <a:t>LAB 2</a:t>
            </a:r>
            <a:endParaRPr lang="en-US" sz="9000" dirty="0"/>
          </a:p>
        </p:txBody>
      </p:sp>
      <p:sp>
        <p:nvSpPr>
          <p:cNvPr id="5" name="Text 3"/>
          <p:cNvSpPr/>
          <p:nvPr/>
        </p:nvSpPr>
        <p:spPr>
          <a:xfrm>
            <a:off x="502920" y="3246120"/>
            <a:ext cx="8229600" cy="36576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PRÁCTICA GUIADA</a:t>
            </a:r>
            <a:endParaRPr lang="en-US" sz="1300" dirty="0"/>
          </a:p>
        </p:txBody>
      </p:sp>
      <p:sp>
        <p:nvSpPr>
          <p:cNvPr id="6" name="Text 4"/>
          <p:cNvSpPr/>
          <p:nvPr/>
        </p:nvSpPr>
        <p:spPr>
          <a:xfrm>
            <a:off x="457200" y="3611880"/>
            <a:ext cx="10515600" cy="118872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MLflow: Tracking y registro de un modelo</a:t>
            </a:r>
            <a:endParaRPr lang="en-US" sz="3800" dirty="0"/>
          </a:p>
        </p:txBody>
      </p:sp>
      <p:sp>
        <p:nvSpPr>
          <p:cNvPr id="7" name="Text 5"/>
          <p:cNvSpPr/>
          <p:nvPr/>
        </p:nvSpPr>
        <p:spPr>
          <a:xfrm>
            <a:off x="457200" y="4709160"/>
            <a:ext cx="9601200" cy="64008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Abrimos el notebook 02_mlflow_tracking_registry.ipynb y entrenamos, comparamos y registramos un modelo</a:t>
            </a:r>
            <a:endParaRPr lang="en-US" sz="1500" dirty="0"/>
          </a:p>
        </p:txBody>
      </p:sp>
      <p:sp>
        <p:nvSpPr>
          <p:cNvPr id="8" name="Text 6"/>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9" name="Text 7"/>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ANTES DE ABRIR EL NOTEBOOK</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Checklist del Laboratorio 2</a:t>
            </a:r>
            <a:endParaRPr lang="en-US" sz="3000" dirty="0"/>
          </a:p>
        </p:txBody>
      </p:sp>
      <p:sp>
        <p:nvSpPr>
          <p:cNvPr id="5" name="Shape 3"/>
          <p:cNvSpPr/>
          <p:nvPr/>
        </p:nvSpPr>
        <p:spPr>
          <a:xfrm>
            <a:off x="457200" y="2011680"/>
            <a:ext cx="320040" cy="320040"/>
          </a:xfrm>
          <a:prstGeom prst="roundRect">
            <a:avLst>
              <a:gd name="adj" fmla="val 17143"/>
            </a:avLst>
          </a:prstGeom>
          <a:solidFill>
            <a:srgbClr val="F4F1FB"/>
          </a:solidFill>
          <a:ln w="19050">
            <a:solidFill>
              <a:srgbClr val="C026D3"/>
            </a:solidFill>
            <a:prstDash val="solid"/>
          </a:ln>
        </p:spPr>
        <p:txBody>
          <a:bodyPr/>
          <a:lstStyle/>
          <a:p>
            <a:endParaRPr lang="es-ES"/>
          </a:p>
        </p:txBody>
      </p:sp>
      <p:sp>
        <p:nvSpPr>
          <p:cNvPr id="6" name="Text 4"/>
          <p:cNvSpPr/>
          <p:nvPr/>
        </p:nvSpPr>
        <p:spPr>
          <a:xfrm>
            <a:off x="960120" y="1956816"/>
            <a:ext cx="10515600" cy="502920"/>
          </a:xfrm>
          <a:prstGeom prst="rect">
            <a:avLst/>
          </a:prstGeom>
          <a:noFill/>
          <a:ln/>
        </p:spPr>
        <p:txBody>
          <a:bodyPr wrap="square" rtlCol="0" anchor="ctr"/>
          <a:lstStyle/>
          <a:p>
            <a:pPr marL="0" indent="0">
              <a:buNone/>
            </a:pPr>
            <a:r>
              <a:rPr lang="en-US" sz="1450" dirty="0">
                <a:solidFill>
                  <a:srgbClr val="241242"/>
                </a:solidFill>
                <a:latin typeface="Calibri" pitchFamily="34" charset="0"/>
                <a:ea typeface="Calibri" pitchFamily="34" charset="-122"/>
                <a:cs typeface="Calibri" pitchFamily="34" charset="-120"/>
              </a:rPr>
              <a:t>Abrir el notebook 02_mlflow_tracking_registry.ipynb y conectarlo a Serverless (igual que en el Laboratorio 1).</a:t>
            </a:r>
            <a:endParaRPr lang="en-US" sz="1450" dirty="0"/>
          </a:p>
        </p:txBody>
      </p:sp>
      <p:sp>
        <p:nvSpPr>
          <p:cNvPr id="7" name="Shape 5"/>
          <p:cNvSpPr/>
          <p:nvPr/>
        </p:nvSpPr>
        <p:spPr>
          <a:xfrm>
            <a:off x="457200" y="2670048"/>
            <a:ext cx="320040" cy="320040"/>
          </a:xfrm>
          <a:prstGeom prst="roundRect">
            <a:avLst>
              <a:gd name="adj" fmla="val 17143"/>
            </a:avLst>
          </a:prstGeom>
          <a:solidFill>
            <a:srgbClr val="F4F1FB"/>
          </a:solidFill>
          <a:ln w="19050">
            <a:solidFill>
              <a:srgbClr val="C026D3"/>
            </a:solidFill>
            <a:prstDash val="solid"/>
          </a:ln>
        </p:spPr>
        <p:txBody>
          <a:bodyPr/>
          <a:lstStyle/>
          <a:p>
            <a:endParaRPr lang="es-ES"/>
          </a:p>
        </p:txBody>
      </p:sp>
      <p:sp>
        <p:nvSpPr>
          <p:cNvPr id="8" name="Text 6"/>
          <p:cNvSpPr/>
          <p:nvPr/>
        </p:nvSpPr>
        <p:spPr>
          <a:xfrm>
            <a:off x="960120" y="2615184"/>
            <a:ext cx="10515600" cy="502920"/>
          </a:xfrm>
          <a:prstGeom prst="rect">
            <a:avLst/>
          </a:prstGeom>
          <a:noFill/>
          <a:ln/>
        </p:spPr>
        <p:txBody>
          <a:bodyPr wrap="square" rtlCol="0" anchor="ctr"/>
          <a:lstStyle/>
          <a:p>
            <a:pPr marL="0" indent="0">
              <a:buNone/>
            </a:pPr>
            <a:r>
              <a:rPr lang="en-US" sz="1450" dirty="0">
                <a:solidFill>
                  <a:srgbClr val="241242"/>
                </a:solidFill>
                <a:latin typeface="Calibri" pitchFamily="34" charset="0"/>
                <a:ea typeface="Calibri" pitchFamily="34" charset="-122"/>
                <a:cs typeface="Calibri" pitchFamily="34" charset="-120"/>
              </a:rPr>
              <a:t>Verificar que el experimento aparece en la pestaña Experiments del Workspace.</a:t>
            </a:r>
            <a:endParaRPr lang="en-US" sz="1450" dirty="0"/>
          </a:p>
        </p:txBody>
      </p:sp>
      <p:sp>
        <p:nvSpPr>
          <p:cNvPr id="9" name="Shape 7"/>
          <p:cNvSpPr/>
          <p:nvPr/>
        </p:nvSpPr>
        <p:spPr>
          <a:xfrm>
            <a:off x="457200" y="3328416"/>
            <a:ext cx="320040" cy="320040"/>
          </a:xfrm>
          <a:prstGeom prst="roundRect">
            <a:avLst>
              <a:gd name="adj" fmla="val 17143"/>
            </a:avLst>
          </a:prstGeom>
          <a:solidFill>
            <a:srgbClr val="F4F1FB"/>
          </a:solidFill>
          <a:ln w="19050">
            <a:solidFill>
              <a:srgbClr val="C026D3"/>
            </a:solidFill>
            <a:prstDash val="solid"/>
          </a:ln>
        </p:spPr>
        <p:txBody>
          <a:bodyPr/>
          <a:lstStyle/>
          <a:p>
            <a:endParaRPr lang="es-ES"/>
          </a:p>
        </p:txBody>
      </p:sp>
      <p:sp>
        <p:nvSpPr>
          <p:cNvPr id="10" name="Text 8"/>
          <p:cNvSpPr/>
          <p:nvPr/>
        </p:nvSpPr>
        <p:spPr>
          <a:xfrm>
            <a:off x="960120" y="3273552"/>
            <a:ext cx="10515600" cy="502920"/>
          </a:xfrm>
          <a:prstGeom prst="rect">
            <a:avLst/>
          </a:prstGeom>
          <a:noFill/>
          <a:ln/>
        </p:spPr>
        <p:txBody>
          <a:bodyPr wrap="square" rtlCol="0" anchor="ctr"/>
          <a:lstStyle/>
          <a:p>
            <a:pPr marL="0" indent="0">
              <a:buNone/>
            </a:pPr>
            <a:r>
              <a:rPr lang="en-US" sz="1450" dirty="0">
                <a:solidFill>
                  <a:srgbClr val="241242"/>
                </a:solidFill>
                <a:latin typeface="Calibri" pitchFamily="34" charset="0"/>
                <a:ea typeface="Calibri" pitchFamily="34" charset="-122"/>
                <a:cs typeface="Calibri" pitchFamily="34" charset="-120"/>
              </a:rPr>
              <a:t>Entrenar al menos 3 variaciones del modelo (distintos hiperparámetros).</a:t>
            </a:r>
            <a:endParaRPr lang="en-US" sz="1450" dirty="0"/>
          </a:p>
        </p:txBody>
      </p:sp>
      <p:sp>
        <p:nvSpPr>
          <p:cNvPr id="11" name="Shape 9"/>
          <p:cNvSpPr/>
          <p:nvPr/>
        </p:nvSpPr>
        <p:spPr>
          <a:xfrm>
            <a:off x="457200" y="3986784"/>
            <a:ext cx="320040" cy="320040"/>
          </a:xfrm>
          <a:prstGeom prst="roundRect">
            <a:avLst>
              <a:gd name="adj" fmla="val 17143"/>
            </a:avLst>
          </a:prstGeom>
          <a:solidFill>
            <a:srgbClr val="F4F1FB"/>
          </a:solidFill>
          <a:ln w="19050">
            <a:solidFill>
              <a:srgbClr val="C026D3"/>
            </a:solidFill>
            <a:prstDash val="solid"/>
          </a:ln>
        </p:spPr>
        <p:txBody>
          <a:bodyPr/>
          <a:lstStyle/>
          <a:p>
            <a:endParaRPr lang="es-ES"/>
          </a:p>
        </p:txBody>
      </p:sp>
      <p:sp>
        <p:nvSpPr>
          <p:cNvPr id="12" name="Text 10"/>
          <p:cNvSpPr/>
          <p:nvPr/>
        </p:nvSpPr>
        <p:spPr>
          <a:xfrm>
            <a:off x="960120" y="3931920"/>
            <a:ext cx="10515600" cy="502920"/>
          </a:xfrm>
          <a:prstGeom prst="rect">
            <a:avLst/>
          </a:prstGeom>
          <a:noFill/>
          <a:ln/>
        </p:spPr>
        <p:txBody>
          <a:bodyPr wrap="square" rtlCol="0" anchor="ctr"/>
          <a:lstStyle/>
          <a:p>
            <a:pPr marL="0" indent="0">
              <a:buNone/>
            </a:pPr>
            <a:r>
              <a:rPr lang="en-US" sz="1450" dirty="0">
                <a:solidFill>
                  <a:srgbClr val="241242"/>
                </a:solidFill>
                <a:latin typeface="Calibri" pitchFamily="34" charset="0"/>
                <a:ea typeface="Calibri" pitchFamily="34" charset="-122"/>
                <a:cs typeface="Calibri" pitchFamily="34" charset="-120"/>
              </a:rPr>
              <a:t>Comparar las ejecuciones en la UI de MLflow y elegir el mejor run.</a:t>
            </a:r>
            <a:endParaRPr lang="en-US" sz="1450" dirty="0"/>
          </a:p>
        </p:txBody>
      </p:sp>
      <p:sp>
        <p:nvSpPr>
          <p:cNvPr id="13" name="Shape 11"/>
          <p:cNvSpPr/>
          <p:nvPr/>
        </p:nvSpPr>
        <p:spPr>
          <a:xfrm>
            <a:off x="457200" y="4645152"/>
            <a:ext cx="320040" cy="320040"/>
          </a:xfrm>
          <a:prstGeom prst="roundRect">
            <a:avLst>
              <a:gd name="adj" fmla="val 17143"/>
            </a:avLst>
          </a:prstGeom>
          <a:solidFill>
            <a:srgbClr val="F4F1FB"/>
          </a:solidFill>
          <a:ln w="19050">
            <a:solidFill>
              <a:srgbClr val="C026D3"/>
            </a:solidFill>
            <a:prstDash val="solid"/>
          </a:ln>
        </p:spPr>
        <p:txBody>
          <a:bodyPr/>
          <a:lstStyle/>
          <a:p>
            <a:endParaRPr lang="es-ES"/>
          </a:p>
        </p:txBody>
      </p:sp>
      <p:sp>
        <p:nvSpPr>
          <p:cNvPr id="14" name="Text 12"/>
          <p:cNvSpPr/>
          <p:nvPr/>
        </p:nvSpPr>
        <p:spPr>
          <a:xfrm>
            <a:off x="960120" y="4590288"/>
            <a:ext cx="10515600" cy="502920"/>
          </a:xfrm>
          <a:prstGeom prst="rect">
            <a:avLst/>
          </a:prstGeom>
          <a:noFill/>
          <a:ln/>
        </p:spPr>
        <p:txBody>
          <a:bodyPr wrap="square" rtlCol="0" anchor="ctr"/>
          <a:lstStyle/>
          <a:p>
            <a:pPr marL="0" indent="0">
              <a:buNone/>
            </a:pPr>
            <a:r>
              <a:rPr lang="en-US" sz="1450" dirty="0">
                <a:solidFill>
                  <a:srgbClr val="241242"/>
                </a:solidFill>
                <a:latin typeface="Calibri" pitchFamily="34" charset="0"/>
                <a:ea typeface="Calibri" pitchFamily="34" charset="-122"/>
                <a:cs typeface="Calibri" pitchFamily="34" charset="-120"/>
              </a:rPr>
              <a:t>Registrar el modelo ganador en el Model Registry y promoverlo a Staging.</a:t>
            </a:r>
            <a:endParaRPr lang="en-US" sz="1450" dirty="0"/>
          </a:p>
        </p:txBody>
      </p:sp>
      <p:sp>
        <p:nvSpPr>
          <p:cNvPr id="15" name="Shape 13"/>
          <p:cNvSpPr/>
          <p:nvPr/>
        </p:nvSpPr>
        <p:spPr>
          <a:xfrm>
            <a:off x="457200" y="5394960"/>
            <a:ext cx="11247120" cy="822960"/>
          </a:xfrm>
          <a:prstGeom prst="roundRect">
            <a:avLst>
              <a:gd name="adj" fmla="val 13333"/>
            </a:avLst>
          </a:prstGeom>
          <a:solidFill>
            <a:srgbClr val="1E0A45"/>
          </a:solidFill>
          <a:ln/>
          <a:effectLst>
            <a:outerShdw blurRad="76200" dist="38100" dir="5400000" algn="bl" rotWithShape="0">
              <a:srgbClr val="1E0A45">
                <a:alpha val="18000"/>
              </a:srgbClr>
            </a:outerShdw>
          </a:effectLst>
        </p:spPr>
        <p:txBody>
          <a:bodyPr/>
          <a:lstStyle/>
          <a:p>
            <a:endParaRPr lang="es-ES"/>
          </a:p>
        </p:txBody>
      </p:sp>
      <p:sp>
        <p:nvSpPr>
          <p:cNvPr id="16" name="Text 14"/>
          <p:cNvSpPr/>
          <p:nvPr/>
        </p:nvSpPr>
        <p:spPr>
          <a:xfrm>
            <a:off x="685800" y="5394960"/>
            <a:ext cx="10789920" cy="822960"/>
          </a:xfrm>
          <a:prstGeom prst="rect">
            <a:avLst/>
          </a:prstGeom>
          <a:noFill/>
          <a:ln/>
        </p:spPr>
        <p:txBody>
          <a:bodyPr wrap="square" rtlCol="0" anchor="ctr"/>
          <a:lstStyle/>
          <a:p>
            <a:pPr marL="0" indent="0">
              <a:buNone/>
            </a:pPr>
            <a:r>
              <a:rPr lang="en-US" sz="1250" i="1" dirty="0">
                <a:solidFill>
                  <a:srgbClr val="F1ECFB"/>
                </a:solidFill>
                <a:latin typeface="Calibri" pitchFamily="34" charset="0"/>
                <a:ea typeface="Calibri" pitchFamily="34" charset="-122"/>
                <a:cs typeface="Calibri" pitchFamily="34" charset="-120"/>
              </a:rPr>
              <a:t>Objetivo del laboratorio: cerrar el ciclo completo — entrenar, trackear, comparar y registrar un modelo listo para producción, tal como lo haría un equipo de MLOps real.</a:t>
            </a:r>
            <a:endParaRPr lang="en-US" sz="1250" dirty="0"/>
          </a:p>
        </p:txBody>
      </p:sp>
      <p:sp>
        <p:nvSpPr>
          <p:cNvPr id="17" name="Text 15"/>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18" name="Text 16"/>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5B21B6"/>
                </a:solidFill>
                <a:latin typeface="Cambria" pitchFamily="34" charset="0"/>
                <a:ea typeface="Cambria" pitchFamily="34" charset="-122"/>
                <a:cs typeface="Cambria" pitchFamily="34" charset="-120"/>
              </a:rPr>
              <a:t>dev</a:t>
            </a:r>
            <a:r>
              <a:rPr lang="en-US" sz="1500" b="1" dirty="0">
                <a:solidFill>
                  <a:srgbClr val="C026D3"/>
                </a:solidFill>
                <a:latin typeface="Cambria" pitchFamily="34" charset="0"/>
                <a:ea typeface="Cambria" pitchFamily="34" charset="-122"/>
                <a:cs typeface="Cambria" pitchFamily="34" charset="-120"/>
              </a:rPr>
              <a:t>Senior</a:t>
            </a:r>
            <a:r>
              <a:rPr lang="en-US" sz="1500" b="1" dirty="0">
                <a:solidFill>
                  <a:srgbClr val="5B21B6"/>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C026D3"/>
                </a:solidFill>
                <a:latin typeface="Calibri" pitchFamily="34" charset="0"/>
                <a:ea typeface="Calibri" pitchFamily="34" charset="-122"/>
                <a:cs typeface="Calibri" pitchFamily="34" charset="-120"/>
              </a:rPr>
              <a:t>RECOMENDACIONES DE LA INDUSTRIA</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000" b="1" dirty="0">
                <a:solidFill>
                  <a:srgbClr val="241242"/>
                </a:solidFill>
                <a:latin typeface="Cambria" pitchFamily="34" charset="0"/>
                <a:ea typeface="Cambria" pitchFamily="34" charset="-122"/>
                <a:cs typeface="Cambria" pitchFamily="34" charset="-120"/>
              </a:rPr>
              <a:t>Buenas prácticas de arquitectura</a:t>
            </a:r>
            <a:endParaRPr lang="en-US" sz="3000" dirty="0"/>
          </a:p>
        </p:txBody>
      </p:sp>
      <p:sp>
        <p:nvSpPr>
          <p:cNvPr id="5" name="Shape 3"/>
          <p:cNvSpPr/>
          <p:nvPr/>
        </p:nvSpPr>
        <p:spPr>
          <a:xfrm>
            <a:off x="457200" y="1965960"/>
            <a:ext cx="5349240" cy="1280160"/>
          </a:xfrm>
          <a:prstGeom prst="roundRect">
            <a:avLst>
              <a:gd name="adj" fmla="val 857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6" name="Text 4"/>
          <p:cNvSpPr/>
          <p:nvPr/>
        </p:nvSpPr>
        <p:spPr>
          <a:xfrm>
            <a:off x="685800" y="2075688"/>
            <a:ext cx="4892040" cy="365760"/>
          </a:xfrm>
          <a:prstGeom prst="rect">
            <a:avLst/>
          </a:prstGeom>
          <a:noFill/>
          <a:ln/>
        </p:spPr>
        <p:txBody>
          <a:bodyPr wrap="square" rtlCol="0" anchor="ctr"/>
          <a:lstStyle/>
          <a:p>
            <a:pPr marL="0" indent="0">
              <a:buNone/>
            </a:pPr>
            <a:r>
              <a:rPr lang="en-US" sz="1350" b="1" dirty="0">
                <a:solidFill>
                  <a:srgbClr val="5B21B6"/>
                </a:solidFill>
                <a:latin typeface="Calibri" pitchFamily="34" charset="0"/>
                <a:ea typeface="Calibri" pitchFamily="34" charset="-122"/>
                <a:cs typeface="Calibri" pitchFamily="34" charset="-120"/>
              </a:rPr>
              <a:t>Nombra tus experimentos</a:t>
            </a:r>
            <a:endParaRPr lang="en-US" sz="1350" dirty="0"/>
          </a:p>
        </p:txBody>
      </p:sp>
      <p:sp>
        <p:nvSpPr>
          <p:cNvPr id="7" name="Text 5"/>
          <p:cNvSpPr/>
          <p:nvPr/>
        </p:nvSpPr>
        <p:spPr>
          <a:xfrm>
            <a:off x="685800" y="2468880"/>
            <a:ext cx="4892040" cy="73152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Usa convenciones claras: /proyecto/modelo/version para encontrar runs fácilmente.</a:t>
            </a:r>
            <a:endParaRPr lang="en-US" sz="1150" dirty="0"/>
          </a:p>
        </p:txBody>
      </p:sp>
      <p:sp>
        <p:nvSpPr>
          <p:cNvPr id="8" name="Shape 6"/>
          <p:cNvSpPr/>
          <p:nvPr/>
        </p:nvSpPr>
        <p:spPr>
          <a:xfrm>
            <a:off x="6080760" y="1965960"/>
            <a:ext cx="5349240" cy="1280160"/>
          </a:xfrm>
          <a:prstGeom prst="roundRect">
            <a:avLst>
              <a:gd name="adj" fmla="val 857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9" name="Text 7"/>
          <p:cNvSpPr/>
          <p:nvPr/>
        </p:nvSpPr>
        <p:spPr>
          <a:xfrm>
            <a:off x="6309360" y="2075688"/>
            <a:ext cx="4892040" cy="365760"/>
          </a:xfrm>
          <a:prstGeom prst="rect">
            <a:avLst/>
          </a:prstGeom>
          <a:noFill/>
          <a:ln/>
        </p:spPr>
        <p:txBody>
          <a:bodyPr wrap="square" rtlCol="0" anchor="ctr"/>
          <a:lstStyle/>
          <a:p>
            <a:pPr marL="0" indent="0">
              <a:buNone/>
            </a:pPr>
            <a:r>
              <a:rPr lang="en-US" sz="1350" b="1" dirty="0">
                <a:solidFill>
                  <a:srgbClr val="5B21B6"/>
                </a:solidFill>
                <a:latin typeface="Calibri" pitchFamily="34" charset="0"/>
                <a:ea typeface="Calibri" pitchFamily="34" charset="-122"/>
                <a:cs typeface="Calibri" pitchFamily="34" charset="-120"/>
              </a:rPr>
              <a:t>Cluster policies</a:t>
            </a:r>
            <a:endParaRPr lang="en-US" sz="1350" dirty="0"/>
          </a:p>
        </p:txBody>
      </p:sp>
      <p:sp>
        <p:nvSpPr>
          <p:cNvPr id="10" name="Text 8"/>
          <p:cNvSpPr/>
          <p:nvPr/>
        </p:nvSpPr>
        <p:spPr>
          <a:xfrm>
            <a:off x="6309360" y="2468880"/>
            <a:ext cx="4892040" cy="73152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Define políticas para evitar clusters sobredimensionados y controlar costos.</a:t>
            </a:r>
            <a:endParaRPr lang="en-US" sz="1150" dirty="0"/>
          </a:p>
        </p:txBody>
      </p:sp>
      <p:sp>
        <p:nvSpPr>
          <p:cNvPr id="11" name="Shape 9"/>
          <p:cNvSpPr/>
          <p:nvPr/>
        </p:nvSpPr>
        <p:spPr>
          <a:xfrm>
            <a:off x="457200" y="3429000"/>
            <a:ext cx="5349240" cy="1280160"/>
          </a:xfrm>
          <a:prstGeom prst="roundRect">
            <a:avLst>
              <a:gd name="adj" fmla="val 857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2" name="Text 10"/>
          <p:cNvSpPr/>
          <p:nvPr/>
        </p:nvSpPr>
        <p:spPr>
          <a:xfrm>
            <a:off x="685800" y="3538728"/>
            <a:ext cx="4892040" cy="365760"/>
          </a:xfrm>
          <a:prstGeom prst="rect">
            <a:avLst/>
          </a:prstGeom>
          <a:noFill/>
          <a:ln/>
        </p:spPr>
        <p:txBody>
          <a:bodyPr wrap="square" rtlCol="0" anchor="ctr"/>
          <a:lstStyle/>
          <a:p>
            <a:pPr marL="0" indent="0">
              <a:buNone/>
            </a:pPr>
            <a:r>
              <a:rPr lang="en-US" sz="1350" b="1" dirty="0">
                <a:solidFill>
                  <a:srgbClr val="5B21B6"/>
                </a:solidFill>
                <a:latin typeface="Calibri" pitchFamily="34" charset="0"/>
                <a:ea typeface="Calibri" pitchFamily="34" charset="-122"/>
                <a:cs typeface="Calibri" pitchFamily="34" charset="-120"/>
              </a:rPr>
              <a:t>Auto-termination</a:t>
            </a:r>
            <a:endParaRPr lang="en-US" sz="1350" dirty="0"/>
          </a:p>
        </p:txBody>
      </p:sp>
      <p:sp>
        <p:nvSpPr>
          <p:cNvPr id="13" name="Text 11"/>
          <p:cNvSpPr/>
          <p:nvPr/>
        </p:nvSpPr>
        <p:spPr>
          <a:xfrm>
            <a:off x="685800" y="3931920"/>
            <a:ext cx="4892040" cy="73152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Configura siempre un tiempo de inactividad máximo (ej. 30-60 min).</a:t>
            </a:r>
            <a:endParaRPr lang="en-US" sz="1150" dirty="0"/>
          </a:p>
        </p:txBody>
      </p:sp>
      <p:sp>
        <p:nvSpPr>
          <p:cNvPr id="14" name="Shape 12"/>
          <p:cNvSpPr/>
          <p:nvPr/>
        </p:nvSpPr>
        <p:spPr>
          <a:xfrm>
            <a:off x="6080760" y="3429000"/>
            <a:ext cx="5349240" cy="1280160"/>
          </a:xfrm>
          <a:prstGeom prst="roundRect">
            <a:avLst>
              <a:gd name="adj" fmla="val 857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5" name="Text 13"/>
          <p:cNvSpPr/>
          <p:nvPr/>
        </p:nvSpPr>
        <p:spPr>
          <a:xfrm>
            <a:off x="6309360" y="3538728"/>
            <a:ext cx="4892040" cy="365760"/>
          </a:xfrm>
          <a:prstGeom prst="rect">
            <a:avLst/>
          </a:prstGeom>
          <a:noFill/>
          <a:ln/>
        </p:spPr>
        <p:txBody>
          <a:bodyPr wrap="square" rtlCol="0" anchor="ctr"/>
          <a:lstStyle/>
          <a:p>
            <a:pPr marL="0" indent="0">
              <a:buNone/>
            </a:pPr>
            <a:r>
              <a:rPr lang="en-US" sz="1350" b="1" dirty="0">
                <a:solidFill>
                  <a:srgbClr val="5B21B6"/>
                </a:solidFill>
                <a:latin typeface="Calibri" pitchFamily="34" charset="0"/>
                <a:ea typeface="Calibri" pitchFamily="34" charset="-122"/>
                <a:cs typeface="Calibri" pitchFamily="34" charset="-120"/>
              </a:rPr>
              <a:t>Versiona con Repos</a:t>
            </a:r>
            <a:endParaRPr lang="en-US" sz="1350" dirty="0"/>
          </a:p>
        </p:txBody>
      </p:sp>
      <p:sp>
        <p:nvSpPr>
          <p:cNvPr id="16" name="Text 14"/>
          <p:cNvSpPr/>
          <p:nvPr/>
        </p:nvSpPr>
        <p:spPr>
          <a:xfrm>
            <a:off x="6309360" y="3931920"/>
            <a:ext cx="4892040" cy="73152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Todo notebook de producción debe vivir en un repositorio Git, no solo en el Workspace.</a:t>
            </a:r>
            <a:endParaRPr lang="en-US" sz="1150" dirty="0"/>
          </a:p>
        </p:txBody>
      </p:sp>
      <p:sp>
        <p:nvSpPr>
          <p:cNvPr id="17" name="Shape 15"/>
          <p:cNvSpPr/>
          <p:nvPr/>
        </p:nvSpPr>
        <p:spPr>
          <a:xfrm>
            <a:off x="457200" y="4892040"/>
            <a:ext cx="5349240" cy="1280160"/>
          </a:xfrm>
          <a:prstGeom prst="roundRect">
            <a:avLst>
              <a:gd name="adj" fmla="val 857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18" name="Text 16"/>
          <p:cNvSpPr/>
          <p:nvPr/>
        </p:nvSpPr>
        <p:spPr>
          <a:xfrm>
            <a:off x="685800" y="5001768"/>
            <a:ext cx="4892040" cy="365760"/>
          </a:xfrm>
          <a:prstGeom prst="rect">
            <a:avLst/>
          </a:prstGeom>
          <a:noFill/>
          <a:ln/>
        </p:spPr>
        <p:txBody>
          <a:bodyPr wrap="square" rtlCol="0" anchor="ctr"/>
          <a:lstStyle/>
          <a:p>
            <a:pPr marL="0" indent="0">
              <a:buNone/>
            </a:pPr>
            <a:r>
              <a:rPr lang="en-US" sz="1350" b="1" dirty="0">
                <a:solidFill>
                  <a:srgbClr val="5B21B6"/>
                </a:solidFill>
                <a:latin typeface="Calibri" pitchFamily="34" charset="0"/>
                <a:ea typeface="Calibri" pitchFamily="34" charset="-122"/>
                <a:cs typeface="Calibri" pitchFamily="34" charset="-120"/>
              </a:rPr>
              <a:t>Registra todo con MLflow</a:t>
            </a:r>
            <a:endParaRPr lang="en-US" sz="1350" dirty="0"/>
          </a:p>
        </p:txBody>
      </p:sp>
      <p:sp>
        <p:nvSpPr>
          <p:cNvPr id="19" name="Text 17"/>
          <p:cNvSpPr/>
          <p:nvPr/>
        </p:nvSpPr>
        <p:spPr>
          <a:xfrm>
            <a:off x="685800" y="5394960"/>
            <a:ext cx="4892040" cy="73152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Ningún modelo debe ir a producción sin su run y sus métricas documentadas.</a:t>
            </a:r>
            <a:endParaRPr lang="en-US" sz="1150" dirty="0"/>
          </a:p>
        </p:txBody>
      </p:sp>
      <p:sp>
        <p:nvSpPr>
          <p:cNvPr id="20" name="Shape 18"/>
          <p:cNvSpPr/>
          <p:nvPr/>
        </p:nvSpPr>
        <p:spPr>
          <a:xfrm>
            <a:off x="6080760" y="4892040"/>
            <a:ext cx="5349240" cy="1280160"/>
          </a:xfrm>
          <a:prstGeom prst="roundRect">
            <a:avLst>
              <a:gd name="adj" fmla="val 8571"/>
            </a:avLst>
          </a:prstGeom>
          <a:solidFill>
            <a:srgbClr val="F4F1FB"/>
          </a:solidFill>
          <a:ln/>
          <a:effectLst>
            <a:outerShdw blurRad="76200" dist="38100" dir="5400000" algn="bl" rotWithShape="0">
              <a:srgbClr val="1E0A45">
                <a:alpha val="18000"/>
              </a:srgbClr>
            </a:outerShdw>
          </a:effectLst>
        </p:spPr>
        <p:txBody>
          <a:bodyPr/>
          <a:lstStyle/>
          <a:p>
            <a:endParaRPr lang="es-ES"/>
          </a:p>
        </p:txBody>
      </p:sp>
      <p:sp>
        <p:nvSpPr>
          <p:cNvPr id="21" name="Text 19"/>
          <p:cNvSpPr/>
          <p:nvPr/>
        </p:nvSpPr>
        <p:spPr>
          <a:xfrm>
            <a:off x="6309360" y="5001768"/>
            <a:ext cx="4892040" cy="365760"/>
          </a:xfrm>
          <a:prstGeom prst="rect">
            <a:avLst/>
          </a:prstGeom>
          <a:noFill/>
          <a:ln/>
        </p:spPr>
        <p:txBody>
          <a:bodyPr wrap="square" rtlCol="0" anchor="ctr"/>
          <a:lstStyle/>
          <a:p>
            <a:pPr marL="0" indent="0">
              <a:buNone/>
            </a:pPr>
            <a:r>
              <a:rPr lang="en-US" sz="1350" b="1" dirty="0">
                <a:solidFill>
                  <a:srgbClr val="5B21B6"/>
                </a:solidFill>
                <a:latin typeface="Calibri" pitchFamily="34" charset="0"/>
                <a:ea typeface="Calibri" pitchFamily="34" charset="-122"/>
                <a:cs typeface="Calibri" pitchFamily="34" charset="-120"/>
              </a:rPr>
              <a:t>Revisa antes de promover</a:t>
            </a:r>
            <a:endParaRPr lang="en-US" sz="1350" dirty="0"/>
          </a:p>
        </p:txBody>
      </p:sp>
      <p:sp>
        <p:nvSpPr>
          <p:cNvPr id="22" name="Text 20"/>
          <p:cNvSpPr/>
          <p:nvPr/>
        </p:nvSpPr>
        <p:spPr>
          <a:xfrm>
            <a:off x="6309360" y="5394960"/>
            <a:ext cx="4892040" cy="731520"/>
          </a:xfrm>
          <a:prstGeom prst="rect">
            <a:avLst/>
          </a:prstGeom>
          <a:noFill/>
          <a:ln/>
        </p:spPr>
        <p:txBody>
          <a:bodyPr wrap="square" rtlCol="0" anchor="ctr"/>
          <a:lstStyle/>
          <a:p>
            <a:pPr marL="0" indent="0">
              <a:lnSpc>
                <a:spcPts val="1400"/>
              </a:lnSpc>
              <a:buNone/>
            </a:pPr>
            <a:r>
              <a:rPr lang="en-US" sz="1150" dirty="0">
                <a:solidFill>
                  <a:srgbClr val="6B5B95"/>
                </a:solidFill>
                <a:latin typeface="Calibri" pitchFamily="34" charset="0"/>
                <a:ea typeface="Calibri" pitchFamily="34" charset="-122"/>
                <a:cs typeface="Calibri" pitchFamily="34" charset="-120"/>
              </a:rPr>
              <a:t>El paso a Production en el Registry debe requerir aprobación de otra persona.</a:t>
            </a:r>
            <a:endParaRPr lang="en-US" sz="1150" dirty="0"/>
          </a:p>
        </p:txBody>
      </p:sp>
      <p:sp>
        <p:nvSpPr>
          <p:cNvPr id="23" name="Text 21"/>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6B5B95"/>
                </a:solidFill>
                <a:latin typeface="Calibri" pitchFamily="34" charset="0"/>
                <a:ea typeface="Calibri" pitchFamily="34" charset="-122"/>
                <a:cs typeface="Calibri" pitchFamily="34" charset="-120"/>
              </a:rPr>
              <a:t>DevSeniorCode  |  Máster en IA &amp; Data Science</a:t>
            </a:r>
            <a:endParaRPr lang="en-US" sz="900" dirty="0"/>
          </a:p>
        </p:txBody>
      </p:sp>
      <p:sp>
        <p:nvSpPr>
          <p:cNvPr id="24" name="Text 22"/>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6B5B95"/>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1E0A45"/>
        </a:solidFill>
        <a:effectLst/>
      </p:bgPr>
    </p:bg>
    <p:spTree>
      <p:nvGrpSpPr>
        <p:cNvPr id="1" name=""/>
        <p:cNvGrpSpPr/>
        <p:nvPr/>
      </p:nvGrpSpPr>
      <p:grpSpPr>
        <a:xfrm>
          <a:off x="0" y="0"/>
          <a:ext cx="0" cy="0"/>
          <a:chOff x="0" y="0"/>
          <a:chExt cx="0" cy="0"/>
        </a:xfrm>
      </p:grpSpPr>
      <p:sp>
        <p:nvSpPr>
          <p:cNvPr id="2" name="Text 0"/>
          <p:cNvSpPr/>
          <p:nvPr/>
        </p:nvSpPr>
        <p:spPr>
          <a:xfrm>
            <a:off x="457200" y="274320"/>
            <a:ext cx="3200400" cy="365760"/>
          </a:xfrm>
          <a:prstGeom prst="rect">
            <a:avLst/>
          </a:prstGeom>
          <a:noFill/>
          <a:ln/>
        </p:spPr>
        <p:txBody>
          <a:bodyPr wrap="square" rtlCol="0" anchor="ctr"/>
          <a:lstStyle/>
          <a:p>
            <a:pPr marL="0" indent="0" algn="l">
              <a:buNone/>
            </a:pPr>
            <a:r>
              <a:rPr lang="en-US" sz="1500" b="1" dirty="0">
                <a:solidFill>
                  <a:srgbClr val="FFFFFF"/>
                </a:solidFill>
                <a:latin typeface="Cambria" pitchFamily="34" charset="0"/>
                <a:ea typeface="Cambria" pitchFamily="34" charset="-122"/>
                <a:cs typeface="Cambria" pitchFamily="34" charset="-120"/>
              </a:rPr>
              <a:t>dev</a:t>
            </a:r>
            <a:r>
              <a:rPr lang="en-US" sz="1500" b="1" dirty="0">
                <a:solidFill>
                  <a:srgbClr val="E93DAC"/>
                </a:solidFill>
                <a:latin typeface="Cambria" pitchFamily="34" charset="0"/>
                <a:ea typeface="Cambria" pitchFamily="34" charset="-122"/>
                <a:cs typeface="Cambria" pitchFamily="34" charset="-120"/>
              </a:rPr>
              <a:t>Senior</a:t>
            </a:r>
            <a:r>
              <a:rPr lang="en-US" sz="1500" b="1" dirty="0">
                <a:solidFill>
                  <a:srgbClr val="FFFFFF"/>
                </a:solidFill>
                <a:latin typeface="Cambria" pitchFamily="34" charset="0"/>
                <a:ea typeface="Cambria" pitchFamily="34" charset="-122"/>
                <a:cs typeface="Cambria" pitchFamily="34" charset="-120"/>
              </a:rPr>
              <a:t>Code</a:t>
            </a:r>
            <a:endParaRPr lang="en-US" sz="1500" dirty="0"/>
          </a:p>
        </p:txBody>
      </p:sp>
      <p:sp>
        <p:nvSpPr>
          <p:cNvPr id="3" name="Text 1"/>
          <p:cNvSpPr/>
          <p:nvPr/>
        </p:nvSpPr>
        <p:spPr>
          <a:xfrm>
            <a:off x="457200" y="777240"/>
            <a:ext cx="9144000" cy="320040"/>
          </a:xfrm>
          <a:prstGeom prst="rect">
            <a:avLst/>
          </a:prstGeom>
          <a:noFill/>
          <a:ln/>
        </p:spPr>
        <p:txBody>
          <a:bodyPr wrap="square" rtlCol="0" anchor="ctr"/>
          <a:lstStyle/>
          <a:p>
            <a:pPr marL="0" indent="0">
              <a:buNone/>
            </a:pPr>
            <a:r>
              <a:rPr lang="en-US" sz="1300" b="1" kern="0" spc="200" dirty="0">
                <a:solidFill>
                  <a:srgbClr val="E93DAC"/>
                </a:solidFill>
                <a:latin typeface="Calibri" pitchFamily="34" charset="0"/>
                <a:ea typeface="Calibri" pitchFamily="34" charset="-122"/>
                <a:cs typeface="Calibri" pitchFamily="34" charset="-120"/>
              </a:rPr>
              <a:t>LO QUE APRENDIMOS HOY</a:t>
            </a:r>
            <a:endParaRPr lang="en-US" sz="1300" dirty="0"/>
          </a:p>
        </p:txBody>
      </p:sp>
      <p:sp>
        <p:nvSpPr>
          <p:cNvPr id="4" name="Text 2"/>
          <p:cNvSpPr/>
          <p:nvPr/>
        </p:nvSpPr>
        <p:spPr>
          <a:xfrm>
            <a:off x="457200" y="1051560"/>
            <a:ext cx="112471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Resumen de la clase</a:t>
            </a:r>
            <a:endParaRPr lang="en-US" sz="3200" dirty="0"/>
          </a:p>
        </p:txBody>
      </p:sp>
      <p:sp>
        <p:nvSpPr>
          <p:cNvPr id="5" name="Shape 3"/>
          <p:cNvSpPr/>
          <p:nvPr/>
        </p:nvSpPr>
        <p:spPr>
          <a:xfrm>
            <a:off x="457200" y="1965960"/>
            <a:ext cx="365760" cy="365760"/>
          </a:xfrm>
          <a:prstGeom prst="ellipse">
            <a:avLst/>
          </a:prstGeom>
          <a:solidFill>
            <a:srgbClr val="C026D3"/>
          </a:solidFill>
          <a:ln/>
        </p:spPr>
        <p:txBody>
          <a:bodyPr/>
          <a:lstStyle/>
          <a:p>
            <a:endParaRPr lang="es-ES"/>
          </a:p>
        </p:txBody>
      </p:sp>
      <p:sp>
        <p:nvSpPr>
          <p:cNvPr id="6" name="Text 4"/>
          <p:cNvSpPr/>
          <p:nvPr/>
        </p:nvSpPr>
        <p:spPr>
          <a:xfrm>
            <a:off x="457200" y="196596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051560" y="1938528"/>
            <a:ext cx="10515600" cy="5029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Databricks unifica Data Engineering y Data Science en una arquitectura Lakehouse.</a:t>
            </a:r>
            <a:endParaRPr lang="en-US" sz="1450" dirty="0"/>
          </a:p>
        </p:txBody>
      </p:sp>
      <p:sp>
        <p:nvSpPr>
          <p:cNvPr id="8" name="Shape 6"/>
          <p:cNvSpPr/>
          <p:nvPr/>
        </p:nvSpPr>
        <p:spPr>
          <a:xfrm>
            <a:off x="457200" y="2679192"/>
            <a:ext cx="365760" cy="365760"/>
          </a:xfrm>
          <a:prstGeom prst="ellipse">
            <a:avLst/>
          </a:prstGeom>
          <a:solidFill>
            <a:srgbClr val="C026D3"/>
          </a:solidFill>
          <a:ln/>
        </p:spPr>
        <p:txBody>
          <a:bodyPr/>
          <a:lstStyle/>
          <a:p>
            <a:endParaRPr lang="es-ES"/>
          </a:p>
        </p:txBody>
      </p:sp>
      <p:sp>
        <p:nvSpPr>
          <p:cNvPr id="9" name="Text 7"/>
          <p:cNvSpPr/>
          <p:nvPr/>
        </p:nvSpPr>
        <p:spPr>
          <a:xfrm>
            <a:off x="457200" y="2679192"/>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051560" y="2651760"/>
            <a:ext cx="10515600" cy="5029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Los clusters (all-purpose y job) son el motor de cómputo distribuido con Apache Spark.</a:t>
            </a:r>
            <a:endParaRPr lang="en-US" sz="1450" dirty="0"/>
          </a:p>
        </p:txBody>
      </p:sp>
      <p:sp>
        <p:nvSpPr>
          <p:cNvPr id="11" name="Shape 9"/>
          <p:cNvSpPr/>
          <p:nvPr/>
        </p:nvSpPr>
        <p:spPr>
          <a:xfrm>
            <a:off x="457200" y="3392424"/>
            <a:ext cx="365760" cy="365760"/>
          </a:xfrm>
          <a:prstGeom prst="ellipse">
            <a:avLst/>
          </a:prstGeom>
          <a:solidFill>
            <a:srgbClr val="C026D3"/>
          </a:solidFill>
          <a:ln/>
        </p:spPr>
        <p:txBody>
          <a:bodyPr/>
          <a:lstStyle/>
          <a:p>
            <a:endParaRPr lang="es-ES"/>
          </a:p>
        </p:txBody>
      </p:sp>
      <p:sp>
        <p:nvSpPr>
          <p:cNvPr id="12" name="Text 10"/>
          <p:cNvSpPr/>
          <p:nvPr/>
        </p:nvSpPr>
        <p:spPr>
          <a:xfrm>
            <a:off x="457200" y="3392424"/>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051560" y="3364992"/>
            <a:ext cx="10515600" cy="5029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Los notebooks colaborativos permiten trabajo en equipo en tiempo real, con Git integrado.</a:t>
            </a:r>
            <a:endParaRPr lang="en-US" sz="1450" dirty="0"/>
          </a:p>
        </p:txBody>
      </p:sp>
      <p:sp>
        <p:nvSpPr>
          <p:cNvPr id="14" name="Shape 12"/>
          <p:cNvSpPr/>
          <p:nvPr/>
        </p:nvSpPr>
        <p:spPr>
          <a:xfrm>
            <a:off x="457200" y="4105656"/>
            <a:ext cx="365760" cy="365760"/>
          </a:xfrm>
          <a:prstGeom prst="ellipse">
            <a:avLst/>
          </a:prstGeom>
          <a:solidFill>
            <a:srgbClr val="C026D3"/>
          </a:solidFill>
          <a:ln/>
        </p:spPr>
        <p:txBody>
          <a:bodyPr/>
          <a:lstStyle/>
          <a:p>
            <a:endParaRPr lang="es-ES"/>
          </a:p>
        </p:txBody>
      </p:sp>
      <p:sp>
        <p:nvSpPr>
          <p:cNvPr id="15" name="Text 13"/>
          <p:cNvSpPr/>
          <p:nvPr/>
        </p:nvSpPr>
        <p:spPr>
          <a:xfrm>
            <a:off x="457200" y="4105656"/>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051560" y="4078224"/>
            <a:ext cx="10515600" cy="5029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MLflow Tracking registra parámetros, métricas y artefactos de cada experimento.</a:t>
            </a:r>
            <a:endParaRPr lang="en-US" sz="1450" dirty="0"/>
          </a:p>
        </p:txBody>
      </p:sp>
      <p:sp>
        <p:nvSpPr>
          <p:cNvPr id="17" name="Shape 15"/>
          <p:cNvSpPr/>
          <p:nvPr/>
        </p:nvSpPr>
        <p:spPr>
          <a:xfrm>
            <a:off x="457200" y="4818888"/>
            <a:ext cx="365760" cy="365760"/>
          </a:xfrm>
          <a:prstGeom prst="ellipse">
            <a:avLst/>
          </a:prstGeom>
          <a:solidFill>
            <a:srgbClr val="C026D3"/>
          </a:solidFill>
          <a:ln/>
        </p:spPr>
        <p:txBody>
          <a:bodyPr/>
          <a:lstStyle/>
          <a:p>
            <a:endParaRPr lang="es-ES"/>
          </a:p>
        </p:txBody>
      </p:sp>
      <p:sp>
        <p:nvSpPr>
          <p:cNvPr id="18" name="Text 16"/>
          <p:cNvSpPr/>
          <p:nvPr/>
        </p:nvSpPr>
        <p:spPr>
          <a:xfrm>
            <a:off x="457200" y="481888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051560" y="4791456"/>
            <a:ext cx="10515600" cy="50292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El Model Registry versiona y gobierna el paso de un modelo hacia producción.</a:t>
            </a:r>
            <a:endParaRPr lang="en-US" sz="1450" dirty="0"/>
          </a:p>
        </p:txBody>
      </p:sp>
      <p:sp>
        <p:nvSpPr>
          <p:cNvPr id="20" name="Shape 18"/>
          <p:cNvSpPr/>
          <p:nvPr/>
        </p:nvSpPr>
        <p:spPr>
          <a:xfrm>
            <a:off x="457200" y="5486400"/>
            <a:ext cx="11247120" cy="777240"/>
          </a:xfrm>
          <a:prstGeom prst="roundRect">
            <a:avLst>
              <a:gd name="adj" fmla="val 14118"/>
            </a:avLst>
          </a:prstGeom>
          <a:solidFill>
            <a:srgbClr val="2D0F5E"/>
          </a:solidFill>
          <a:ln/>
          <a:effectLst>
            <a:outerShdw blurRad="76200" dist="38100" dir="5400000" algn="bl" rotWithShape="0">
              <a:srgbClr val="1E0A45">
                <a:alpha val="18000"/>
              </a:srgbClr>
            </a:outerShdw>
          </a:effectLst>
        </p:spPr>
        <p:txBody>
          <a:bodyPr/>
          <a:lstStyle/>
          <a:p>
            <a:endParaRPr lang="es-ES"/>
          </a:p>
        </p:txBody>
      </p:sp>
      <p:sp>
        <p:nvSpPr>
          <p:cNvPr id="21" name="Text 19"/>
          <p:cNvSpPr/>
          <p:nvPr/>
        </p:nvSpPr>
        <p:spPr>
          <a:xfrm>
            <a:off x="685800" y="5486400"/>
            <a:ext cx="10789920" cy="777240"/>
          </a:xfrm>
          <a:prstGeom prst="rect">
            <a:avLst/>
          </a:prstGeom>
          <a:noFill/>
          <a:ln/>
        </p:spPr>
        <p:txBody>
          <a:bodyPr wrap="square" rtlCol="0" anchor="ctr"/>
          <a:lstStyle/>
          <a:p>
            <a:pPr marL="0" indent="0">
              <a:buNone/>
            </a:pPr>
            <a:r>
              <a:rPr lang="en-US" sz="1250" i="1" dirty="0">
                <a:solidFill>
                  <a:srgbClr val="F1ECFB"/>
                </a:solidFill>
                <a:latin typeface="Calibri" pitchFamily="34" charset="0"/>
                <a:ea typeface="Calibri" pitchFamily="34" charset="-122"/>
                <a:cs typeface="Calibri" pitchFamily="34" charset="-120"/>
              </a:rPr>
              <a:t>Próxima clase: Laboratorio Práctico Dirigido — Proyecto Final Independiente, integrando Databricks + un modelo de ML/DL o NLP + MLflow.</a:t>
            </a:r>
            <a:endParaRPr lang="en-US" sz="1250" dirty="0"/>
          </a:p>
        </p:txBody>
      </p:sp>
      <p:sp>
        <p:nvSpPr>
          <p:cNvPr id="22" name="Text 20"/>
          <p:cNvSpPr/>
          <p:nvPr/>
        </p:nvSpPr>
        <p:spPr>
          <a:xfrm>
            <a:off x="457200" y="6473952"/>
            <a:ext cx="7315200" cy="292608"/>
          </a:xfrm>
          <a:prstGeom prst="rect">
            <a:avLst/>
          </a:prstGeom>
          <a:noFill/>
          <a:ln/>
        </p:spPr>
        <p:txBody>
          <a:bodyPr wrap="square" rtlCol="0" anchor="ctr"/>
          <a:lstStyle/>
          <a:p>
            <a:pPr marL="0" indent="0" algn="l">
              <a:buNone/>
            </a:pPr>
            <a:r>
              <a:rPr lang="en-US" sz="900" dirty="0">
                <a:solidFill>
                  <a:srgbClr val="B8A9E0"/>
                </a:solidFill>
                <a:latin typeface="Calibri" pitchFamily="34" charset="0"/>
                <a:ea typeface="Calibri" pitchFamily="34" charset="-122"/>
                <a:cs typeface="Calibri" pitchFamily="34" charset="-120"/>
              </a:rPr>
              <a:t>DevSeniorCode  |  Máster en IA &amp; Data Science</a:t>
            </a:r>
            <a:endParaRPr lang="en-US" sz="900" dirty="0"/>
          </a:p>
        </p:txBody>
      </p:sp>
      <p:sp>
        <p:nvSpPr>
          <p:cNvPr id="23" name="Text 21"/>
          <p:cNvSpPr/>
          <p:nvPr/>
        </p:nvSpPr>
        <p:spPr>
          <a:xfrm>
            <a:off x="11338560" y="6473952"/>
            <a:ext cx="365760" cy="292608"/>
          </a:xfrm>
          <a:prstGeom prst="rect">
            <a:avLst/>
          </a:prstGeom>
          <a:noFill/>
          <a:ln/>
        </p:spPr>
        <p:txBody>
          <a:bodyPr wrap="square" rtlCol="0" anchor="ctr"/>
          <a:lstStyle/>
          <a:p>
            <a:pPr marL="0" indent="0" algn="r">
              <a:buNone/>
            </a:pPr>
            <a:r>
              <a:rPr lang="en-US" sz="900" dirty="0">
                <a:solidFill>
                  <a:srgbClr val="B8A9E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E0A45"/>
        </a:solidFill>
        <a:effectLst/>
      </p:bgPr>
    </p:bg>
    <p:spTree>
      <p:nvGrpSpPr>
        <p:cNvPr id="1" name=""/>
        <p:cNvGrpSpPr/>
        <p:nvPr/>
      </p:nvGrpSpPr>
      <p:grpSpPr>
        <a:xfrm>
          <a:off x="0" y="0"/>
          <a:ext cx="0" cy="0"/>
          <a:chOff x="0" y="0"/>
          <a:chExt cx="0" cy="0"/>
        </a:xfrm>
      </p:grpSpPr>
      <p:sp>
        <p:nvSpPr>
          <p:cNvPr id="2" name="Shape 0"/>
          <p:cNvSpPr/>
          <p:nvPr/>
        </p:nvSpPr>
        <p:spPr>
          <a:xfrm>
            <a:off x="8412480" y="-1371600"/>
            <a:ext cx="5486400" cy="5486400"/>
          </a:xfrm>
          <a:prstGeom prst="ellipse">
            <a:avLst/>
          </a:prstGeom>
          <a:solidFill>
            <a:srgbClr val="C026D3">
              <a:alpha val="45000"/>
            </a:srgbClr>
          </a:solidFill>
          <a:ln/>
        </p:spPr>
        <p:txBody>
          <a:bodyPr/>
          <a:lstStyle/>
          <a:p>
            <a:endParaRPr lang="es-ES"/>
          </a:p>
        </p:txBody>
      </p:sp>
      <p:sp>
        <p:nvSpPr>
          <p:cNvPr id="3" name="Shape 1"/>
          <p:cNvSpPr/>
          <p:nvPr/>
        </p:nvSpPr>
        <p:spPr>
          <a:xfrm>
            <a:off x="-1371600" y="4114800"/>
            <a:ext cx="4572000" cy="4572000"/>
          </a:xfrm>
          <a:prstGeom prst="ellipse">
            <a:avLst/>
          </a:prstGeom>
          <a:solidFill>
            <a:srgbClr val="5B21B6">
              <a:alpha val="45000"/>
            </a:srgbClr>
          </a:solidFill>
          <a:ln/>
        </p:spPr>
        <p:txBody>
          <a:bodyPr/>
          <a:lstStyle/>
          <a:p>
            <a:endParaRPr lang="es-ES"/>
          </a:p>
        </p:txBody>
      </p:sp>
      <p:sp>
        <p:nvSpPr>
          <p:cNvPr id="4" name="Text 2"/>
          <p:cNvSpPr/>
          <p:nvPr/>
        </p:nvSpPr>
        <p:spPr>
          <a:xfrm>
            <a:off x="457200" y="2377440"/>
            <a:ext cx="7315200" cy="640080"/>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dev</a:t>
            </a:r>
            <a:r>
              <a:rPr lang="en-US" sz="2800" b="1" dirty="0">
                <a:solidFill>
                  <a:srgbClr val="E93DAC"/>
                </a:solidFill>
                <a:latin typeface="Cambria" pitchFamily="34" charset="0"/>
                <a:ea typeface="Cambria" pitchFamily="34" charset="-122"/>
                <a:cs typeface="Cambria" pitchFamily="34" charset="-120"/>
              </a:rPr>
              <a:t>Senior</a:t>
            </a:r>
            <a:r>
              <a:rPr lang="en-US" sz="2800" b="1" dirty="0">
                <a:solidFill>
                  <a:srgbClr val="FFFFFF"/>
                </a:solidFill>
                <a:latin typeface="Cambria" pitchFamily="34" charset="0"/>
                <a:ea typeface="Cambria" pitchFamily="34" charset="-122"/>
                <a:cs typeface="Cambria" pitchFamily="34" charset="-120"/>
              </a:rPr>
              <a:t>Code</a:t>
            </a:r>
            <a:endParaRPr lang="en-US" sz="2800" dirty="0"/>
          </a:p>
        </p:txBody>
      </p:sp>
      <p:sp>
        <p:nvSpPr>
          <p:cNvPr id="5" name="Text 3"/>
          <p:cNvSpPr/>
          <p:nvPr/>
        </p:nvSpPr>
        <p:spPr>
          <a:xfrm>
            <a:off x="457200" y="3017520"/>
            <a:ext cx="9144000" cy="8229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¡Gracias por tu atención!</a:t>
            </a:r>
            <a:endParaRPr lang="en-US" sz="3600" dirty="0"/>
          </a:p>
        </p:txBody>
      </p:sp>
      <p:sp>
        <p:nvSpPr>
          <p:cNvPr id="6" name="Text 4"/>
          <p:cNvSpPr/>
          <p:nvPr/>
        </p:nvSpPr>
        <p:spPr>
          <a:xfrm>
            <a:off x="457200" y="3794760"/>
            <a:ext cx="8229600" cy="457200"/>
          </a:xfrm>
          <a:prstGeom prst="rect">
            <a:avLst/>
          </a:prstGeom>
          <a:noFill/>
          <a:ln/>
        </p:spPr>
        <p:txBody>
          <a:bodyPr wrap="square" rtlCol="0" anchor="ctr"/>
          <a:lstStyle/>
          <a:p>
            <a:pPr marL="0" indent="0">
              <a:buNone/>
            </a:pPr>
            <a:r>
              <a:rPr lang="en-US" sz="1500" i="1" dirty="0">
                <a:solidFill>
                  <a:srgbClr val="F1ECFB"/>
                </a:solidFill>
                <a:latin typeface="Calibri" pitchFamily="34" charset="0"/>
                <a:ea typeface="Calibri" pitchFamily="34" charset="-122"/>
                <a:cs typeface="Calibri" pitchFamily="34" charset="-120"/>
              </a:rPr>
              <a:t>Preguntas, dudas y próximos pasos del Proyecto Final del Máster</a:t>
            </a:r>
            <a:endParaRPr lang="en-US" sz="1500" dirty="0"/>
          </a:p>
        </p:txBody>
      </p:sp>
      <p:sp>
        <p:nvSpPr>
          <p:cNvPr id="7" name="Text 5"/>
          <p:cNvSpPr/>
          <p:nvPr/>
        </p:nvSpPr>
        <p:spPr>
          <a:xfrm>
            <a:off x="457200" y="6035040"/>
            <a:ext cx="10058400" cy="365760"/>
          </a:xfrm>
          <a:prstGeom prst="rect">
            <a:avLst/>
          </a:prstGeom>
          <a:noFill/>
          <a:ln/>
        </p:spPr>
        <p:txBody>
          <a:bodyPr wrap="square" rtlCol="0" anchor="ctr"/>
          <a:lstStyle/>
          <a:p>
            <a:pPr marL="0" indent="0">
              <a:buNone/>
            </a:pPr>
            <a:r>
              <a:rPr lang="en-US" sz="1300" dirty="0">
                <a:solidFill>
                  <a:srgbClr val="F1ECFB"/>
                </a:solidFill>
                <a:latin typeface="Calibri" pitchFamily="34" charset="0"/>
                <a:ea typeface="Calibri" pitchFamily="34" charset="-122"/>
                <a:cs typeface="Calibri" pitchFamily="34" charset="-120"/>
              </a:rPr>
              <a:t>www.devseniorcode.com   |   Academy@devseniorcode.com   |   @devseniorcode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TotalTime>
  <Words>2961</Words>
  <Application>Microsoft Office PowerPoint</Application>
  <PresentationFormat>Panorámica</PresentationFormat>
  <Paragraphs>485</Paragraphs>
  <Slides>30</Slides>
  <Notes>30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30</vt:i4>
      </vt:variant>
    </vt:vector>
  </HeadingPairs>
  <TitlesOfParts>
    <vt:vector size="35"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DevSeniorCode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DevSeniorCode</dc:creator>
  <cp:lastModifiedBy>Juan David Triana Turmeque</cp:lastModifiedBy>
  <cp:revision>2</cp:revision>
  <dcterms:created xsi:type="dcterms:W3CDTF">2026-08-09T22:30:14Z</dcterms:created>
  <dcterms:modified xsi:type="dcterms:W3CDTF">2026-08-10T01:47:36Z</dcterms:modified>
</cp:coreProperties>
</file>