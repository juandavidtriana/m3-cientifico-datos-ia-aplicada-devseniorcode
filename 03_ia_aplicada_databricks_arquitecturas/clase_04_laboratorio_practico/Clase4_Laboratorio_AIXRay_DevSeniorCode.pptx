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9"/>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82C40"/>
          </a:solidFill>
          <a:ln/>
        </p:spPr>
      </p:sp>
      <p:sp>
        <p:nvSpPr>
          <p:cNvPr id="3" name="Shape 1"/>
          <p:cNvSpPr/>
          <p:nvPr/>
        </p:nvSpPr>
        <p:spPr>
          <a:xfrm>
            <a:off x="10424160" y="3291840"/>
            <a:ext cx="3840480" cy="3840480"/>
          </a:xfrm>
          <a:prstGeom prst="ellipse">
            <a:avLst/>
          </a:prstGeom>
          <a:solidFill>
            <a:srgbClr val="1C7293">
              <a:alpha val="22000"/>
            </a:srgbClr>
          </a:solidFill>
          <a:ln/>
        </p:spPr>
      </p:sp>
      <p:sp>
        <p:nvSpPr>
          <p:cNvPr id="4" name="Text 2"/>
          <p:cNvSpPr/>
          <p:nvPr/>
        </p:nvSpPr>
        <p:spPr>
          <a:xfrm>
            <a:off x="640080" y="640080"/>
            <a:ext cx="8229600" cy="365760"/>
          </a:xfrm>
          <a:prstGeom prst="rect">
            <a:avLst/>
          </a:prstGeom>
          <a:noFill/>
          <a:ln/>
        </p:spPr>
        <p:txBody>
          <a:bodyPr wrap="square" rtlCol="0" anchor="ctr"/>
          <a:lstStyle/>
          <a:p>
            <a:pPr indent="0" marL="0">
              <a:buNone/>
            </a:pPr>
            <a:r>
              <a:rPr lang="en-US" sz="1300" b="1" spc="200" kern="0" dirty="0">
                <a:solidFill>
                  <a:srgbClr val="4FB6C8"/>
                </a:solidFill>
                <a:latin typeface="Calibri" pitchFamily="34" charset="0"/>
                <a:ea typeface="Calibri" pitchFamily="34" charset="-122"/>
                <a:cs typeface="Calibri" pitchFamily="34" charset="-120"/>
              </a:rPr>
              <a:t>MÁSTER EN INTELIGENCIA ARTIFICIAL &amp; DATA SCIENCE</a:t>
            </a:r>
            <a:endParaRPr lang="en-US" sz="1300" dirty="0"/>
          </a:p>
        </p:txBody>
      </p:sp>
      <p:sp>
        <p:nvSpPr>
          <p:cNvPr id="5" name="Text 3"/>
          <p:cNvSpPr/>
          <p:nvPr/>
        </p:nvSpPr>
        <p:spPr>
          <a:xfrm>
            <a:off x="640080" y="1051560"/>
            <a:ext cx="8229600" cy="365760"/>
          </a:xfrm>
          <a:prstGeom prst="rect">
            <a:avLst/>
          </a:prstGeom>
          <a:noFill/>
          <a:ln/>
        </p:spPr>
        <p:txBody>
          <a:bodyPr wrap="square" rtlCol="0" anchor="ctr"/>
          <a:lstStyle/>
          <a:p>
            <a:pPr indent="0" marL="0">
              <a:buNone/>
            </a:pPr>
            <a:r>
              <a:rPr lang="en-US" sz="1300" dirty="0">
                <a:solidFill>
                  <a:srgbClr val="AFC6D2"/>
                </a:solidFill>
                <a:latin typeface="Calibri" pitchFamily="34" charset="0"/>
                <a:ea typeface="Calibri" pitchFamily="34" charset="-122"/>
                <a:cs typeface="Calibri" pitchFamily="34" charset="-120"/>
              </a:rPr>
              <a:t>Módulo 3 · Unidad 3 · Clase 4</a:t>
            </a:r>
            <a:endParaRPr lang="en-US" sz="1300" dirty="0"/>
          </a:p>
        </p:txBody>
      </p:sp>
      <p:sp>
        <p:nvSpPr>
          <p:cNvPr id="6" name="Text 4"/>
          <p:cNvSpPr/>
          <p:nvPr/>
        </p:nvSpPr>
        <p:spPr>
          <a:xfrm>
            <a:off x="594360" y="2468880"/>
            <a:ext cx="9601200" cy="9144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Laboratorio Práctico Dirigido</a:t>
            </a:r>
            <a:endParaRPr lang="en-US" sz="4400" dirty="0"/>
          </a:p>
        </p:txBody>
      </p:sp>
      <p:sp>
        <p:nvSpPr>
          <p:cNvPr id="7" name="Text 5"/>
          <p:cNvSpPr/>
          <p:nvPr/>
        </p:nvSpPr>
        <p:spPr>
          <a:xfrm>
            <a:off x="594360" y="3429000"/>
            <a:ext cx="9692640" cy="731520"/>
          </a:xfrm>
          <a:prstGeom prst="rect">
            <a:avLst/>
          </a:prstGeom>
          <a:noFill/>
          <a:ln/>
        </p:spPr>
        <p:txBody>
          <a:bodyPr wrap="square" rtlCol="0" anchor="ctr"/>
          <a:lstStyle/>
          <a:p>
            <a:pPr indent="0" marL="0">
              <a:buNone/>
            </a:pPr>
            <a:r>
              <a:rPr lang="en-US" sz="1800" b="1" dirty="0">
                <a:solidFill>
                  <a:srgbClr val="4FB6C8"/>
                </a:solidFill>
                <a:latin typeface="Calibri" pitchFamily="34" charset="0"/>
                <a:ea typeface="Calibri" pitchFamily="34" charset="-122"/>
                <a:cs typeface="Calibri" pitchFamily="34" charset="-120"/>
              </a:rPr>
              <a:t>AI-XRay</a:t>
            </a:r>
            <a:pPr indent="0" marL="0">
              <a:buNone/>
            </a:pPr>
            <a:r>
              <a:rPr lang="en-US" sz="1800" dirty="0">
                <a:solidFill>
                  <a:srgbClr val="D7E4EA"/>
                </a:solidFill>
                <a:latin typeface="Calibri" pitchFamily="34" charset="0"/>
                <a:ea typeface="Calibri" pitchFamily="34" charset="-122"/>
                <a:cs typeface="Calibri" pitchFamily="34" charset="-120"/>
              </a:rPr>
              <a:t>  —  clasificación de radiografías con CNN + Transfer Learning, MLflow y una API de inferencia</a:t>
            </a:r>
            <a:endParaRPr lang="en-US" sz="1800" dirty="0"/>
          </a:p>
        </p:txBody>
      </p:sp>
      <p:sp>
        <p:nvSpPr>
          <p:cNvPr id="8" name="Shape 6"/>
          <p:cNvSpPr/>
          <p:nvPr/>
        </p:nvSpPr>
        <p:spPr>
          <a:xfrm>
            <a:off x="594360" y="5806440"/>
            <a:ext cx="4206240" cy="18288"/>
          </a:xfrm>
          <a:prstGeom prst="rect">
            <a:avLst/>
          </a:prstGeom>
          <a:solidFill>
            <a:srgbClr val="2E5670"/>
          </a:solidFill>
          <a:ln/>
        </p:spPr>
      </p:sp>
      <p:sp>
        <p:nvSpPr>
          <p:cNvPr id="9" name="Text 7"/>
          <p:cNvSpPr/>
          <p:nvPr/>
        </p:nvSpPr>
        <p:spPr>
          <a:xfrm>
            <a:off x="594360" y="5943600"/>
            <a:ext cx="4572000" cy="365760"/>
          </a:xfrm>
          <a:prstGeom prst="rect">
            <a:avLst/>
          </a:prstGeom>
          <a:noFill/>
          <a:ln/>
        </p:spPr>
        <p:txBody>
          <a:bodyPr wrap="square" rtlCol="0" anchor="ctr"/>
          <a:lstStyle/>
          <a:p>
            <a:pPr indent="0" marL="0">
              <a:buNone/>
            </a:pPr>
            <a:r>
              <a:rPr lang="en-US" sz="1300" dirty="0">
                <a:solidFill>
                  <a:srgbClr val="9FB6C4"/>
                </a:solidFill>
                <a:latin typeface="Calibri" pitchFamily="34" charset="0"/>
                <a:ea typeface="Calibri" pitchFamily="34" charset="-122"/>
                <a:cs typeface="Calibri" pitchFamily="34" charset="-120"/>
              </a:rPr>
              <a:t>Proyecto Final Independiente</a:t>
            </a:r>
            <a:endParaRPr lang="en-US" sz="1300" dirty="0"/>
          </a:p>
        </p:txBody>
      </p:sp>
      <p:sp>
        <p:nvSpPr>
          <p:cNvPr id="10" name="Text 8"/>
          <p:cNvSpPr/>
          <p:nvPr/>
        </p:nvSpPr>
        <p:spPr>
          <a:xfrm>
            <a:off x="9692640" y="6263640"/>
            <a:ext cx="2011680" cy="320040"/>
          </a:xfrm>
          <a:prstGeom prst="rect">
            <a:avLst/>
          </a:prstGeom>
          <a:noFill/>
          <a:ln/>
        </p:spPr>
        <p:txBody>
          <a:bodyPr wrap="square" rtlCol="0" anchor="ctr"/>
          <a:lstStyle/>
          <a:p>
            <a:pPr algn="r" indent="0" marL="0">
              <a:buNone/>
            </a:pPr>
            <a:r>
              <a:rPr lang="en-US" sz="1200" dirty="0">
                <a:solidFill>
                  <a:srgbClr val="6E92A6"/>
                </a:solidFill>
                <a:latin typeface="Calibri" pitchFamily="34" charset="0"/>
                <a:ea typeface="Calibri" pitchFamily="34" charset="-122"/>
                <a:cs typeface="Calibri" pitchFamily="34" charset="-120"/>
              </a:rPr>
              <a:t>devSeniorCode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HOJA DE RUTA DE LA CLASE</a:t>
            </a:r>
            <a:endParaRPr lang="en-US" sz="1200" dirty="0"/>
          </a:p>
        </p:txBody>
      </p:sp>
      <p:sp>
        <p:nvSpPr>
          <p:cNvPr id="3" name="Text 1"/>
          <p:cNvSpPr/>
          <p:nvPr/>
        </p:nvSpPr>
        <p:spPr>
          <a:xfrm>
            <a:off x="548640" y="685800"/>
            <a:ext cx="7315200" cy="640080"/>
          </a:xfrm>
          <a:prstGeom prst="rect">
            <a:avLst/>
          </a:prstGeom>
          <a:noFill/>
          <a:ln/>
        </p:spPr>
        <p:txBody>
          <a:bodyPr wrap="square"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Agenda</a:t>
            </a:r>
            <a:endParaRPr lang="en-US" sz="3200" dirty="0"/>
          </a:p>
        </p:txBody>
      </p:sp>
      <p:sp>
        <p:nvSpPr>
          <p:cNvPr id="4" name="Shape 2"/>
          <p:cNvSpPr/>
          <p:nvPr/>
        </p:nvSpPr>
        <p:spPr>
          <a:xfrm>
            <a:off x="548640" y="1600200"/>
            <a:ext cx="457200" cy="457200"/>
          </a:xfrm>
          <a:prstGeom prst="ellipse">
            <a:avLst/>
          </a:prstGeom>
          <a:solidFill>
            <a:srgbClr val="0B3D59"/>
          </a:solidFill>
          <a:ln/>
        </p:spPr>
      </p:sp>
      <p:sp>
        <p:nvSpPr>
          <p:cNvPr id="5" name="Text 3"/>
          <p:cNvSpPr/>
          <p:nvPr/>
        </p:nvSpPr>
        <p:spPr>
          <a:xfrm>
            <a:off x="548640" y="160020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1234440" y="1581912"/>
            <a:ext cx="8503920" cy="457200"/>
          </a:xfrm>
          <a:prstGeom prst="rect">
            <a:avLst/>
          </a:prstGeom>
          <a:noFill/>
          <a:ln/>
        </p:spPr>
        <p:txBody>
          <a:bodyPr wrap="square" rtlCol="0" anchor="ctr"/>
          <a:lstStyle/>
          <a:p>
            <a:pPr indent="0" marL="0">
              <a:buNone/>
            </a:pPr>
            <a:r>
              <a:rPr lang="en-US" sz="1600" dirty="0">
                <a:solidFill>
                  <a:srgbClr val="1F2933"/>
                </a:solidFill>
                <a:latin typeface="Calibri" pitchFamily="34" charset="0"/>
                <a:ea typeface="Calibri" pitchFamily="34" charset="-122"/>
                <a:cs typeface="Calibri" pitchFamily="34" charset="-120"/>
              </a:rPr>
              <a:t>Conexión con lo aprendido y objetivos</a:t>
            </a:r>
            <a:endParaRPr lang="en-US" sz="1600" dirty="0"/>
          </a:p>
        </p:txBody>
      </p:sp>
      <p:sp>
        <p:nvSpPr>
          <p:cNvPr id="7" name="Text 5"/>
          <p:cNvSpPr/>
          <p:nvPr/>
        </p:nvSpPr>
        <p:spPr>
          <a:xfrm>
            <a:off x="9966960" y="1581912"/>
            <a:ext cx="1645920" cy="457200"/>
          </a:xfrm>
          <a:prstGeom prst="rect">
            <a:avLst/>
          </a:prstGeom>
          <a:noFill/>
          <a:ln/>
        </p:spPr>
        <p:txBody>
          <a:bodyPr wrap="square" rtlCol="0" anchor="ctr"/>
          <a:lstStyle/>
          <a:p>
            <a:pPr algn="r" indent="0" marL="0">
              <a:buNone/>
            </a:pPr>
            <a:r>
              <a:rPr lang="en-US" sz="1400" dirty="0">
                <a:solidFill>
                  <a:srgbClr val="5B6B73"/>
                </a:solidFill>
                <a:latin typeface="Calibri" pitchFamily="34" charset="0"/>
                <a:ea typeface="Calibri" pitchFamily="34" charset="-122"/>
                <a:cs typeface="Calibri" pitchFamily="34" charset="-120"/>
              </a:rPr>
              <a:t>0:00</a:t>
            </a:r>
            <a:endParaRPr lang="en-US" sz="1400" dirty="0"/>
          </a:p>
        </p:txBody>
      </p:sp>
      <p:sp>
        <p:nvSpPr>
          <p:cNvPr id="8" name="Shape 6"/>
          <p:cNvSpPr/>
          <p:nvPr/>
        </p:nvSpPr>
        <p:spPr>
          <a:xfrm>
            <a:off x="548640" y="2221992"/>
            <a:ext cx="457200" cy="457200"/>
          </a:xfrm>
          <a:prstGeom prst="ellipse">
            <a:avLst/>
          </a:prstGeom>
          <a:solidFill>
            <a:srgbClr val="0B3D59"/>
          </a:solidFill>
          <a:ln/>
        </p:spPr>
      </p:sp>
      <p:sp>
        <p:nvSpPr>
          <p:cNvPr id="9" name="Text 7"/>
          <p:cNvSpPr/>
          <p:nvPr/>
        </p:nvSpPr>
        <p:spPr>
          <a:xfrm>
            <a:off x="548640" y="2221992"/>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0" name="Text 8"/>
          <p:cNvSpPr/>
          <p:nvPr/>
        </p:nvSpPr>
        <p:spPr>
          <a:xfrm>
            <a:off x="1234440" y="2203704"/>
            <a:ext cx="8503920" cy="457200"/>
          </a:xfrm>
          <a:prstGeom prst="rect">
            <a:avLst/>
          </a:prstGeom>
          <a:noFill/>
          <a:ln/>
        </p:spPr>
        <p:txBody>
          <a:bodyPr wrap="square" rtlCol="0" anchor="ctr"/>
          <a:lstStyle/>
          <a:p>
            <a:pPr indent="0" marL="0">
              <a:buNone/>
            </a:pPr>
            <a:r>
              <a:rPr lang="en-US" sz="1600" dirty="0">
                <a:solidFill>
                  <a:srgbClr val="1F2933"/>
                </a:solidFill>
                <a:latin typeface="Calibri" pitchFamily="34" charset="0"/>
                <a:ea typeface="Calibri" pitchFamily="34" charset="-122"/>
                <a:cs typeface="Calibri" pitchFamily="34" charset="-120"/>
              </a:rPr>
              <a:t>El reto: AI-XRay de punta a punta</a:t>
            </a:r>
            <a:endParaRPr lang="en-US" sz="1600" dirty="0"/>
          </a:p>
        </p:txBody>
      </p:sp>
      <p:sp>
        <p:nvSpPr>
          <p:cNvPr id="11" name="Text 9"/>
          <p:cNvSpPr/>
          <p:nvPr/>
        </p:nvSpPr>
        <p:spPr>
          <a:xfrm>
            <a:off x="9966960" y="2203704"/>
            <a:ext cx="1645920" cy="457200"/>
          </a:xfrm>
          <a:prstGeom prst="rect">
            <a:avLst/>
          </a:prstGeom>
          <a:noFill/>
          <a:ln/>
        </p:spPr>
        <p:txBody>
          <a:bodyPr wrap="square" rtlCol="0" anchor="ctr"/>
          <a:lstStyle/>
          <a:p>
            <a:pPr algn="r" indent="0" marL="0">
              <a:buNone/>
            </a:pPr>
            <a:r>
              <a:rPr lang="en-US" sz="1400" dirty="0">
                <a:solidFill>
                  <a:srgbClr val="5B6B73"/>
                </a:solidFill>
                <a:latin typeface="Calibri" pitchFamily="34" charset="0"/>
                <a:ea typeface="Calibri" pitchFamily="34" charset="-122"/>
                <a:cs typeface="Calibri" pitchFamily="34" charset="-120"/>
              </a:rPr>
              <a:t>0:15</a:t>
            </a:r>
            <a:endParaRPr lang="en-US" sz="1400" dirty="0"/>
          </a:p>
        </p:txBody>
      </p:sp>
      <p:sp>
        <p:nvSpPr>
          <p:cNvPr id="12" name="Shape 10"/>
          <p:cNvSpPr/>
          <p:nvPr/>
        </p:nvSpPr>
        <p:spPr>
          <a:xfrm>
            <a:off x="548640" y="2843784"/>
            <a:ext cx="457200" cy="457200"/>
          </a:xfrm>
          <a:prstGeom prst="ellipse">
            <a:avLst/>
          </a:prstGeom>
          <a:solidFill>
            <a:srgbClr val="0B3D59"/>
          </a:solidFill>
          <a:ln/>
        </p:spPr>
      </p:sp>
      <p:sp>
        <p:nvSpPr>
          <p:cNvPr id="13" name="Text 11"/>
          <p:cNvSpPr/>
          <p:nvPr/>
        </p:nvSpPr>
        <p:spPr>
          <a:xfrm>
            <a:off x="548640" y="2843784"/>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4" name="Text 12"/>
          <p:cNvSpPr/>
          <p:nvPr/>
        </p:nvSpPr>
        <p:spPr>
          <a:xfrm>
            <a:off x="1234440" y="2825496"/>
            <a:ext cx="8503920" cy="457200"/>
          </a:xfrm>
          <a:prstGeom prst="rect">
            <a:avLst/>
          </a:prstGeom>
          <a:noFill/>
          <a:ln/>
        </p:spPr>
        <p:txBody>
          <a:bodyPr wrap="square" rtlCol="0" anchor="ctr"/>
          <a:lstStyle/>
          <a:p>
            <a:pPr indent="0" marL="0">
              <a:buNone/>
            </a:pPr>
            <a:r>
              <a:rPr lang="en-US" sz="1600" dirty="0">
                <a:solidFill>
                  <a:srgbClr val="1F2933"/>
                </a:solidFill>
                <a:latin typeface="Calibri" pitchFamily="34" charset="0"/>
                <a:ea typeface="Calibri" pitchFamily="34" charset="-122"/>
                <a:cs typeface="Calibri" pitchFamily="34" charset="-120"/>
              </a:rPr>
              <a:t>Manifiesto, EDA y fuga de datos (en vivo)</a:t>
            </a:r>
            <a:endParaRPr lang="en-US" sz="1600" dirty="0"/>
          </a:p>
        </p:txBody>
      </p:sp>
      <p:sp>
        <p:nvSpPr>
          <p:cNvPr id="15" name="Text 13"/>
          <p:cNvSpPr/>
          <p:nvPr/>
        </p:nvSpPr>
        <p:spPr>
          <a:xfrm>
            <a:off x="9966960" y="2825496"/>
            <a:ext cx="1645920" cy="457200"/>
          </a:xfrm>
          <a:prstGeom prst="rect">
            <a:avLst/>
          </a:prstGeom>
          <a:noFill/>
          <a:ln/>
        </p:spPr>
        <p:txBody>
          <a:bodyPr wrap="square" rtlCol="0" anchor="ctr"/>
          <a:lstStyle/>
          <a:p>
            <a:pPr algn="r" indent="0" marL="0">
              <a:buNone/>
            </a:pPr>
            <a:r>
              <a:rPr lang="en-US" sz="1400" dirty="0">
                <a:solidFill>
                  <a:srgbClr val="5B6B73"/>
                </a:solidFill>
                <a:latin typeface="Calibri" pitchFamily="34" charset="0"/>
                <a:ea typeface="Calibri" pitchFamily="34" charset="-122"/>
                <a:cs typeface="Calibri" pitchFamily="34" charset="-120"/>
              </a:rPr>
              <a:t>0:30</a:t>
            </a:r>
            <a:endParaRPr lang="en-US" sz="1400" dirty="0"/>
          </a:p>
        </p:txBody>
      </p:sp>
      <p:sp>
        <p:nvSpPr>
          <p:cNvPr id="16" name="Shape 14"/>
          <p:cNvSpPr/>
          <p:nvPr/>
        </p:nvSpPr>
        <p:spPr>
          <a:xfrm>
            <a:off x="548640" y="3465576"/>
            <a:ext cx="457200" cy="457200"/>
          </a:xfrm>
          <a:prstGeom prst="ellipse">
            <a:avLst/>
          </a:prstGeom>
          <a:solidFill>
            <a:srgbClr val="0B3D59"/>
          </a:solidFill>
          <a:ln/>
        </p:spPr>
      </p:sp>
      <p:sp>
        <p:nvSpPr>
          <p:cNvPr id="17" name="Text 15"/>
          <p:cNvSpPr/>
          <p:nvPr/>
        </p:nvSpPr>
        <p:spPr>
          <a:xfrm>
            <a:off x="548640" y="3465576"/>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18" name="Text 16"/>
          <p:cNvSpPr/>
          <p:nvPr/>
        </p:nvSpPr>
        <p:spPr>
          <a:xfrm>
            <a:off x="1234440" y="3447288"/>
            <a:ext cx="8503920" cy="457200"/>
          </a:xfrm>
          <a:prstGeom prst="rect">
            <a:avLst/>
          </a:prstGeom>
          <a:noFill/>
          <a:ln/>
        </p:spPr>
        <p:txBody>
          <a:bodyPr wrap="square" rtlCol="0" anchor="ctr"/>
          <a:lstStyle/>
          <a:p>
            <a:pPr indent="0" marL="0">
              <a:buNone/>
            </a:pPr>
            <a:r>
              <a:rPr lang="en-US" sz="1600" dirty="0">
                <a:solidFill>
                  <a:srgbClr val="1F2933"/>
                </a:solidFill>
                <a:latin typeface="Calibri" pitchFamily="34" charset="0"/>
                <a:ea typeface="Calibri" pitchFamily="34" charset="-122"/>
                <a:cs typeface="Calibri" pitchFamily="34" charset="-120"/>
              </a:rPr>
              <a:t>Preprocesamiento y arquitectura del modelo</a:t>
            </a:r>
            <a:endParaRPr lang="en-US" sz="1600" dirty="0"/>
          </a:p>
        </p:txBody>
      </p:sp>
      <p:sp>
        <p:nvSpPr>
          <p:cNvPr id="19" name="Text 17"/>
          <p:cNvSpPr/>
          <p:nvPr/>
        </p:nvSpPr>
        <p:spPr>
          <a:xfrm>
            <a:off x="9966960" y="3447288"/>
            <a:ext cx="1645920" cy="457200"/>
          </a:xfrm>
          <a:prstGeom prst="rect">
            <a:avLst/>
          </a:prstGeom>
          <a:noFill/>
          <a:ln/>
        </p:spPr>
        <p:txBody>
          <a:bodyPr wrap="square" rtlCol="0" anchor="ctr"/>
          <a:lstStyle/>
          <a:p>
            <a:pPr algn="r" indent="0" marL="0">
              <a:buNone/>
            </a:pPr>
            <a:r>
              <a:rPr lang="en-US" sz="1400" dirty="0">
                <a:solidFill>
                  <a:srgbClr val="5B6B73"/>
                </a:solidFill>
                <a:latin typeface="Calibri" pitchFamily="34" charset="0"/>
                <a:ea typeface="Calibri" pitchFamily="34" charset="-122"/>
                <a:cs typeface="Calibri" pitchFamily="34" charset="-120"/>
              </a:rPr>
              <a:t>1:15</a:t>
            </a:r>
            <a:endParaRPr lang="en-US" sz="1400" dirty="0"/>
          </a:p>
        </p:txBody>
      </p:sp>
      <p:sp>
        <p:nvSpPr>
          <p:cNvPr id="20" name="Shape 18"/>
          <p:cNvSpPr/>
          <p:nvPr/>
        </p:nvSpPr>
        <p:spPr>
          <a:xfrm>
            <a:off x="548640" y="4087368"/>
            <a:ext cx="457200" cy="457200"/>
          </a:xfrm>
          <a:prstGeom prst="ellipse">
            <a:avLst/>
          </a:prstGeom>
          <a:solidFill>
            <a:srgbClr val="0B3D59"/>
          </a:solidFill>
          <a:ln/>
        </p:spPr>
      </p:sp>
      <p:sp>
        <p:nvSpPr>
          <p:cNvPr id="21" name="Text 19"/>
          <p:cNvSpPr/>
          <p:nvPr/>
        </p:nvSpPr>
        <p:spPr>
          <a:xfrm>
            <a:off x="548640" y="4087368"/>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2" name="Text 20"/>
          <p:cNvSpPr/>
          <p:nvPr/>
        </p:nvSpPr>
        <p:spPr>
          <a:xfrm>
            <a:off x="1234440" y="4069080"/>
            <a:ext cx="8503920" cy="457200"/>
          </a:xfrm>
          <a:prstGeom prst="rect">
            <a:avLst/>
          </a:prstGeom>
          <a:noFill/>
          <a:ln/>
        </p:spPr>
        <p:txBody>
          <a:bodyPr wrap="square" rtlCol="0" anchor="ctr"/>
          <a:lstStyle/>
          <a:p>
            <a:pPr indent="0" marL="0">
              <a:buNone/>
            </a:pPr>
            <a:r>
              <a:rPr lang="en-US" sz="1600" dirty="0">
                <a:solidFill>
                  <a:srgbClr val="1F2933"/>
                </a:solidFill>
                <a:latin typeface="Calibri" pitchFamily="34" charset="0"/>
                <a:ea typeface="Calibri" pitchFamily="34" charset="-122"/>
                <a:cs typeface="Calibri" pitchFamily="34" charset="-120"/>
              </a:rPr>
              <a:t>Entrenamiento + registro completo en MLflow</a:t>
            </a:r>
            <a:endParaRPr lang="en-US" sz="1600" dirty="0"/>
          </a:p>
        </p:txBody>
      </p:sp>
      <p:sp>
        <p:nvSpPr>
          <p:cNvPr id="23" name="Text 21"/>
          <p:cNvSpPr/>
          <p:nvPr/>
        </p:nvSpPr>
        <p:spPr>
          <a:xfrm>
            <a:off x="9966960" y="4069080"/>
            <a:ext cx="1645920" cy="457200"/>
          </a:xfrm>
          <a:prstGeom prst="rect">
            <a:avLst/>
          </a:prstGeom>
          <a:noFill/>
          <a:ln/>
        </p:spPr>
        <p:txBody>
          <a:bodyPr wrap="square" rtlCol="0" anchor="ctr"/>
          <a:lstStyle/>
          <a:p>
            <a:pPr algn="r" indent="0" marL="0">
              <a:buNone/>
            </a:pPr>
            <a:r>
              <a:rPr lang="en-US" sz="1400" dirty="0">
                <a:solidFill>
                  <a:srgbClr val="5B6B73"/>
                </a:solidFill>
                <a:latin typeface="Calibri" pitchFamily="34" charset="0"/>
                <a:ea typeface="Calibri" pitchFamily="34" charset="-122"/>
                <a:cs typeface="Calibri" pitchFamily="34" charset="-120"/>
              </a:rPr>
              <a:t>1:45</a:t>
            </a:r>
            <a:endParaRPr lang="en-US" sz="1400" dirty="0"/>
          </a:p>
        </p:txBody>
      </p:sp>
      <p:sp>
        <p:nvSpPr>
          <p:cNvPr id="24" name="Shape 22"/>
          <p:cNvSpPr/>
          <p:nvPr/>
        </p:nvSpPr>
        <p:spPr>
          <a:xfrm>
            <a:off x="548640" y="4709160"/>
            <a:ext cx="457200" cy="457200"/>
          </a:xfrm>
          <a:prstGeom prst="ellipse">
            <a:avLst/>
          </a:prstGeom>
          <a:solidFill>
            <a:srgbClr val="0B3D59"/>
          </a:solidFill>
          <a:ln/>
        </p:spPr>
      </p:sp>
      <p:sp>
        <p:nvSpPr>
          <p:cNvPr id="25" name="Text 23"/>
          <p:cNvSpPr/>
          <p:nvPr/>
        </p:nvSpPr>
        <p:spPr>
          <a:xfrm>
            <a:off x="548640" y="470916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26" name="Text 24"/>
          <p:cNvSpPr/>
          <p:nvPr/>
        </p:nvSpPr>
        <p:spPr>
          <a:xfrm>
            <a:off x="1234440" y="4690872"/>
            <a:ext cx="8503920" cy="457200"/>
          </a:xfrm>
          <a:prstGeom prst="rect">
            <a:avLst/>
          </a:prstGeom>
          <a:noFill/>
          <a:ln/>
        </p:spPr>
        <p:txBody>
          <a:bodyPr wrap="square" rtlCol="0" anchor="ctr"/>
          <a:lstStyle/>
          <a:p>
            <a:pPr indent="0" marL="0">
              <a:buNone/>
            </a:pPr>
            <a:r>
              <a:rPr lang="en-US" sz="1600" dirty="0">
                <a:solidFill>
                  <a:srgbClr val="1F2933"/>
                </a:solidFill>
                <a:latin typeface="Calibri" pitchFamily="34" charset="0"/>
                <a:ea typeface="Calibri" pitchFamily="34" charset="-122"/>
                <a:cs typeface="Calibri" pitchFamily="34" charset="-120"/>
              </a:rPr>
              <a:t>Registro del modelo y API</a:t>
            </a:r>
            <a:endParaRPr lang="en-US" sz="1600" dirty="0"/>
          </a:p>
        </p:txBody>
      </p:sp>
      <p:sp>
        <p:nvSpPr>
          <p:cNvPr id="27" name="Text 25"/>
          <p:cNvSpPr/>
          <p:nvPr/>
        </p:nvSpPr>
        <p:spPr>
          <a:xfrm>
            <a:off x="9966960" y="4690872"/>
            <a:ext cx="1645920" cy="457200"/>
          </a:xfrm>
          <a:prstGeom prst="rect">
            <a:avLst/>
          </a:prstGeom>
          <a:noFill/>
          <a:ln/>
        </p:spPr>
        <p:txBody>
          <a:bodyPr wrap="square" rtlCol="0" anchor="ctr"/>
          <a:lstStyle/>
          <a:p>
            <a:pPr algn="r" indent="0" marL="0">
              <a:buNone/>
            </a:pPr>
            <a:r>
              <a:rPr lang="en-US" sz="1400" dirty="0">
                <a:solidFill>
                  <a:srgbClr val="5B6B73"/>
                </a:solidFill>
                <a:latin typeface="Calibri" pitchFamily="34" charset="0"/>
                <a:ea typeface="Calibri" pitchFamily="34" charset="-122"/>
                <a:cs typeface="Calibri" pitchFamily="34" charset="-120"/>
              </a:rPr>
              <a:t>3:15</a:t>
            </a:r>
            <a:endParaRPr lang="en-US" sz="1400" dirty="0"/>
          </a:p>
        </p:txBody>
      </p:sp>
      <p:sp>
        <p:nvSpPr>
          <p:cNvPr id="28" name="Shape 26"/>
          <p:cNvSpPr/>
          <p:nvPr/>
        </p:nvSpPr>
        <p:spPr>
          <a:xfrm>
            <a:off x="548640" y="5330952"/>
            <a:ext cx="457200" cy="457200"/>
          </a:xfrm>
          <a:prstGeom prst="ellipse">
            <a:avLst/>
          </a:prstGeom>
          <a:solidFill>
            <a:srgbClr val="0B3D59"/>
          </a:solidFill>
          <a:ln/>
        </p:spPr>
      </p:sp>
      <p:sp>
        <p:nvSpPr>
          <p:cNvPr id="29" name="Text 27"/>
          <p:cNvSpPr/>
          <p:nvPr/>
        </p:nvSpPr>
        <p:spPr>
          <a:xfrm>
            <a:off x="548640" y="5330952"/>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30" name="Text 28"/>
          <p:cNvSpPr/>
          <p:nvPr/>
        </p:nvSpPr>
        <p:spPr>
          <a:xfrm>
            <a:off x="1234440" y="5312664"/>
            <a:ext cx="8503920" cy="457200"/>
          </a:xfrm>
          <a:prstGeom prst="rect">
            <a:avLst/>
          </a:prstGeom>
          <a:noFill/>
          <a:ln/>
        </p:spPr>
        <p:txBody>
          <a:bodyPr wrap="square" rtlCol="0" anchor="ctr"/>
          <a:lstStyle/>
          <a:p>
            <a:pPr indent="0" marL="0">
              <a:buNone/>
            </a:pPr>
            <a:r>
              <a:rPr lang="en-US" sz="1600" dirty="0">
                <a:solidFill>
                  <a:srgbClr val="1F2933"/>
                </a:solidFill>
                <a:latin typeface="Calibri" pitchFamily="34" charset="0"/>
                <a:ea typeface="Calibri" pitchFamily="34" charset="-122"/>
                <a:cs typeface="Calibri" pitchFamily="34" charset="-120"/>
              </a:rPr>
              <a:t>Proyecto independiente + Executive Summary</a:t>
            </a:r>
            <a:endParaRPr lang="en-US" sz="1600" dirty="0"/>
          </a:p>
        </p:txBody>
      </p:sp>
      <p:sp>
        <p:nvSpPr>
          <p:cNvPr id="31" name="Text 29"/>
          <p:cNvSpPr/>
          <p:nvPr/>
        </p:nvSpPr>
        <p:spPr>
          <a:xfrm>
            <a:off x="9966960" y="5312664"/>
            <a:ext cx="1645920" cy="457200"/>
          </a:xfrm>
          <a:prstGeom prst="rect">
            <a:avLst/>
          </a:prstGeom>
          <a:noFill/>
          <a:ln/>
        </p:spPr>
        <p:txBody>
          <a:bodyPr wrap="square" rtlCol="0" anchor="ctr"/>
          <a:lstStyle/>
          <a:p>
            <a:pPr algn="r" indent="0" marL="0">
              <a:buNone/>
            </a:pPr>
            <a:r>
              <a:rPr lang="en-US" sz="1400" dirty="0">
                <a:solidFill>
                  <a:srgbClr val="5B6B73"/>
                </a:solidFill>
                <a:latin typeface="Calibri" pitchFamily="34" charset="0"/>
                <a:ea typeface="Calibri" pitchFamily="34" charset="-122"/>
                <a:cs typeface="Calibri" pitchFamily="34" charset="-120"/>
              </a:rPr>
              <a:t>4:00</a:t>
            </a:r>
            <a:endParaRPr lang="en-US" sz="1400" dirty="0"/>
          </a:p>
        </p:txBody>
      </p:sp>
      <p:sp>
        <p:nvSpPr>
          <p:cNvPr id="32" name="Text 30"/>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CONECTANDO CON LO APRENDIDO</a:t>
            </a:r>
            <a:endParaRPr lang="en-US" sz="1200" dirty="0"/>
          </a:p>
        </p:txBody>
      </p:sp>
      <p:sp>
        <p:nvSpPr>
          <p:cNvPr id="3" name="Text 1"/>
          <p:cNvSpPr/>
          <p:nvPr/>
        </p:nvSpPr>
        <p:spPr>
          <a:xfrm>
            <a:off x="548640" y="685800"/>
            <a:ext cx="9144000" cy="640080"/>
          </a:xfrm>
          <a:prstGeom prst="rect">
            <a:avLst/>
          </a:prstGeom>
          <a:noFill/>
          <a:ln/>
        </p:spPr>
        <p:txBody>
          <a:bodyPr wrap="square"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¿Dónde estamos en el Máster?</a:t>
            </a:r>
            <a:endParaRPr lang="en-US" sz="3000" dirty="0"/>
          </a:p>
        </p:txBody>
      </p:sp>
      <p:sp>
        <p:nvSpPr>
          <p:cNvPr id="4" name="Shape 2"/>
          <p:cNvSpPr/>
          <p:nvPr/>
        </p:nvSpPr>
        <p:spPr>
          <a:xfrm>
            <a:off x="548640" y="1920240"/>
            <a:ext cx="2468880" cy="2743200"/>
          </a:xfrm>
          <a:prstGeom prst="roundRect">
            <a:avLst>
              <a:gd name="adj" fmla="val 2963"/>
            </a:avLst>
          </a:prstGeom>
          <a:solidFill>
            <a:srgbClr val="F4F7F8"/>
          </a:solidFill>
          <a:ln/>
          <a:effectLst>
            <a:outerShdw sx="100000" sy="100000" kx="0" ky="0" algn="bl" rotWithShape="0" blurRad="76200" dist="25400" dir="5400000">
              <a:srgbClr val="9AA7AD">
                <a:alpha val="25000"/>
              </a:srgbClr>
            </a:outerShdw>
          </a:effectLst>
        </p:spPr>
      </p:sp>
      <p:sp>
        <p:nvSpPr>
          <p:cNvPr id="5" name="Text 3"/>
          <p:cNvSpPr/>
          <p:nvPr/>
        </p:nvSpPr>
        <p:spPr>
          <a:xfrm>
            <a:off x="731520" y="2148840"/>
            <a:ext cx="2103120" cy="365760"/>
          </a:xfrm>
          <a:prstGeom prst="rect">
            <a:avLst/>
          </a:prstGeom>
          <a:noFill/>
          <a:ln/>
        </p:spPr>
        <p:txBody>
          <a:bodyPr wrap="square"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Clase 1</a:t>
            </a:r>
            <a:endParaRPr lang="en-US" sz="1300" dirty="0"/>
          </a:p>
        </p:txBody>
      </p:sp>
      <p:sp>
        <p:nvSpPr>
          <p:cNvPr id="6" name="Text 4"/>
          <p:cNvSpPr/>
          <p:nvPr/>
        </p:nvSpPr>
        <p:spPr>
          <a:xfrm>
            <a:off x="731520" y="2606040"/>
            <a:ext cx="2103120" cy="1737360"/>
          </a:xfrm>
          <a:prstGeom prst="rect">
            <a:avLst/>
          </a:prstGeom>
          <a:noFill/>
          <a:ln/>
        </p:spPr>
        <p:txBody>
          <a:bodyPr wrap="square" rtlCol="0" anchor="t"/>
          <a:lstStyle/>
          <a:p>
            <a:pPr indent="0" marL="0">
              <a:buNone/>
            </a:pPr>
            <a:r>
              <a:rPr lang="en-US" sz="1500" dirty="0">
                <a:solidFill>
                  <a:srgbClr val="1F2933"/>
                </a:solidFill>
                <a:latin typeface="Calibri" pitchFamily="34" charset="0"/>
                <a:ea typeface="Calibri" pitchFamily="34" charset="-122"/>
                <a:cs typeface="Calibri" pitchFamily="34" charset="-120"/>
              </a:rPr>
              <a:t>Recomendación + Aprendizaje por Refuerzo</a:t>
            </a:r>
            <a:endParaRPr lang="en-US" sz="1500" dirty="0"/>
          </a:p>
        </p:txBody>
      </p:sp>
      <p:sp>
        <p:nvSpPr>
          <p:cNvPr id="7" name="Text 5"/>
          <p:cNvSpPr/>
          <p:nvPr/>
        </p:nvSpPr>
        <p:spPr>
          <a:xfrm>
            <a:off x="3017520" y="3017520"/>
            <a:ext cx="411480" cy="548640"/>
          </a:xfrm>
          <a:prstGeom prst="rect">
            <a:avLst/>
          </a:prstGeom>
          <a:noFill/>
          <a:ln/>
        </p:spPr>
        <p:txBody>
          <a:bodyPr wrap="square" rtlCol="0" anchor="ctr"/>
          <a:lstStyle/>
          <a:p>
            <a:pPr algn="ctr" indent="0" marL="0">
              <a:buNone/>
            </a:pPr>
            <a:r>
              <a:rPr lang="en-US" sz="1800" dirty="0">
                <a:solidFill>
                  <a:srgbClr val="5B6B73"/>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3429000" y="1920240"/>
            <a:ext cx="2468880" cy="2743200"/>
          </a:xfrm>
          <a:prstGeom prst="roundRect">
            <a:avLst>
              <a:gd name="adj" fmla="val 2963"/>
            </a:avLst>
          </a:prstGeom>
          <a:solidFill>
            <a:srgbClr val="F4F7F8"/>
          </a:solidFill>
          <a:ln/>
          <a:effectLst>
            <a:outerShdw sx="100000" sy="100000" kx="0" ky="0" algn="bl" rotWithShape="0" blurRad="76200" dist="25400" dir="5400000">
              <a:srgbClr val="9AA7AD">
                <a:alpha val="25000"/>
              </a:srgbClr>
            </a:outerShdw>
          </a:effectLst>
        </p:spPr>
      </p:sp>
      <p:sp>
        <p:nvSpPr>
          <p:cNvPr id="9" name="Text 7"/>
          <p:cNvSpPr/>
          <p:nvPr/>
        </p:nvSpPr>
        <p:spPr>
          <a:xfrm>
            <a:off x="3611880" y="2148840"/>
            <a:ext cx="2103120" cy="365760"/>
          </a:xfrm>
          <a:prstGeom prst="rect">
            <a:avLst/>
          </a:prstGeom>
          <a:noFill/>
          <a:ln/>
        </p:spPr>
        <p:txBody>
          <a:bodyPr wrap="square"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Clase 2</a:t>
            </a:r>
            <a:endParaRPr lang="en-US" sz="1300" dirty="0"/>
          </a:p>
        </p:txBody>
      </p:sp>
      <p:sp>
        <p:nvSpPr>
          <p:cNvPr id="10" name="Text 8"/>
          <p:cNvSpPr/>
          <p:nvPr/>
        </p:nvSpPr>
        <p:spPr>
          <a:xfrm>
            <a:off x="3611880" y="2606040"/>
            <a:ext cx="2103120" cy="1737360"/>
          </a:xfrm>
          <a:prstGeom prst="rect">
            <a:avLst/>
          </a:prstGeom>
          <a:noFill/>
          <a:ln/>
        </p:spPr>
        <p:txBody>
          <a:bodyPr wrap="square" rtlCol="0" anchor="t"/>
          <a:lstStyle/>
          <a:p>
            <a:pPr indent="0" marL="0">
              <a:buNone/>
            </a:pPr>
            <a:r>
              <a:rPr lang="en-US" sz="1500" dirty="0">
                <a:solidFill>
                  <a:srgbClr val="1F2933"/>
                </a:solidFill>
                <a:latin typeface="Calibri" pitchFamily="34" charset="0"/>
                <a:ea typeface="Calibri" pitchFamily="34" charset="-122"/>
                <a:cs typeface="Calibri" pitchFamily="34" charset="-120"/>
              </a:rPr>
              <a:t>Optimización y despliegue de Deep Learning</a:t>
            </a:r>
            <a:endParaRPr lang="en-US" sz="1500" dirty="0"/>
          </a:p>
        </p:txBody>
      </p:sp>
      <p:sp>
        <p:nvSpPr>
          <p:cNvPr id="11" name="Text 9"/>
          <p:cNvSpPr/>
          <p:nvPr/>
        </p:nvSpPr>
        <p:spPr>
          <a:xfrm>
            <a:off x="5897880" y="3017520"/>
            <a:ext cx="411480" cy="548640"/>
          </a:xfrm>
          <a:prstGeom prst="rect">
            <a:avLst/>
          </a:prstGeom>
          <a:noFill/>
          <a:ln/>
        </p:spPr>
        <p:txBody>
          <a:bodyPr wrap="square" rtlCol="0" anchor="ctr"/>
          <a:lstStyle/>
          <a:p>
            <a:pPr algn="ctr" indent="0" marL="0">
              <a:buNone/>
            </a:pPr>
            <a:r>
              <a:rPr lang="en-US" sz="1800" dirty="0">
                <a:solidFill>
                  <a:srgbClr val="5B6B73"/>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6309360" y="1920240"/>
            <a:ext cx="2468880" cy="2743200"/>
          </a:xfrm>
          <a:prstGeom prst="roundRect">
            <a:avLst>
              <a:gd name="adj" fmla="val 2963"/>
            </a:avLst>
          </a:prstGeom>
          <a:solidFill>
            <a:srgbClr val="F4F7F8"/>
          </a:solidFill>
          <a:ln/>
          <a:effectLst>
            <a:outerShdw sx="100000" sy="100000" kx="0" ky="0" algn="bl" rotWithShape="0" blurRad="76200" dist="25400" dir="5400000">
              <a:srgbClr val="9AA7AD">
                <a:alpha val="25000"/>
              </a:srgbClr>
            </a:outerShdw>
          </a:effectLst>
        </p:spPr>
      </p:sp>
      <p:sp>
        <p:nvSpPr>
          <p:cNvPr id="13" name="Text 11"/>
          <p:cNvSpPr/>
          <p:nvPr/>
        </p:nvSpPr>
        <p:spPr>
          <a:xfrm>
            <a:off x="6492240" y="2148840"/>
            <a:ext cx="2103120" cy="365760"/>
          </a:xfrm>
          <a:prstGeom prst="rect">
            <a:avLst/>
          </a:prstGeom>
          <a:noFill/>
          <a:ln/>
        </p:spPr>
        <p:txBody>
          <a:bodyPr wrap="square"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Clase 3</a:t>
            </a:r>
            <a:endParaRPr lang="en-US" sz="1300" dirty="0"/>
          </a:p>
        </p:txBody>
      </p:sp>
      <p:sp>
        <p:nvSpPr>
          <p:cNvPr id="14" name="Text 12"/>
          <p:cNvSpPr/>
          <p:nvPr/>
        </p:nvSpPr>
        <p:spPr>
          <a:xfrm>
            <a:off x="6492240" y="2606040"/>
            <a:ext cx="2103120" cy="1737360"/>
          </a:xfrm>
          <a:prstGeom prst="rect">
            <a:avLst/>
          </a:prstGeom>
          <a:noFill/>
          <a:ln/>
        </p:spPr>
        <p:txBody>
          <a:bodyPr wrap="square" rtlCol="0" anchor="t"/>
          <a:lstStyle/>
          <a:p>
            <a:pPr indent="0" marL="0">
              <a:buNone/>
            </a:pPr>
            <a:r>
              <a:rPr lang="en-US" sz="1500" dirty="0">
                <a:solidFill>
                  <a:srgbClr val="1F2933"/>
                </a:solidFill>
                <a:latin typeface="Calibri" pitchFamily="34" charset="0"/>
                <a:ea typeface="Calibri" pitchFamily="34" charset="-122"/>
                <a:cs typeface="Calibri" pitchFamily="34" charset="-120"/>
              </a:rPr>
              <a:t>Clusters, notebooks y MLflow en Databricks</a:t>
            </a:r>
            <a:endParaRPr lang="en-US" sz="1500" dirty="0"/>
          </a:p>
        </p:txBody>
      </p:sp>
      <p:sp>
        <p:nvSpPr>
          <p:cNvPr id="15" name="Text 13"/>
          <p:cNvSpPr/>
          <p:nvPr/>
        </p:nvSpPr>
        <p:spPr>
          <a:xfrm>
            <a:off x="8778240" y="3017520"/>
            <a:ext cx="411480" cy="548640"/>
          </a:xfrm>
          <a:prstGeom prst="rect">
            <a:avLst/>
          </a:prstGeom>
          <a:noFill/>
          <a:ln/>
        </p:spPr>
        <p:txBody>
          <a:bodyPr wrap="square" rtlCol="0" anchor="ctr"/>
          <a:lstStyle/>
          <a:p>
            <a:pPr algn="ctr" indent="0" marL="0">
              <a:buNone/>
            </a:pPr>
            <a:r>
              <a:rPr lang="en-US" sz="1800" dirty="0">
                <a:solidFill>
                  <a:srgbClr val="5B6B73"/>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9189720" y="1920240"/>
            <a:ext cx="2468880" cy="2743200"/>
          </a:xfrm>
          <a:prstGeom prst="roundRect">
            <a:avLst>
              <a:gd name="adj" fmla="val 2963"/>
            </a:avLst>
          </a:prstGeom>
          <a:solidFill>
            <a:srgbClr val="0B3D59"/>
          </a:solidFill>
          <a:ln/>
        </p:spPr>
      </p:sp>
      <p:sp>
        <p:nvSpPr>
          <p:cNvPr id="17" name="Text 15"/>
          <p:cNvSpPr/>
          <p:nvPr/>
        </p:nvSpPr>
        <p:spPr>
          <a:xfrm>
            <a:off x="9372600" y="2148840"/>
            <a:ext cx="2103120" cy="365760"/>
          </a:xfrm>
          <a:prstGeom prst="rect">
            <a:avLst/>
          </a:prstGeom>
          <a:noFill/>
          <a:ln/>
        </p:spPr>
        <p:txBody>
          <a:bodyPr wrap="square" rtlCol="0" anchor="ctr"/>
          <a:lstStyle/>
          <a:p>
            <a:pPr indent="0" marL="0">
              <a:buNone/>
            </a:pPr>
            <a:r>
              <a:rPr lang="en-US" sz="1300" b="1" dirty="0">
                <a:solidFill>
                  <a:srgbClr val="4FB6C8"/>
                </a:solidFill>
                <a:latin typeface="Calibri" pitchFamily="34" charset="0"/>
                <a:ea typeface="Calibri" pitchFamily="34" charset="-122"/>
                <a:cs typeface="Calibri" pitchFamily="34" charset="-120"/>
              </a:rPr>
              <a:t>Clase 4</a:t>
            </a:r>
            <a:endParaRPr lang="en-US" sz="1300" dirty="0"/>
          </a:p>
        </p:txBody>
      </p:sp>
      <p:sp>
        <p:nvSpPr>
          <p:cNvPr id="18" name="Text 16"/>
          <p:cNvSpPr/>
          <p:nvPr/>
        </p:nvSpPr>
        <p:spPr>
          <a:xfrm>
            <a:off x="9372600" y="2606040"/>
            <a:ext cx="2103120" cy="1737360"/>
          </a:xfrm>
          <a:prstGeom prst="rect">
            <a:avLst/>
          </a:prstGeom>
          <a:noFill/>
          <a:ln/>
        </p:spPr>
        <p:txBody>
          <a:bodyPr wrap="square" rtlCol="0" anchor="t"/>
          <a:lstStyle/>
          <a:p>
            <a:pPr indent="0" marL="0">
              <a:buNone/>
            </a:pPr>
            <a:r>
              <a:rPr lang="en-US" sz="1500" dirty="0">
                <a:solidFill>
                  <a:srgbClr val="FFFFFF"/>
                </a:solidFill>
                <a:latin typeface="Calibri" pitchFamily="34" charset="0"/>
                <a:ea typeface="Calibri" pitchFamily="34" charset="-122"/>
                <a:cs typeface="Calibri" pitchFamily="34" charset="-120"/>
              </a:rPr>
              <a:t>Hoy: todo junto, de punta a punta</a:t>
            </a:r>
            <a:endParaRPr lang="en-US" sz="1500" dirty="0"/>
          </a:p>
        </p:txBody>
      </p:sp>
      <p:sp>
        <p:nvSpPr>
          <p:cNvPr id="19" name="Text 17"/>
          <p:cNvSpPr/>
          <p:nvPr/>
        </p:nvSpPr>
        <p:spPr>
          <a:xfrm>
            <a:off x="548640" y="5029200"/>
            <a:ext cx="10789920" cy="548640"/>
          </a:xfrm>
          <a:prstGeom prst="rect">
            <a:avLst/>
          </a:prstGeom>
          <a:noFill/>
          <a:ln/>
        </p:spPr>
        <p:txBody>
          <a:bodyPr wrap="square" rtlCol="0" anchor="ctr"/>
          <a:lstStyle/>
          <a:p>
            <a:pPr indent="0" marL="0">
              <a:buNone/>
            </a:pPr>
            <a:r>
              <a:rPr lang="en-US" sz="1500" i="1" dirty="0">
                <a:solidFill>
                  <a:srgbClr val="5B6B73"/>
                </a:solidFill>
                <a:latin typeface="Calibri" pitchFamily="34" charset="0"/>
                <a:ea typeface="Calibri" pitchFamily="34" charset="-122"/>
                <a:cs typeface="Calibri" pitchFamily="34" charset="-120"/>
              </a:rPr>
              <a:t>Hoy se ensamblan todas las piezas anteriores en un solo sistema real: AI-XRay.</a:t>
            </a:r>
            <a:endParaRPr lang="en-US" sz="1500" dirty="0"/>
          </a:p>
        </p:txBody>
      </p:sp>
      <p:sp>
        <p:nvSpPr>
          <p:cNvPr id="20" name="Text 18"/>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AL FINAL DE ESTA CLASE, EL ESTUDIANTE PODRÁ</a:t>
            </a:r>
            <a:endParaRPr lang="en-US" sz="1200" dirty="0"/>
          </a:p>
        </p:txBody>
      </p:sp>
      <p:sp>
        <p:nvSpPr>
          <p:cNvPr id="3" name="Text 1"/>
          <p:cNvSpPr/>
          <p:nvPr/>
        </p:nvSpPr>
        <p:spPr>
          <a:xfrm>
            <a:off x="548640" y="685800"/>
            <a:ext cx="9144000" cy="640080"/>
          </a:xfrm>
          <a:prstGeom prst="rect">
            <a:avLst/>
          </a:prstGeom>
          <a:noFill/>
          <a:ln/>
        </p:spPr>
        <p:txBody>
          <a:bodyPr wrap="square"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Objetivos de aprendizaje</a:t>
            </a:r>
            <a:endParaRPr lang="en-US" sz="3000" dirty="0"/>
          </a:p>
        </p:txBody>
      </p:sp>
      <p:sp>
        <p:nvSpPr>
          <p:cNvPr id="4" name="Shape 2"/>
          <p:cNvSpPr/>
          <p:nvPr/>
        </p:nvSpPr>
        <p:spPr>
          <a:xfrm>
            <a:off x="548640" y="1691640"/>
            <a:ext cx="320040" cy="320040"/>
          </a:xfrm>
          <a:prstGeom prst="roundRect">
            <a:avLst>
              <a:gd name="adj" fmla="val 17143"/>
            </a:avLst>
          </a:prstGeom>
          <a:solidFill>
            <a:srgbClr val="1C7293"/>
          </a:solidFill>
          <a:ln/>
        </p:spPr>
      </p:sp>
      <p:sp>
        <p:nvSpPr>
          <p:cNvPr id="5" name="Text 3"/>
          <p:cNvSpPr/>
          <p:nvPr/>
        </p:nvSpPr>
        <p:spPr>
          <a:xfrm>
            <a:off x="548640" y="169164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05840" y="1618488"/>
            <a:ext cx="4754880" cy="914400"/>
          </a:xfrm>
          <a:prstGeom prst="rect">
            <a:avLst/>
          </a:prstGeom>
          <a:noFill/>
          <a:ln/>
        </p:spPr>
        <p:txBody>
          <a:bodyPr wrap="square" rtlCol="0" anchor="t"/>
          <a:lstStyle/>
          <a:p>
            <a:pPr indent="0" marL="0">
              <a:buNone/>
            </a:pPr>
            <a:r>
              <a:rPr lang="en-US" sz="1400" dirty="0">
                <a:solidFill>
                  <a:srgbClr val="1F2933"/>
                </a:solidFill>
                <a:latin typeface="Calibri" pitchFamily="34" charset="0"/>
                <a:ea typeface="Calibri" pitchFamily="34" charset="-122"/>
                <a:cs typeface="Calibri" pitchFamily="34" charset="-120"/>
              </a:rPr>
              <a:t>Diseñar un sistema de IA de punta a punta: datos → entrenamiento → tracking → registro → consumo</a:t>
            </a:r>
            <a:endParaRPr lang="en-US" sz="1400" dirty="0"/>
          </a:p>
        </p:txBody>
      </p:sp>
      <p:sp>
        <p:nvSpPr>
          <p:cNvPr id="7" name="Shape 5"/>
          <p:cNvSpPr/>
          <p:nvPr/>
        </p:nvSpPr>
        <p:spPr>
          <a:xfrm>
            <a:off x="548640" y="2697480"/>
            <a:ext cx="320040" cy="320040"/>
          </a:xfrm>
          <a:prstGeom prst="roundRect">
            <a:avLst>
              <a:gd name="adj" fmla="val 17143"/>
            </a:avLst>
          </a:prstGeom>
          <a:solidFill>
            <a:srgbClr val="1C7293"/>
          </a:solidFill>
          <a:ln/>
        </p:spPr>
      </p:sp>
      <p:sp>
        <p:nvSpPr>
          <p:cNvPr id="8" name="Text 6"/>
          <p:cNvSpPr/>
          <p:nvPr/>
        </p:nvSpPr>
        <p:spPr>
          <a:xfrm>
            <a:off x="548640" y="269748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005840" y="2624328"/>
            <a:ext cx="4754880" cy="914400"/>
          </a:xfrm>
          <a:prstGeom prst="rect">
            <a:avLst/>
          </a:prstGeom>
          <a:noFill/>
          <a:ln/>
        </p:spPr>
        <p:txBody>
          <a:bodyPr wrap="square" rtlCol="0" anchor="t"/>
          <a:lstStyle/>
          <a:p>
            <a:pPr indent="0" marL="0">
              <a:buNone/>
            </a:pPr>
            <a:r>
              <a:rPr lang="en-US" sz="1400" dirty="0">
                <a:solidFill>
                  <a:srgbClr val="1F2933"/>
                </a:solidFill>
                <a:latin typeface="Calibri" pitchFamily="34" charset="0"/>
                <a:ea typeface="Calibri" pitchFamily="34" charset="-122"/>
                <a:cs typeface="Calibri" pitchFamily="34" charset="-120"/>
              </a:rPr>
              <a:t>Detectar problemas reales de calidad de datos (fuga de información) antes de entrenar</a:t>
            </a:r>
            <a:endParaRPr lang="en-US" sz="1400" dirty="0"/>
          </a:p>
        </p:txBody>
      </p:sp>
      <p:sp>
        <p:nvSpPr>
          <p:cNvPr id="10" name="Shape 8"/>
          <p:cNvSpPr/>
          <p:nvPr/>
        </p:nvSpPr>
        <p:spPr>
          <a:xfrm>
            <a:off x="548640" y="3703320"/>
            <a:ext cx="320040" cy="320040"/>
          </a:xfrm>
          <a:prstGeom prst="roundRect">
            <a:avLst>
              <a:gd name="adj" fmla="val 17143"/>
            </a:avLst>
          </a:prstGeom>
          <a:solidFill>
            <a:srgbClr val="1C7293"/>
          </a:solidFill>
          <a:ln/>
        </p:spPr>
      </p:sp>
      <p:sp>
        <p:nvSpPr>
          <p:cNvPr id="11" name="Text 9"/>
          <p:cNvSpPr/>
          <p:nvPr/>
        </p:nvSpPr>
        <p:spPr>
          <a:xfrm>
            <a:off x="548640" y="370332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005840" y="3630168"/>
            <a:ext cx="4754880" cy="914400"/>
          </a:xfrm>
          <a:prstGeom prst="rect">
            <a:avLst/>
          </a:prstGeom>
          <a:noFill/>
          <a:ln/>
        </p:spPr>
        <p:txBody>
          <a:bodyPr wrap="square" rtlCol="0" anchor="t"/>
          <a:lstStyle/>
          <a:p>
            <a:pPr indent="0" marL="0">
              <a:buNone/>
            </a:pPr>
            <a:r>
              <a:rPr lang="en-US" sz="1400" dirty="0">
                <a:solidFill>
                  <a:srgbClr val="1F2933"/>
                </a:solidFill>
                <a:latin typeface="Calibri" pitchFamily="34" charset="0"/>
                <a:ea typeface="Calibri" pitchFamily="34" charset="-122"/>
                <a:cs typeface="Calibri" pitchFamily="34" charset="-120"/>
              </a:rPr>
              <a:t>Entrenar CNN + Transfer Learning (ResNet50) en dos fases: congelado y fine-tuning</a:t>
            </a:r>
            <a:endParaRPr lang="en-US" sz="1400" dirty="0"/>
          </a:p>
        </p:txBody>
      </p:sp>
      <p:sp>
        <p:nvSpPr>
          <p:cNvPr id="13" name="Shape 11"/>
          <p:cNvSpPr/>
          <p:nvPr/>
        </p:nvSpPr>
        <p:spPr>
          <a:xfrm>
            <a:off x="548640" y="4709160"/>
            <a:ext cx="320040" cy="320040"/>
          </a:xfrm>
          <a:prstGeom prst="roundRect">
            <a:avLst>
              <a:gd name="adj" fmla="val 17143"/>
            </a:avLst>
          </a:prstGeom>
          <a:solidFill>
            <a:srgbClr val="1C7293"/>
          </a:solidFill>
          <a:ln/>
        </p:spPr>
      </p:sp>
      <p:sp>
        <p:nvSpPr>
          <p:cNvPr id="14" name="Text 12"/>
          <p:cNvSpPr/>
          <p:nvPr/>
        </p:nvSpPr>
        <p:spPr>
          <a:xfrm>
            <a:off x="548640" y="470916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1005840" y="4636008"/>
            <a:ext cx="4754880" cy="914400"/>
          </a:xfrm>
          <a:prstGeom prst="rect">
            <a:avLst/>
          </a:prstGeom>
          <a:noFill/>
          <a:ln/>
        </p:spPr>
        <p:txBody>
          <a:bodyPr wrap="square" rtlCol="0" anchor="t"/>
          <a:lstStyle/>
          <a:p>
            <a:pPr indent="0" marL="0">
              <a:buNone/>
            </a:pPr>
            <a:r>
              <a:rPr lang="en-US" sz="1400" dirty="0">
                <a:solidFill>
                  <a:srgbClr val="1F2933"/>
                </a:solidFill>
                <a:latin typeface="Calibri" pitchFamily="34" charset="0"/>
                <a:ea typeface="Calibri" pitchFamily="34" charset="-122"/>
                <a:cs typeface="Calibri" pitchFamily="34" charset="-120"/>
              </a:rPr>
              <a:t>Registrar experimentos completos en MLflow y comparar variantes con criterio</a:t>
            </a:r>
            <a:endParaRPr lang="en-US" sz="1400" dirty="0"/>
          </a:p>
        </p:txBody>
      </p:sp>
      <p:sp>
        <p:nvSpPr>
          <p:cNvPr id="16" name="Shape 14"/>
          <p:cNvSpPr/>
          <p:nvPr/>
        </p:nvSpPr>
        <p:spPr>
          <a:xfrm>
            <a:off x="6217920" y="1691640"/>
            <a:ext cx="320040" cy="320040"/>
          </a:xfrm>
          <a:prstGeom prst="roundRect">
            <a:avLst>
              <a:gd name="adj" fmla="val 17143"/>
            </a:avLst>
          </a:prstGeom>
          <a:solidFill>
            <a:srgbClr val="1C7293"/>
          </a:solidFill>
          <a:ln/>
        </p:spPr>
      </p:sp>
      <p:sp>
        <p:nvSpPr>
          <p:cNvPr id="17" name="Text 15"/>
          <p:cNvSpPr/>
          <p:nvPr/>
        </p:nvSpPr>
        <p:spPr>
          <a:xfrm>
            <a:off x="6217920" y="169164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6675120" y="1618488"/>
            <a:ext cx="4754880" cy="914400"/>
          </a:xfrm>
          <a:prstGeom prst="rect">
            <a:avLst/>
          </a:prstGeom>
          <a:noFill/>
          <a:ln/>
        </p:spPr>
        <p:txBody>
          <a:bodyPr wrap="square" rtlCol="0" anchor="t"/>
          <a:lstStyle/>
          <a:p>
            <a:pPr indent="0" marL="0">
              <a:buNone/>
            </a:pPr>
            <a:r>
              <a:rPr lang="en-US" sz="1400" dirty="0">
                <a:solidFill>
                  <a:srgbClr val="1F2933"/>
                </a:solidFill>
                <a:latin typeface="Calibri" pitchFamily="34" charset="0"/>
                <a:ea typeface="Calibri" pitchFamily="34" charset="-122"/>
                <a:cs typeface="Calibri" pitchFamily="34" charset="-120"/>
              </a:rPr>
              <a:t>Registrar y promover un modelo en el Model Registry</a:t>
            </a:r>
            <a:endParaRPr lang="en-US" sz="1400" dirty="0"/>
          </a:p>
        </p:txBody>
      </p:sp>
      <p:sp>
        <p:nvSpPr>
          <p:cNvPr id="19" name="Shape 17"/>
          <p:cNvSpPr/>
          <p:nvPr/>
        </p:nvSpPr>
        <p:spPr>
          <a:xfrm>
            <a:off x="6217920" y="2697480"/>
            <a:ext cx="320040" cy="320040"/>
          </a:xfrm>
          <a:prstGeom prst="roundRect">
            <a:avLst>
              <a:gd name="adj" fmla="val 17143"/>
            </a:avLst>
          </a:prstGeom>
          <a:solidFill>
            <a:srgbClr val="1C7293"/>
          </a:solidFill>
          <a:ln/>
        </p:spPr>
      </p:sp>
      <p:sp>
        <p:nvSpPr>
          <p:cNvPr id="20" name="Text 18"/>
          <p:cNvSpPr/>
          <p:nvPr/>
        </p:nvSpPr>
        <p:spPr>
          <a:xfrm>
            <a:off x="6217920" y="269748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6675120" y="2624328"/>
            <a:ext cx="4754880" cy="914400"/>
          </a:xfrm>
          <a:prstGeom prst="rect">
            <a:avLst/>
          </a:prstGeom>
          <a:noFill/>
          <a:ln/>
        </p:spPr>
        <p:txBody>
          <a:bodyPr wrap="square" rtlCol="0" anchor="t"/>
          <a:lstStyle/>
          <a:p>
            <a:pPr indent="0" marL="0">
              <a:buNone/>
            </a:pPr>
            <a:r>
              <a:rPr lang="en-US" sz="1400" dirty="0">
                <a:solidFill>
                  <a:srgbClr val="1F2933"/>
                </a:solidFill>
                <a:latin typeface="Calibri" pitchFamily="34" charset="0"/>
                <a:ea typeface="Calibri" pitchFamily="34" charset="-122"/>
                <a:cs typeface="Calibri" pitchFamily="34" charset="-120"/>
              </a:rPr>
              <a:t>Servir un modelo con una API REST (FastAPI), sin necesidad de frontend</a:t>
            </a:r>
            <a:endParaRPr lang="en-US" sz="1400" dirty="0"/>
          </a:p>
        </p:txBody>
      </p:sp>
      <p:sp>
        <p:nvSpPr>
          <p:cNvPr id="22" name="Shape 20"/>
          <p:cNvSpPr/>
          <p:nvPr/>
        </p:nvSpPr>
        <p:spPr>
          <a:xfrm>
            <a:off x="6217920" y="3703320"/>
            <a:ext cx="320040" cy="320040"/>
          </a:xfrm>
          <a:prstGeom prst="roundRect">
            <a:avLst>
              <a:gd name="adj" fmla="val 17143"/>
            </a:avLst>
          </a:prstGeom>
          <a:solidFill>
            <a:srgbClr val="1C7293"/>
          </a:solidFill>
          <a:ln/>
        </p:spPr>
      </p:sp>
      <p:sp>
        <p:nvSpPr>
          <p:cNvPr id="23" name="Text 21"/>
          <p:cNvSpPr/>
          <p:nvPr/>
        </p:nvSpPr>
        <p:spPr>
          <a:xfrm>
            <a:off x="6217920" y="370332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4" name="Text 22"/>
          <p:cNvSpPr/>
          <p:nvPr/>
        </p:nvSpPr>
        <p:spPr>
          <a:xfrm>
            <a:off x="6675120" y="3630168"/>
            <a:ext cx="4754880" cy="914400"/>
          </a:xfrm>
          <a:prstGeom prst="rect">
            <a:avLst/>
          </a:prstGeom>
          <a:noFill/>
          <a:ln/>
        </p:spPr>
        <p:txBody>
          <a:bodyPr wrap="square" rtlCol="0" anchor="t"/>
          <a:lstStyle/>
          <a:p>
            <a:pPr indent="0" marL="0">
              <a:buNone/>
            </a:pPr>
            <a:r>
              <a:rPr lang="en-US" sz="1400" dirty="0">
                <a:solidFill>
                  <a:srgbClr val="1F2933"/>
                </a:solidFill>
                <a:latin typeface="Calibri" pitchFamily="34" charset="0"/>
                <a:ea typeface="Calibri" pitchFamily="34" charset="-122"/>
                <a:cs typeface="Calibri" pitchFamily="34" charset="-120"/>
              </a:rPr>
              <a:t>Redactar un Executive Summary que justifique la arquitectura y el impacto</a:t>
            </a:r>
            <a:endParaRPr lang="en-US" sz="1400" dirty="0"/>
          </a:p>
        </p:txBody>
      </p:sp>
      <p:sp>
        <p:nvSpPr>
          <p:cNvPr id="25" name="Text 23"/>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D59"/>
        </a:solidFill>
      </p:bgPr>
    </p:bg>
    <p:spTree>
      <p:nvGrpSpPr>
        <p:cNvPr id="1" name=""/>
        <p:cNvGrpSpPr/>
        <p:nvPr/>
      </p:nvGrpSpPr>
      <p:grpSpPr>
        <a:xfrm>
          <a:off x="0" y="0"/>
          <a:ext cx="0" cy="0"/>
          <a:chOff x="0" y="0"/>
          <a:chExt cx="0" cy="0"/>
        </a:xfrm>
      </p:grpSpPr>
      <p:sp>
        <p:nvSpPr>
          <p:cNvPr id="2" name="Shape 0"/>
          <p:cNvSpPr/>
          <p:nvPr/>
        </p:nvSpPr>
        <p:spPr>
          <a:xfrm>
            <a:off x="-2286000" y="3840480"/>
            <a:ext cx="5486400" cy="5486400"/>
          </a:xfrm>
          <a:prstGeom prst="ellipse">
            <a:avLst/>
          </a:prstGeom>
          <a:solidFill>
            <a:srgbClr val="082C40"/>
          </a:solidFill>
          <a:ln/>
        </p:spPr>
      </p:sp>
      <p:sp>
        <p:nvSpPr>
          <p:cNvPr id="3" name="Text 1"/>
          <p:cNvSpPr/>
          <p:nvPr/>
        </p:nvSpPr>
        <p:spPr>
          <a:xfrm>
            <a:off x="640080" y="2331720"/>
            <a:ext cx="3657600" cy="365760"/>
          </a:xfrm>
          <a:prstGeom prst="rect">
            <a:avLst/>
          </a:prstGeom>
          <a:noFill/>
          <a:ln/>
        </p:spPr>
        <p:txBody>
          <a:bodyPr wrap="square" rtlCol="0" anchor="ctr"/>
          <a:lstStyle/>
          <a:p>
            <a:pPr indent="0" marL="0">
              <a:buNone/>
            </a:pPr>
            <a:r>
              <a:rPr lang="en-US" sz="1300" b="1" spc="200" kern="0" dirty="0">
                <a:solidFill>
                  <a:srgbClr val="4FB6C8"/>
                </a:solidFill>
                <a:latin typeface="Calibri" pitchFamily="34" charset="0"/>
                <a:ea typeface="Calibri" pitchFamily="34" charset="-122"/>
                <a:cs typeface="Calibri" pitchFamily="34" charset="-120"/>
              </a:rPr>
              <a:t>BLOQUE 1 · TEORÍA</a:t>
            </a:r>
            <a:endParaRPr lang="en-US" sz="1300" dirty="0"/>
          </a:p>
        </p:txBody>
      </p:sp>
      <p:sp>
        <p:nvSpPr>
          <p:cNvPr id="4" name="Text 2"/>
          <p:cNvSpPr/>
          <p:nvPr/>
        </p:nvSpPr>
        <p:spPr>
          <a:xfrm>
            <a:off x="594360" y="2743200"/>
            <a:ext cx="10058400" cy="128016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El reto de la clase</a:t>
            </a:r>
            <a:endParaRPr lang="en-US" sz="3800" dirty="0"/>
          </a:p>
        </p:txBody>
      </p:sp>
      <p:sp>
        <p:nvSpPr>
          <p:cNvPr id="5" name="Text 3"/>
          <p:cNvSpPr/>
          <p:nvPr/>
        </p:nvSpPr>
        <p:spPr>
          <a:xfrm>
            <a:off x="621792" y="3794760"/>
            <a:ext cx="9144000" cy="640080"/>
          </a:xfrm>
          <a:prstGeom prst="rect">
            <a:avLst/>
          </a:prstGeom>
          <a:noFill/>
          <a:ln/>
        </p:spPr>
        <p:txBody>
          <a:bodyPr wrap="square" rtlCol="0" anchor="ctr"/>
          <a:lstStyle/>
          <a:p>
            <a:pPr indent="0" marL="0">
              <a:buNone/>
            </a:pPr>
            <a:r>
              <a:rPr lang="en-US" sz="1600" dirty="0">
                <a:solidFill>
                  <a:srgbClr val="C9DAE2"/>
                </a:solidFill>
                <a:latin typeface="Calibri" pitchFamily="34" charset="0"/>
                <a:ea typeface="Calibri" pitchFamily="34" charset="-122"/>
                <a:cs typeface="Calibri" pitchFamily="34" charset="-120"/>
              </a:rPr>
              <a:t>El docente dicta la creación de un nuevo sistema inteligente de punta a punta.</a:t>
            </a:r>
            <a:endParaRPr lang="en-US" sz="1600" dirty="0"/>
          </a:p>
        </p:txBody>
      </p:sp>
      <p:sp>
        <p:nvSpPr>
          <p:cNvPr id="6" name="Text 4"/>
          <p:cNvSpPr/>
          <p:nvPr/>
        </p:nvSpPr>
        <p:spPr>
          <a:xfrm>
            <a:off x="10607040" y="502920"/>
            <a:ext cx="1280160" cy="914400"/>
          </a:xfrm>
          <a:prstGeom prst="rect">
            <a:avLst/>
          </a:prstGeom>
          <a:noFill/>
          <a:ln/>
        </p:spPr>
        <p:txBody>
          <a:bodyPr wrap="square" rtlCol="0" anchor="ctr"/>
          <a:lstStyle/>
          <a:p>
            <a:pPr algn="r" indent="0" marL="0">
              <a:buNone/>
            </a:pPr>
            <a:r>
              <a:rPr lang="en-US" sz="3400" b="1" dirty="0">
                <a:solidFill>
                  <a:srgbClr val="1E4B62"/>
                </a:solidFill>
                <a:latin typeface="Cambria" pitchFamily="34" charset="0"/>
                <a:ea typeface="Cambria" pitchFamily="34" charset="-122"/>
                <a:cs typeface="Cambria" pitchFamily="34" charset="-120"/>
              </a:rPr>
              <a:t>01</a:t>
            </a:r>
            <a:endParaRPr lang="en-US" sz="3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AI-XRAY</a:t>
            </a:r>
            <a:endParaRPr lang="en-US" sz="1200" dirty="0"/>
          </a:p>
        </p:txBody>
      </p:sp>
      <p:sp>
        <p:nvSpPr>
          <p:cNvPr id="3" name="Text 1"/>
          <p:cNvSpPr/>
          <p:nvPr/>
        </p:nvSpPr>
        <p:spPr>
          <a:xfrm>
            <a:off x="548640" y="685800"/>
            <a:ext cx="9144000" cy="640080"/>
          </a:xfrm>
          <a:prstGeom prst="rect">
            <a:avLst/>
          </a:prstGeom>
          <a:noFill/>
          <a:ln/>
        </p:spPr>
        <p:txBody>
          <a:bodyPr wrap="square"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El flujo de punta a punta</a:t>
            </a:r>
            <a:endParaRPr lang="en-US" sz="3000" dirty="0"/>
          </a:p>
        </p:txBody>
      </p:sp>
      <p:sp>
        <p:nvSpPr>
          <p:cNvPr id="4" name="Shape 2"/>
          <p:cNvSpPr/>
          <p:nvPr/>
        </p:nvSpPr>
        <p:spPr>
          <a:xfrm>
            <a:off x="548640" y="2377440"/>
            <a:ext cx="1421239" cy="1188720"/>
          </a:xfrm>
          <a:prstGeom prst="roundRect">
            <a:avLst>
              <a:gd name="adj" fmla="val 6154"/>
            </a:avLst>
          </a:prstGeom>
          <a:solidFill>
            <a:srgbClr val="0B3D59"/>
          </a:solidFill>
          <a:ln/>
        </p:spPr>
      </p:sp>
      <p:sp>
        <p:nvSpPr>
          <p:cNvPr id="5" name="Text 3"/>
          <p:cNvSpPr/>
          <p:nvPr/>
        </p:nvSpPr>
        <p:spPr>
          <a:xfrm>
            <a:off x="594360" y="2377440"/>
            <a:ext cx="1329799" cy="11887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Dataset</a:t>
            </a:r>
            <a:endParaRPr lang="en-US" sz="1150" dirty="0"/>
          </a:p>
        </p:txBody>
      </p:sp>
      <p:sp>
        <p:nvSpPr>
          <p:cNvPr id="6" name="Text 4"/>
          <p:cNvSpPr/>
          <p:nvPr/>
        </p:nvSpPr>
        <p:spPr>
          <a:xfrm>
            <a:off x="1969879" y="2377440"/>
            <a:ext cx="201168" cy="1188720"/>
          </a:xfrm>
          <a:prstGeom prst="rect">
            <a:avLst/>
          </a:prstGeom>
          <a:noFill/>
          <a:ln/>
        </p:spPr>
        <p:txBody>
          <a:bodyPr wrap="square" rtlCol="0" anchor="ctr"/>
          <a:lstStyle/>
          <a:p>
            <a:pPr algn="ctr" indent="0" marL="0">
              <a:buNone/>
            </a:pPr>
            <a:r>
              <a:rPr lang="en-US" sz="1600" dirty="0">
                <a:solidFill>
                  <a:srgbClr val="5B6B73"/>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171047" y="2377440"/>
            <a:ext cx="1421239" cy="1188720"/>
          </a:xfrm>
          <a:prstGeom prst="roundRect">
            <a:avLst>
              <a:gd name="adj" fmla="val 6154"/>
            </a:avLst>
          </a:prstGeom>
          <a:solidFill>
            <a:srgbClr val="0B3D59"/>
          </a:solidFill>
          <a:ln/>
        </p:spPr>
      </p:sp>
      <p:sp>
        <p:nvSpPr>
          <p:cNvPr id="8" name="Text 6"/>
          <p:cNvSpPr/>
          <p:nvPr/>
        </p:nvSpPr>
        <p:spPr>
          <a:xfrm>
            <a:off x="2216767" y="2377440"/>
            <a:ext cx="1329799" cy="11887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Manifiesto</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 EDA</a:t>
            </a:r>
            <a:endParaRPr lang="en-US" sz="1150" dirty="0"/>
          </a:p>
        </p:txBody>
      </p:sp>
      <p:sp>
        <p:nvSpPr>
          <p:cNvPr id="9" name="Text 7"/>
          <p:cNvSpPr/>
          <p:nvPr/>
        </p:nvSpPr>
        <p:spPr>
          <a:xfrm>
            <a:off x="3592286" y="2377440"/>
            <a:ext cx="201168" cy="1188720"/>
          </a:xfrm>
          <a:prstGeom prst="rect">
            <a:avLst/>
          </a:prstGeom>
          <a:noFill/>
          <a:ln/>
        </p:spPr>
        <p:txBody>
          <a:bodyPr wrap="square" rtlCol="0" anchor="ctr"/>
          <a:lstStyle/>
          <a:p>
            <a:pPr algn="ctr" indent="0" marL="0">
              <a:buNone/>
            </a:pPr>
            <a:r>
              <a:rPr lang="en-US" sz="1600" dirty="0">
                <a:solidFill>
                  <a:srgbClr val="5B6B73"/>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793454" y="2377440"/>
            <a:ext cx="1421239" cy="1188720"/>
          </a:xfrm>
          <a:prstGeom prst="roundRect">
            <a:avLst>
              <a:gd name="adj" fmla="val 6154"/>
            </a:avLst>
          </a:prstGeom>
          <a:solidFill>
            <a:srgbClr val="0B3D59"/>
          </a:solidFill>
          <a:ln/>
        </p:spPr>
      </p:sp>
      <p:sp>
        <p:nvSpPr>
          <p:cNvPr id="11" name="Text 9"/>
          <p:cNvSpPr/>
          <p:nvPr/>
        </p:nvSpPr>
        <p:spPr>
          <a:xfrm>
            <a:off x="3839174" y="2377440"/>
            <a:ext cx="1329799" cy="11887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Preprocesa-</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miento</a:t>
            </a:r>
            <a:endParaRPr lang="en-US" sz="1150" dirty="0"/>
          </a:p>
        </p:txBody>
      </p:sp>
      <p:sp>
        <p:nvSpPr>
          <p:cNvPr id="12" name="Text 10"/>
          <p:cNvSpPr/>
          <p:nvPr/>
        </p:nvSpPr>
        <p:spPr>
          <a:xfrm>
            <a:off x="5214693" y="2377440"/>
            <a:ext cx="201168" cy="1188720"/>
          </a:xfrm>
          <a:prstGeom prst="rect">
            <a:avLst/>
          </a:prstGeom>
          <a:noFill/>
          <a:ln/>
        </p:spPr>
        <p:txBody>
          <a:bodyPr wrap="square" rtlCol="0" anchor="ctr"/>
          <a:lstStyle/>
          <a:p>
            <a:pPr algn="ctr" indent="0" marL="0">
              <a:buNone/>
            </a:pPr>
            <a:r>
              <a:rPr lang="en-US" sz="1600" dirty="0">
                <a:solidFill>
                  <a:srgbClr val="5B6B73"/>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415861" y="2377440"/>
            <a:ext cx="1421239" cy="1188720"/>
          </a:xfrm>
          <a:prstGeom prst="roundRect">
            <a:avLst>
              <a:gd name="adj" fmla="val 6154"/>
            </a:avLst>
          </a:prstGeom>
          <a:solidFill>
            <a:srgbClr val="0B3D59"/>
          </a:solidFill>
          <a:ln/>
        </p:spPr>
      </p:sp>
      <p:sp>
        <p:nvSpPr>
          <p:cNvPr id="14" name="Text 12"/>
          <p:cNvSpPr/>
          <p:nvPr/>
        </p:nvSpPr>
        <p:spPr>
          <a:xfrm>
            <a:off x="5461581" y="2377440"/>
            <a:ext cx="1329799" cy="11887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CNN +</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Transfer</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Learning</a:t>
            </a:r>
            <a:endParaRPr lang="en-US" sz="1150" dirty="0"/>
          </a:p>
        </p:txBody>
      </p:sp>
      <p:sp>
        <p:nvSpPr>
          <p:cNvPr id="15" name="Text 13"/>
          <p:cNvSpPr/>
          <p:nvPr/>
        </p:nvSpPr>
        <p:spPr>
          <a:xfrm>
            <a:off x="6837099" y="2377440"/>
            <a:ext cx="201168" cy="1188720"/>
          </a:xfrm>
          <a:prstGeom prst="rect">
            <a:avLst/>
          </a:prstGeom>
          <a:noFill/>
          <a:ln/>
        </p:spPr>
        <p:txBody>
          <a:bodyPr wrap="square" rtlCol="0" anchor="ctr"/>
          <a:lstStyle/>
          <a:p>
            <a:pPr algn="ctr" indent="0" marL="0">
              <a:buNone/>
            </a:pPr>
            <a:r>
              <a:rPr lang="en-US" sz="1600" dirty="0">
                <a:solidFill>
                  <a:srgbClr val="5B6B73"/>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7038267" y="2377440"/>
            <a:ext cx="1421239" cy="1188720"/>
          </a:xfrm>
          <a:prstGeom prst="roundRect">
            <a:avLst>
              <a:gd name="adj" fmla="val 6154"/>
            </a:avLst>
          </a:prstGeom>
          <a:solidFill>
            <a:srgbClr val="0B3D59"/>
          </a:solidFill>
          <a:ln/>
        </p:spPr>
      </p:sp>
      <p:sp>
        <p:nvSpPr>
          <p:cNvPr id="17" name="Text 15"/>
          <p:cNvSpPr/>
          <p:nvPr/>
        </p:nvSpPr>
        <p:spPr>
          <a:xfrm>
            <a:off x="7083987" y="2377440"/>
            <a:ext cx="1329799" cy="11887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MLflow</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Tracking</a:t>
            </a:r>
            <a:endParaRPr lang="en-US" sz="1150" dirty="0"/>
          </a:p>
        </p:txBody>
      </p:sp>
      <p:sp>
        <p:nvSpPr>
          <p:cNvPr id="18" name="Text 16"/>
          <p:cNvSpPr/>
          <p:nvPr/>
        </p:nvSpPr>
        <p:spPr>
          <a:xfrm>
            <a:off x="8459506" y="2377440"/>
            <a:ext cx="201168" cy="1188720"/>
          </a:xfrm>
          <a:prstGeom prst="rect">
            <a:avLst/>
          </a:prstGeom>
          <a:noFill/>
          <a:ln/>
        </p:spPr>
        <p:txBody>
          <a:bodyPr wrap="square" rtlCol="0" anchor="ctr"/>
          <a:lstStyle/>
          <a:p>
            <a:pPr algn="ctr" indent="0" marL="0">
              <a:buNone/>
            </a:pPr>
            <a:r>
              <a:rPr lang="en-US" sz="1600" dirty="0">
                <a:solidFill>
                  <a:srgbClr val="5B6B73"/>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8660674" y="2377440"/>
            <a:ext cx="1421239" cy="1188720"/>
          </a:xfrm>
          <a:prstGeom prst="roundRect">
            <a:avLst>
              <a:gd name="adj" fmla="val 6154"/>
            </a:avLst>
          </a:prstGeom>
          <a:solidFill>
            <a:srgbClr val="0B3D59"/>
          </a:solidFill>
          <a:ln/>
        </p:spPr>
      </p:sp>
      <p:sp>
        <p:nvSpPr>
          <p:cNvPr id="20" name="Text 18"/>
          <p:cNvSpPr/>
          <p:nvPr/>
        </p:nvSpPr>
        <p:spPr>
          <a:xfrm>
            <a:off x="8706394" y="2377440"/>
            <a:ext cx="1329799" cy="11887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Registry</a:t>
            </a:r>
            <a:endParaRPr lang="en-US" sz="1150" dirty="0"/>
          </a:p>
        </p:txBody>
      </p:sp>
      <p:sp>
        <p:nvSpPr>
          <p:cNvPr id="21" name="Text 19"/>
          <p:cNvSpPr/>
          <p:nvPr/>
        </p:nvSpPr>
        <p:spPr>
          <a:xfrm>
            <a:off x="10081913" y="2377440"/>
            <a:ext cx="201168" cy="1188720"/>
          </a:xfrm>
          <a:prstGeom prst="rect">
            <a:avLst/>
          </a:prstGeom>
          <a:noFill/>
          <a:ln/>
        </p:spPr>
        <p:txBody>
          <a:bodyPr wrap="square" rtlCol="0" anchor="ctr"/>
          <a:lstStyle/>
          <a:p>
            <a:pPr algn="ctr" indent="0" marL="0">
              <a:buNone/>
            </a:pPr>
            <a:r>
              <a:rPr lang="en-US" sz="1600" dirty="0">
                <a:solidFill>
                  <a:srgbClr val="5B6B73"/>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10283081" y="2377440"/>
            <a:ext cx="1421239" cy="1188720"/>
          </a:xfrm>
          <a:prstGeom prst="roundRect">
            <a:avLst>
              <a:gd name="adj" fmla="val 6154"/>
            </a:avLst>
          </a:prstGeom>
          <a:solidFill>
            <a:srgbClr val="1C7293"/>
          </a:solidFill>
          <a:ln/>
        </p:spPr>
      </p:sp>
      <p:sp>
        <p:nvSpPr>
          <p:cNvPr id="23" name="Text 21"/>
          <p:cNvSpPr/>
          <p:nvPr/>
        </p:nvSpPr>
        <p:spPr>
          <a:xfrm>
            <a:off x="10328801" y="2377440"/>
            <a:ext cx="1329799" cy="11887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API</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(FastAPI)</a:t>
            </a:r>
            <a:endParaRPr lang="en-US" sz="1150" dirty="0"/>
          </a:p>
        </p:txBody>
      </p:sp>
      <p:sp>
        <p:nvSpPr>
          <p:cNvPr id="24" name="Text 22"/>
          <p:cNvSpPr/>
          <p:nvPr/>
        </p:nvSpPr>
        <p:spPr>
          <a:xfrm>
            <a:off x="548640" y="4023360"/>
            <a:ext cx="10789920" cy="457200"/>
          </a:xfrm>
          <a:prstGeom prst="rect">
            <a:avLst/>
          </a:prstGeom>
          <a:noFill/>
          <a:ln/>
        </p:spPr>
        <p:txBody>
          <a:bodyPr wrap="square" rtlCol="0" anchor="ctr"/>
          <a:lstStyle/>
          <a:p>
            <a:pPr indent="0" marL="0">
              <a:buNone/>
            </a:pPr>
            <a:r>
              <a:rPr lang="en-US" sz="1400" i="1" dirty="0">
                <a:solidFill>
                  <a:srgbClr val="5B6B73"/>
                </a:solidFill>
                <a:latin typeface="Calibri" pitchFamily="34" charset="0"/>
                <a:ea typeface="Calibri" pitchFamily="34" charset="-122"/>
                <a:cs typeface="Calibri" pitchFamily="34" charset="-120"/>
              </a:rPr>
              <a:t>Sin frontend: el backend (FastAPI) es todo el entregable de “aplicación” de este proyecto.</a:t>
            </a:r>
            <a:endParaRPr lang="en-US" sz="1400" dirty="0"/>
          </a:p>
        </p:txBody>
      </p:sp>
      <p:sp>
        <p:nvSpPr>
          <p:cNvPr id="25" name="Shape 23"/>
          <p:cNvSpPr/>
          <p:nvPr/>
        </p:nvSpPr>
        <p:spPr>
          <a:xfrm>
            <a:off x="548640" y="4663440"/>
            <a:ext cx="10789920" cy="1417320"/>
          </a:xfrm>
          <a:prstGeom prst="roundRect">
            <a:avLst>
              <a:gd name="adj" fmla="val 5161"/>
            </a:avLst>
          </a:prstGeom>
          <a:solidFill>
            <a:srgbClr val="F4F7F8"/>
          </a:solidFill>
          <a:ln/>
        </p:spPr>
      </p:sp>
      <p:sp>
        <p:nvSpPr>
          <p:cNvPr id="26" name="Text 24"/>
          <p:cNvSpPr/>
          <p:nvPr/>
        </p:nvSpPr>
        <p:spPr>
          <a:xfrm>
            <a:off x="822960" y="4846320"/>
            <a:ext cx="10241280" cy="1097280"/>
          </a:xfrm>
          <a:prstGeom prst="rect">
            <a:avLst/>
          </a:prstGeom>
          <a:noFill/>
          <a:ln/>
        </p:spPr>
        <p:txBody>
          <a:bodyPr wrap="square" rtlCol="0" anchor="t"/>
          <a:lstStyle/>
          <a:p>
            <a:pPr indent="0" marL="0">
              <a:buNone/>
            </a:pPr>
            <a:r>
              <a:rPr lang="en-US" sz="1400" b="1" dirty="0">
                <a:solidFill>
                  <a:srgbClr val="1F2933"/>
                </a:solidFill>
                <a:latin typeface="Calibri" pitchFamily="34" charset="0"/>
                <a:ea typeface="Calibri" pitchFamily="34" charset="-122"/>
                <a:cs typeface="Calibri" pitchFamily="34" charset="-120"/>
              </a:rPr>
              <a:t>Por qué CNN + Transfer Learning y no una DNN densa o un modelo de NLP:  </a:t>
            </a:r>
            <a:pPr indent="0" marL="0">
              <a:buNone/>
            </a:pPr>
            <a:r>
              <a:rPr lang="en-US" sz="1400" dirty="0">
                <a:solidFill>
                  <a:srgbClr val="5B6B73"/>
                </a:solidFill>
                <a:latin typeface="Calibri" pitchFamily="34" charset="0"/>
                <a:ea typeface="Calibri" pitchFamily="34" charset="-122"/>
                <a:cs typeface="Calibri" pitchFamily="34" charset="-120"/>
              </a:rPr>
              <a:t>la entrada es una imagen, así que la arquitectura natural es convolucional. En vez de entrenar una CNN desde cero (poco viable con miles, no millones, de imágenes), se reutiliza ResNet50 preentrenada en ImageNet.</a:t>
            </a:r>
            <a:endParaRPr lang="en-US" sz="1400" dirty="0"/>
          </a:p>
        </p:txBody>
      </p:sp>
      <p:sp>
        <p:nvSpPr>
          <p:cNvPr id="27" name="Text 25"/>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DATOS</a:t>
            </a:r>
            <a:endParaRPr lang="en-US" sz="1200" dirty="0"/>
          </a:p>
        </p:txBody>
      </p:sp>
      <p:sp>
        <p:nvSpPr>
          <p:cNvPr id="3" name="Text 1"/>
          <p:cNvSpPr/>
          <p:nvPr/>
        </p:nvSpPr>
        <p:spPr>
          <a:xfrm>
            <a:off x="548640" y="685800"/>
            <a:ext cx="10058400" cy="640080"/>
          </a:xfrm>
          <a:prstGeom prst="rect">
            <a:avLst/>
          </a:prstGeom>
          <a:noFill/>
          <a:ln/>
        </p:spPr>
        <p:txBody>
          <a:bodyPr wrap="square" rtlCol="0" anchor="ctr"/>
          <a:lstStyle/>
          <a:p>
            <a:pPr indent="0" marL="0">
              <a:buNone/>
            </a:pPr>
            <a:r>
              <a:rPr lang="en-US" sz="2800" b="1" dirty="0">
                <a:solidFill>
                  <a:srgbClr val="1F2933"/>
                </a:solidFill>
                <a:latin typeface="Cambria" pitchFamily="34" charset="0"/>
                <a:ea typeface="Cambria" pitchFamily="34" charset="-122"/>
                <a:cs typeface="Cambria" pitchFamily="34" charset="-120"/>
              </a:rPr>
              <a:t>Pediatric Chest X-ray Pneumonia</a:t>
            </a:r>
            <a:endParaRPr lang="en-US" sz="2800" dirty="0"/>
          </a:p>
        </p:txBody>
      </p:sp>
      <p:sp>
        <p:nvSpPr>
          <p:cNvPr id="4" name="Text 2"/>
          <p:cNvSpPr/>
          <p:nvPr/>
        </p:nvSpPr>
        <p:spPr>
          <a:xfrm>
            <a:off x="548640" y="1280160"/>
            <a:ext cx="10058400" cy="365760"/>
          </a:xfrm>
          <a:prstGeom prst="rect">
            <a:avLst/>
          </a:prstGeom>
          <a:noFill/>
          <a:ln/>
        </p:spPr>
        <p:txBody>
          <a:bodyPr wrap="square" rtlCol="0" anchor="ctr"/>
          <a:lstStyle/>
          <a:p>
            <a:pPr indent="0" marL="0">
              <a:buNone/>
            </a:pPr>
            <a:r>
              <a:rPr lang="en-US" sz="1300" i="1" dirty="0">
                <a:solidFill>
                  <a:srgbClr val="5B6B73"/>
                </a:solidFill>
                <a:latin typeface="Calibri" pitchFamily="34" charset="0"/>
                <a:ea typeface="Calibri" pitchFamily="34" charset="-122"/>
                <a:cs typeface="Calibri" pitchFamily="34" charset="-120"/>
              </a:rPr>
              <a:t>Kermany D, Goldbaum M, Cai W, et al. Cell. 2018;172(5):1122-1131  ·  vía Kaggle (andrewmvd)</a:t>
            </a:r>
            <a:endParaRPr lang="en-US" sz="1300" dirty="0"/>
          </a:p>
        </p:txBody>
      </p:sp>
      <p:sp>
        <p:nvSpPr>
          <p:cNvPr id="5" name="Shape 3"/>
          <p:cNvSpPr/>
          <p:nvPr/>
        </p:nvSpPr>
        <p:spPr>
          <a:xfrm>
            <a:off x="548640" y="1965960"/>
            <a:ext cx="2651760" cy="1371600"/>
          </a:xfrm>
          <a:prstGeom prst="roundRect">
            <a:avLst>
              <a:gd name="adj" fmla="val 5333"/>
            </a:avLst>
          </a:prstGeom>
          <a:solidFill>
            <a:srgbClr val="0B3D59"/>
          </a:solidFill>
          <a:ln/>
        </p:spPr>
      </p:sp>
      <p:sp>
        <p:nvSpPr>
          <p:cNvPr id="6" name="Text 4"/>
          <p:cNvSpPr/>
          <p:nvPr/>
        </p:nvSpPr>
        <p:spPr>
          <a:xfrm>
            <a:off x="548640" y="2084832"/>
            <a:ext cx="2651760" cy="640080"/>
          </a:xfrm>
          <a:prstGeom prst="rect">
            <a:avLst/>
          </a:prstGeom>
          <a:noFill/>
          <a:ln/>
        </p:spPr>
        <p:txBody>
          <a:bodyPr wrap="square" rtlCol="0" anchor="ctr"/>
          <a:lstStyle/>
          <a:p>
            <a:pPr algn="ctr" indent="0" marL="0">
              <a:buNone/>
            </a:pPr>
            <a:r>
              <a:rPr lang="en-US" sz="3000" b="1" dirty="0">
                <a:solidFill>
                  <a:srgbClr val="4FB6C8"/>
                </a:solidFill>
                <a:latin typeface="Cambria" pitchFamily="34" charset="0"/>
                <a:ea typeface="Cambria" pitchFamily="34" charset="-122"/>
                <a:cs typeface="Cambria" pitchFamily="34" charset="-120"/>
              </a:rPr>
              <a:t>5,856</a:t>
            </a:r>
            <a:endParaRPr lang="en-US" sz="3000" dirty="0"/>
          </a:p>
        </p:txBody>
      </p:sp>
      <p:sp>
        <p:nvSpPr>
          <p:cNvPr id="7" name="Text 5"/>
          <p:cNvSpPr/>
          <p:nvPr/>
        </p:nvSpPr>
        <p:spPr>
          <a:xfrm>
            <a:off x="640080" y="2697480"/>
            <a:ext cx="2468880" cy="502920"/>
          </a:xfrm>
          <a:prstGeom prst="rect">
            <a:avLst/>
          </a:prstGeom>
          <a:noFill/>
          <a:ln/>
        </p:spPr>
        <p:txBody>
          <a:bodyPr wrap="square" rtlCol="0" anchor="ctr"/>
          <a:lstStyle/>
          <a:p>
            <a:pPr algn="ctr" indent="0" marL="0">
              <a:buNone/>
            </a:pPr>
            <a:r>
              <a:rPr lang="en-US" sz="1200" dirty="0">
                <a:solidFill>
                  <a:srgbClr val="D7E4EA"/>
                </a:solidFill>
                <a:latin typeface="Calibri" pitchFamily="34" charset="0"/>
                <a:ea typeface="Calibri" pitchFamily="34" charset="-122"/>
                <a:cs typeface="Calibri" pitchFamily="34" charset="-120"/>
              </a:rPr>
              <a:t>imágenes totales</a:t>
            </a:r>
            <a:endParaRPr lang="en-US" sz="1200" dirty="0"/>
          </a:p>
        </p:txBody>
      </p:sp>
      <p:sp>
        <p:nvSpPr>
          <p:cNvPr id="8" name="Shape 6"/>
          <p:cNvSpPr/>
          <p:nvPr/>
        </p:nvSpPr>
        <p:spPr>
          <a:xfrm>
            <a:off x="3337560" y="1965960"/>
            <a:ext cx="2651760" cy="1371600"/>
          </a:xfrm>
          <a:prstGeom prst="roundRect">
            <a:avLst>
              <a:gd name="adj" fmla="val 5333"/>
            </a:avLst>
          </a:prstGeom>
          <a:solidFill>
            <a:srgbClr val="0B3D59"/>
          </a:solidFill>
          <a:ln/>
        </p:spPr>
      </p:sp>
      <p:sp>
        <p:nvSpPr>
          <p:cNvPr id="9" name="Text 7"/>
          <p:cNvSpPr/>
          <p:nvPr/>
        </p:nvSpPr>
        <p:spPr>
          <a:xfrm>
            <a:off x="3337560" y="2084832"/>
            <a:ext cx="2651760" cy="640080"/>
          </a:xfrm>
          <a:prstGeom prst="rect">
            <a:avLst/>
          </a:prstGeom>
          <a:noFill/>
          <a:ln/>
        </p:spPr>
        <p:txBody>
          <a:bodyPr wrap="square" rtlCol="0" anchor="ctr"/>
          <a:lstStyle/>
          <a:p>
            <a:pPr algn="ctr" indent="0" marL="0">
              <a:buNone/>
            </a:pPr>
            <a:r>
              <a:rPr lang="en-US" sz="3000" b="1" dirty="0">
                <a:solidFill>
                  <a:srgbClr val="4FB6C8"/>
                </a:solidFill>
                <a:latin typeface="Cambria" pitchFamily="34" charset="0"/>
                <a:ea typeface="Cambria" pitchFamily="34" charset="-122"/>
                <a:cs typeface="Cambria" pitchFamily="34" charset="-120"/>
              </a:rPr>
              <a:t>1,583</a:t>
            </a:r>
            <a:endParaRPr lang="en-US" sz="3000" dirty="0"/>
          </a:p>
        </p:txBody>
      </p:sp>
      <p:sp>
        <p:nvSpPr>
          <p:cNvPr id="10" name="Text 8"/>
          <p:cNvSpPr/>
          <p:nvPr/>
        </p:nvSpPr>
        <p:spPr>
          <a:xfrm>
            <a:off x="3429000" y="2697480"/>
            <a:ext cx="2468880" cy="502920"/>
          </a:xfrm>
          <a:prstGeom prst="rect">
            <a:avLst/>
          </a:prstGeom>
          <a:noFill/>
          <a:ln/>
        </p:spPr>
        <p:txBody>
          <a:bodyPr wrap="square" rtlCol="0" anchor="ctr"/>
          <a:lstStyle/>
          <a:p>
            <a:pPr algn="ctr" indent="0" marL="0">
              <a:buNone/>
            </a:pPr>
            <a:r>
              <a:rPr lang="en-US" sz="1200" dirty="0">
                <a:solidFill>
                  <a:srgbClr val="D7E4EA"/>
                </a:solidFill>
                <a:latin typeface="Calibri" pitchFamily="34" charset="0"/>
                <a:ea typeface="Calibri" pitchFamily="34" charset="-122"/>
                <a:cs typeface="Calibri" pitchFamily="34" charset="-120"/>
              </a:rPr>
              <a:t>NORMAL</a:t>
            </a:r>
            <a:endParaRPr lang="en-US" sz="1200" dirty="0"/>
          </a:p>
        </p:txBody>
      </p:sp>
      <p:sp>
        <p:nvSpPr>
          <p:cNvPr id="11" name="Shape 9"/>
          <p:cNvSpPr/>
          <p:nvPr/>
        </p:nvSpPr>
        <p:spPr>
          <a:xfrm>
            <a:off x="6126480" y="1965960"/>
            <a:ext cx="2651760" cy="1371600"/>
          </a:xfrm>
          <a:prstGeom prst="roundRect">
            <a:avLst>
              <a:gd name="adj" fmla="val 5333"/>
            </a:avLst>
          </a:prstGeom>
          <a:solidFill>
            <a:srgbClr val="0B3D59"/>
          </a:solidFill>
          <a:ln/>
        </p:spPr>
      </p:sp>
      <p:sp>
        <p:nvSpPr>
          <p:cNvPr id="12" name="Text 10"/>
          <p:cNvSpPr/>
          <p:nvPr/>
        </p:nvSpPr>
        <p:spPr>
          <a:xfrm>
            <a:off x="6126480" y="2084832"/>
            <a:ext cx="2651760" cy="640080"/>
          </a:xfrm>
          <a:prstGeom prst="rect">
            <a:avLst/>
          </a:prstGeom>
          <a:noFill/>
          <a:ln/>
        </p:spPr>
        <p:txBody>
          <a:bodyPr wrap="square" rtlCol="0" anchor="ctr"/>
          <a:lstStyle/>
          <a:p>
            <a:pPr algn="ctr" indent="0" marL="0">
              <a:buNone/>
            </a:pPr>
            <a:r>
              <a:rPr lang="en-US" sz="3000" b="1" dirty="0">
                <a:solidFill>
                  <a:srgbClr val="4FB6C8"/>
                </a:solidFill>
                <a:latin typeface="Cambria" pitchFamily="34" charset="0"/>
                <a:ea typeface="Cambria" pitchFamily="34" charset="-122"/>
                <a:cs typeface="Cambria" pitchFamily="34" charset="-120"/>
              </a:rPr>
              <a:t>4,273</a:t>
            </a:r>
            <a:endParaRPr lang="en-US" sz="3000" dirty="0"/>
          </a:p>
        </p:txBody>
      </p:sp>
      <p:sp>
        <p:nvSpPr>
          <p:cNvPr id="13" name="Text 11"/>
          <p:cNvSpPr/>
          <p:nvPr/>
        </p:nvSpPr>
        <p:spPr>
          <a:xfrm>
            <a:off x="6217920" y="2697480"/>
            <a:ext cx="2468880" cy="502920"/>
          </a:xfrm>
          <a:prstGeom prst="rect">
            <a:avLst/>
          </a:prstGeom>
          <a:noFill/>
          <a:ln/>
        </p:spPr>
        <p:txBody>
          <a:bodyPr wrap="square" rtlCol="0" anchor="ctr"/>
          <a:lstStyle/>
          <a:p>
            <a:pPr algn="ctr" indent="0" marL="0">
              <a:buNone/>
            </a:pPr>
            <a:r>
              <a:rPr lang="en-US" sz="1200" dirty="0">
                <a:solidFill>
                  <a:srgbClr val="D7E4EA"/>
                </a:solidFill>
                <a:latin typeface="Calibri" pitchFamily="34" charset="0"/>
                <a:ea typeface="Calibri" pitchFamily="34" charset="-122"/>
                <a:cs typeface="Calibri" pitchFamily="34" charset="-120"/>
              </a:rPr>
              <a:t>PNEUMONIA</a:t>
            </a:r>
            <a:endParaRPr lang="en-US" sz="1200" dirty="0"/>
          </a:p>
        </p:txBody>
      </p:sp>
      <p:sp>
        <p:nvSpPr>
          <p:cNvPr id="14" name="Shape 12"/>
          <p:cNvSpPr/>
          <p:nvPr/>
        </p:nvSpPr>
        <p:spPr>
          <a:xfrm>
            <a:off x="8915400" y="1965960"/>
            <a:ext cx="2651760" cy="1371600"/>
          </a:xfrm>
          <a:prstGeom prst="roundRect">
            <a:avLst>
              <a:gd name="adj" fmla="val 5333"/>
            </a:avLst>
          </a:prstGeom>
          <a:solidFill>
            <a:srgbClr val="0B3D59"/>
          </a:solidFill>
          <a:ln/>
        </p:spPr>
      </p:sp>
      <p:sp>
        <p:nvSpPr>
          <p:cNvPr id="15" name="Text 13"/>
          <p:cNvSpPr/>
          <p:nvPr/>
        </p:nvSpPr>
        <p:spPr>
          <a:xfrm>
            <a:off x="8915400" y="2084832"/>
            <a:ext cx="2651760" cy="640080"/>
          </a:xfrm>
          <a:prstGeom prst="rect">
            <a:avLst/>
          </a:prstGeom>
          <a:noFill/>
          <a:ln/>
        </p:spPr>
        <p:txBody>
          <a:bodyPr wrap="square" rtlCol="0" anchor="ctr"/>
          <a:lstStyle/>
          <a:p>
            <a:pPr algn="ctr" indent="0" marL="0">
              <a:buNone/>
            </a:pPr>
            <a:r>
              <a:rPr lang="en-US" sz="3000" b="1" dirty="0">
                <a:solidFill>
                  <a:srgbClr val="4FB6C8"/>
                </a:solidFill>
                <a:latin typeface="Cambria" pitchFamily="34" charset="0"/>
                <a:ea typeface="Cambria" pitchFamily="34" charset="-122"/>
                <a:cs typeface="Cambria" pitchFamily="34" charset="-120"/>
              </a:rPr>
              <a:t>2,000</a:t>
            </a:r>
            <a:endParaRPr lang="en-US" sz="3000" dirty="0"/>
          </a:p>
        </p:txBody>
      </p:sp>
      <p:sp>
        <p:nvSpPr>
          <p:cNvPr id="16" name="Text 14"/>
          <p:cNvSpPr/>
          <p:nvPr/>
        </p:nvSpPr>
        <p:spPr>
          <a:xfrm>
            <a:off x="9006840" y="2697480"/>
            <a:ext cx="2468880" cy="502920"/>
          </a:xfrm>
          <a:prstGeom prst="rect">
            <a:avLst/>
          </a:prstGeom>
          <a:noFill/>
          <a:ln/>
        </p:spPr>
        <p:txBody>
          <a:bodyPr wrap="square" rtlCol="0" anchor="ctr"/>
          <a:lstStyle/>
          <a:p>
            <a:pPr algn="ctr" indent="0" marL="0">
              <a:buNone/>
            </a:pPr>
            <a:r>
              <a:rPr lang="en-US" sz="1200" dirty="0">
                <a:solidFill>
                  <a:srgbClr val="D7E4EA"/>
                </a:solidFill>
                <a:latin typeface="Calibri" pitchFamily="34" charset="0"/>
                <a:ea typeface="Calibri" pitchFamily="34" charset="-122"/>
                <a:cs typeface="Calibri" pitchFamily="34" charset="-120"/>
              </a:rPr>
              <a:t>usadas en la demo (balanceadas)</a:t>
            </a:r>
            <a:endParaRPr lang="en-US" sz="1200" dirty="0"/>
          </a:p>
        </p:txBody>
      </p:sp>
      <p:sp>
        <p:nvSpPr>
          <p:cNvPr id="17" name="Text 15"/>
          <p:cNvSpPr/>
          <p:nvPr/>
        </p:nvSpPr>
        <p:spPr>
          <a:xfrm>
            <a:off x="548640" y="3703320"/>
            <a:ext cx="10789920" cy="457200"/>
          </a:xfrm>
          <a:prstGeom prst="rect">
            <a:avLst/>
          </a:prstGeom>
          <a:noFill/>
          <a:ln/>
        </p:spPr>
        <p:txBody>
          <a:bodyPr wrap="square" rtlCol="0" anchor="ctr"/>
          <a:lstStyle/>
          <a:p>
            <a:pPr indent="0" marL="0">
              <a:buNone/>
            </a:pPr>
            <a:r>
              <a:rPr lang="en-US" sz="1300" dirty="0">
                <a:solidFill>
                  <a:srgbClr val="5B6B73"/>
                </a:solidFill>
                <a:latin typeface="Calibri" pitchFamily="34" charset="0"/>
                <a:ea typeface="Calibri" pitchFamily="34" charset="-122"/>
                <a:cs typeface="Calibri" pitchFamily="34" charset="-120"/>
              </a:rPr>
              <a:t>Diseño del código: label numérico + label_name permiten ampliar a multiclase (ej. bacteriana / viral) sin rediseñar el pipeline.</a:t>
            </a:r>
            <a:endParaRPr lang="en-US" sz="1300" dirty="0"/>
          </a:p>
        </p:txBody>
      </p:sp>
      <p:sp>
        <p:nvSpPr>
          <p:cNvPr id="18" name="Text 16"/>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9B2D2D"/>
                </a:solidFill>
                <a:latin typeface="Calibri" pitchFamily="34" charset="0"/>
                <a:ea typeface="Calibri" pitchFamily="34" charset="-122"/>
                <a:cs typeface="Calibri" pitchFamily="34" charset="-120"/>
              </a:rPr>
              <a:t>CALIDAD DE DATOS — ANTES DE ENTRENAR CUALQUIER MODELO</a:t>
            </a:r>
            <a:endParaRPr lang="en-US" sz="1200" dirty="0"/>
          </a:p>
        </p:txBody>
      </p:sp>
      <p:sp>
        <p:nvSpPr>
          <p:cNvPr id="3" name="Text 1"/>
          <p:cNvSpPr/>
          <p:nvPr/>
        </p:nvSpPr>
        <p:spPr>
          <a:xfrm>
            <a:off x="548640" y="685800"/>
            <a:ext cx="10058400" cy="640080"/>
          </a:xfrm>
          <a:prstGeom prst="rect">
            <a:avLst/>
          </a:prstGeom>
          <a:noFill/>
          <a:ln/>
        </p:spPr>
        <p:txBody>
          <a:bodyPr wrap="square" rtlCol="0" anchor="ctr"/>
          <a:lstStyle/>
          <a:p>
            <a:pPr indent="0" marL="0">
              <a:buNone/>
            </a:pPr>
            <a:r>
              <a:rPr lang="en-US" sz="2800" b="1" dirty="0">
                <a:solidFill>
                  <a:srgbClr val="1F2933"/>
                </a:solidFill>
                <a:latin typeface="Cambria" pitchFamily="34" charset="0"/>
                <a:ea typeface="Cambria" pitchFamily="34" charset="-122"/>
                <a:cs typeface="Cambria" pitchFamily="34" charset="-120"/>
              </a:rPr>
              <a:t>Fuga de datos a nivel paciente</a:t>
            </a:r>
            <a:endParaRPr lang="en-US" sz="2800" dirty="0"/>
          </a:p>
        </p:txBody>
      </p:sp>
      <p:sp>
        <p:nvSpPr>
          <p:cNvPr id="4" name="Text 2"/>
          <p:cNvSpPr/>
          <p:nvPr/>
        </p:nvSpPr>
        <p:spPr>
          <a:xfrm>
            <a:off x="548640" y="1417320"/>
            <a:ext cx="10789920" cy="914400"/>
          </a:xfrm>
          <a:prstGeom prst="rect">
            <a:avLst/>
          </a:prstGeom>
          <a:noFill/>
          <a:ln/>
        </p:spPr>
        <p:txBody>
          <a:bodyPr wrap="square" rtlCol="0" anchor="t"/>
          <a:lstStyle/>
          <a:p>
            <a:pPr indent="0" marL="0">
              <a:buNone/>
            </a:pPr>
            <a:r>
              <a:rPr lang="en-US" sz="1500" dirty="0">
                <a:solidFill>
                  <a:srgbClr val="1F2933"/>
                </a:solidFill>
                <a:latin typeface="Calibri" pitchFamily="34" charset="0"/>
                <a:ea typeface="Calibri" pitchFamily="34" charset="-122"/>
                <a:cs typeface="Calibri" pitchFamily="34" charset="-120"/>
              </a:rPr>
              <a:t>Las imágenes de PNEUMONIA siguen el patrón </a:t>
            </a:r>
            <a:pPr indent="0" marL="0">
              <a:buNone/>
            </a:pPr>
            <a:r>
              <a:rPr lang="en-US" sz="1500" b="1" dirty="0">
                <a:solidFill>
                  <a:srgbClr val="0B3D59"/>
                </a:solidFill>
                <a:latin typeface="Courier New" pitchFamily="34" charset="0"/>
                <a:ea typeface="Courier New" pitchFamily="34" charset="-122"/>
                <a:cs typeface="Courier New" pitchFamily="34" charset="-120"/>
              </a:rPr>
              <a:t>personNNNN_{bacteria|virus}_MMMM.jpeg</a:t>
            </a:r>
            <a:pPr indent="0" marL="0">
              <a:buNone/>
            </a:pPr>
            <a:r>
              <a:rPr lang="en-US" sz="1500" dirty="0">
                <a:solidFill>
                  <a:srgbClr val="1F2933"/>
                </a:solidFill>
                <a:latin typeface="Calibri" pitchFamily="34" charset="0"/>
                <a:ea typeface="Calibri" pitchFamily="34" charset="-122"/>
                <a:cs typeface="Calibri" pitchFamily="34" charset="-120"/>
              </a:rPr>
              <a:t>. Al inspeccionar el dataset se confirmó que un mismo paciente puede tener imágenes tanto en train/ como en test/ original:</a:t>
            </a:r>
            <a:endParaRPr lang="en-US" sz="1500" dirty="0"/>
          </a:p>
        </p:txBody>
      </p:sp>
      <p:sp>
        <p:nvSpPr>
          <p:cNvPr id="5" name="Shape 3"/>
          <p:cNvSpPr/>
          <p:nvPr/>
        </p:nvSpPr>
        <p:spPr>
          <a:xfrm>
            <a:off x="548640" y="2514600"/>
            <a:ext cx="10789920" cy="1417320"/>
          </a:xfrm>
          <a:prstGeom prst="roundRect">
            <a:avLst>
              <a:gd name="adj" fmla="val 5161"/>
            </a:avLst>
          </a:prstGeom>
          <a:solidFill>
            <a:srgbClr val="FBEAEA"/>
          </a:solidFill>
          <a:ln/>
        </p:spPr>
      </p:sp>
      <p:sp>
        <p:nvSpPr>
          <p:cNvPr id="6" name="Text 4"/>
          <p:cNvSpPr/>
          <p:nvPr/>
        </p:nvSpPr>
        <p:spPr>
          <a:xfrm>
            <a:off x="822960" y="2697480"/>
            <a:ext cx="10058400" cy="365760"/>
          </a:xfrm>
          <a:prstGeom prst="rect">
            <a:avLst/>
          </a:prstGeom>
          <a:noFill/>
          <a:ln/>
        </p:spPr>
        <p:txBody>
          <a:bodyPr wrap="square" rtlCol="0" anchor="ctr"/>
          <a:lstStyle/>
          <a:p>
            <a:pPr indent="0" marL="0">
              <a:buNone/>
            </a:pPr>
            <a:r>
              <a:rPr lang="en-US" sz="1300" b="1" dirty="0">
                <a:solidFill>
                  <a:srgbClr val="9B2D2D"/>
                </a:solidFill>
                <a:latin typeface="Calibri" pitchFamily="34" charset="0"/>
                <a:ea typeface="Calibri" pitchFamily="34" charset="-122"/>
                <a:cs typeface="Calibri" pitchFamily="34" charset="-120"/>
              </a:rPr>
              <a:t>Ejemplo real, encontrado en el propio dataset:</a:t>
            </a:r>
            <a:endParaRPr lang="en-US" sz="1300" dirty="0"/>
          </a:p>
        </p:txBody>
      </p:sp>
      <p:sp>
        <p:nvSpPr>
          <p:cNvPr id="7" name="Text 5"/>
          <p:cNvSpPr/>
          <p:nvPr/>
        </p:nvSpPr>
        <p:spPr>
          <a:xfrm>
            <a:off x="822960" y="3108960"/>
            <a:ext cx="10241280" cy="731520"/>
          </a:xfrm>
          <a:prstGeom prst="rect">
            <a:avLst/>
          </a:prstGeom>
          <a:noFill/>
          <a:ln/>
        </p:spPr>
        <p:txBody>
          <a:bodyPr wrap="square" rtlCol="0" anchor="t"/>
          <a:lstStyle/>
          <a:p>
            <a:pPr indent="0" marL="0">
              <a:buNone/>
            </a:pPr>
            <a:r>
              <a:rPr lang="en-US" sz="1400" b="1" dirty="0">
                <a:solidFill>
                  <a:srgbClr val="9B2D2D"/>
                </a:solidFill>
                <a:latin typeface="Courier New" pitchFamily="34" charset="0"/>
                <a:ea typeface="Courier New" pitchFamily="34" charset="-122"/>
                <a:cs typeface="Courier New" pitchFamily="34" charset="-120"/>
              </a:rPr>
              <a:t>person100</a:t>
            </a:r>
            <a:pPr indent="0" marL="0">
              <a:buNone/>
            </a:pPr>
            <a:r>
              <a:rPr lang="en-US" sz="1400" dirty="0">
                <a:solidFill>
                  <a:srgbClr val="1F2933"/>
                </a:solidFill>
                <a:latin typeface="Calibri" pitchFamily="34" charset="0"/>
                <a:ea typeface="Calibri" pitchFamily="34" charset="-122"/>
                <a:cs typeface="Calibri" pitchFamily="34" charset="-120"/>
              </a:rPr>
              <a:t>  →  person100_virus_184.jpeg en </a:t>
            </a:r>
            <a:pPr indent="0" marL="0">
              <a:buNone/>
            </a:pPr>
            <a:r>
              <a:rPr lang="en-US" sz="1400" dirty="0">
                <a:solidFill>
                  <a:srgbClr val="1F2933"/>
                </a:solidFill>
                <a:latin typeface="Courier New" pitchFamily="34" charset="0"/>
                <a:ea typeface="Courier New" pitchFamily="34" charset="-122"/>
                <a:cs typeface="Courier New" pitchFamily="34" charset="-120"/>
              </a:rPr>
              <a:t>train/</a:t>
            </a:r>
            <a:pPr indent="0" marL="0">
              <a:buNone/>
            </a:pPr>
            <a:r>
              <a:rPr lang="en-US" sz="1400" dirty="0">
                <a:solidFill>
                  <a:srgbClr val="1F2933"/>
                </a:solidFill>
                <a:latin typeface="Calibri" pitchFamily="34" charset="0"/>
                <a:ea typeface="Calibri" pitchFamily="34" charset="-122"/>
                <a:cs typeface="Calibri" pitchFamily="34" charset="-120"/>
              </a:rPr>
              <a:t>   ·   person100_bacteria_475/477/478/479.jpeg en </a:t>
            </a:r>
            <a:pPr indent="0" marL="0">
              <a:buNone/>
            </a:pPr>
            <a:r>
              <a:rPr lang="en-US" sz="1400" dirty="0">
                <a:solidFill>
                  <a:srgbClr val="1F2933"/>
                </a:solidFill>
                <a:latin typeface="Courier New" pitchFamily="34" charset="0"/>
                <a:ea typeface="Courier New" pitchFamily="34" charset="-122"/>
                <a:cs typeface="Courier New" pitchFamily="34" charset="-120"/>
              </a:rPr>
              <a:t>test/</a:t>
            </a:r>
            <a:endParaRPr lang="en-US" sz="1400" dirty="0"/>
          </a:p>
        </p:txBody>
      </p:sp>
      <p:sp>
        <p:nvSpPr>
          <p:cNvPr id="8" name="Text 6"/>
          <p:cNvSpPr/>
          <p:nvPr/>
        </p:nvSpPr>
        <p:spPr>
          <a:xfrm>
            <a:off x="548640" y="4206240"/>
            <a:ext cx="10789920" cy="822960"/>
          </a:xfrm>
          <a:prstGeom prst="rect">
            <a:avLst/>
          </a:prstGeom>
          <a:noFill/>
          <a:ln/>
        </p:spPr>
        <p:txBody>
          <a:bodyPr wrap="square" rtlCol="0" anchor="t"/>
          <a:lstStyle/>
          <a:p>
            <a:pPr indent="0" marL="0">
              <a:buNone/>
            </a:pPr>
            <a:r>
              <a:rPr lang="en-US" sz="1400" b="1" dirty="0">
                <a:solidFill>
                  <a:srgbClr val="1F2933"/>
                </a:solidFill>
                <a:latin typeface="Calibri" pitchFamily="34" charset="0"/>
                <a:ea typeface="Calibri" pitchFamily="34" charset="-122"/>
                <a:cs typeface="Calibri" pitchFamily="34" charset="-120"/>
              </a:rPr>
              <a:t>Solución aplicada:  </a:t>
            </a:r>
            <a:pPr indent="0" marL="0">
              <a:buNone/>
            </a:pPr>
            <a:r>
              <a:rPr lang="en-US" sz="1400" dirty="0">
                <a:solidFill>
                  <a:srgbClr val="5B6B73"/>
                </a:solidFill>
                <a:latin typeface="Calibri" pitchFamily="34" charset="0"/>
                <a:ea typeface="Calibri" pitchFamily="34" charset="-122"/>
                <a:cs typeface="Calibri" pitchFamily="34" charset="-120"/>
              </a:rPr>
              <a:t>manifiesto propio (train + test originales juntos) con split 70/15/15 agrupado por paciente — un mismo paciente nunca queda repartido entre dos splits.</a:t>
            </a:r>
            <a:endParaRPr lang="en-US" sz="1400" dirty="0"/>
          </a:p>
        </p:txBody>
      </p:sp>
      <p:sp>
        <p:nvSpPr>
          <p:cNvPr id="9" name="Text 7"/>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MODELO</a:t>
            </a:r>
            <a:endParaRPr lang="en-US" sz="1200" dirty="0"/>
          </a:p>
        </p:txBody>
      </p:sp>
      <p:sp>
        <p:nvSpPr>
          <p:cNvPr id="3" name="Text 1"/>
          <p:cNvSpPr/>
          <p:nvPr/>
        </p:nvSpPr>
        <p:spPr>
          <a:xfrm>
            <a:off x="548640" y="685800"/>
            <a:ext cx="10058400" cy="640080"/>
          </a:xfrm>
          <a:prstGeom prst="rect">
            <a:avLst/>
          </a:prstGeom>
          <a:noFill/>
          <a:ln/>
        </p:spPr>
        <p:txBody>
          <a:bodyPr wrap="square" rtlCol="0" anchor="ctr"/>
          <a:lstStyle/>
          <a:p>
            <a:pPr indent="0" marL="0">
              <a:buNone/>
            </a:pPr>
            <a:r>
              <a:rPr lang="en-US" sz="2800" b="1" dirty="0">
                <a:solidFill>
                  <a:srgbClr val="1F2933"/>
                </a:solidFill>
                <a:latin typeface="Cambria" pitchFamily="34" charset="0"/>
                <a:ea typeface="Cambria" pitchFamily="34" charset="-122"/>
                <a:cs typeface="Cambria" pitchFamily="34" charset="-120"/>
              </a:rPr>
              <a:t>CNN + Transfer Learning (ResNet50)</a:t>
            </a:r>
            <a:endParaRPr lang="en-US" sz="2800" dirty="0"/>
          </a:p>
        </p:txBody>
      </p:sp>
      <p:sp>
        <p:nvSpPr>
          <p:cNvPr id="4" name="Shape 2"/>
          <p:cNvSpPr/>
          <p:nvPr/>
        </p:nvSpPr>
        <p:spPr>
          <a:xfrm>
            <a:off x="548640" y="1828800"/>
            <a:ext cx="1436914" cy="1371600"/>
          </a:xfrm>
          <a:prstGeom prst="roundRect">
            <a:avLst>
              <a:gd name="adj" fmla="val 5333"/>
            </a:avLst>
          </a:prstGeom>
          <a:solidFill>
            <a:srgbClr val="F4F7F8"/>
          </a:solidFill>
          <a:ln w="12700">
            <a:solidFill>
              <a:srgbClr val="D7DEE2"/>
            </a:solidFill>
            <a:prstDash val="solid"/>
          </a:ln>
        </p:spPr>
      </p:sp>
      <p:sp>
        <p:nvSpPr>
          <p:cNvPr id="5" name="Text 3"/>
          <p:cNvSpPr/>
          <p:nvPr/>
        </p:nvSpPr>
        <p:spPr>
          <a:xfrm>
            <a:off x="585216" y="1828800"/>
            <a:ext cx="1363762" cy="1371600"/>
          </a:xfrm>
          <a:prstGeom prst="rect">
            <a:avLst/>
          </a:prstGeom>
          <a:noFill/>
          <a:ln/>
        </p:spPr>
        <p:txBody>
          <a:bodyPr wrap="square"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Imagen</a:t>
            </a:r>
            <a:endParaRPr lang="en-US" sz="1100" dirty="0"/>
          </a:p>
          <a:p>
            <a:pPr algn="ctr" indent="0" marL="0">
              <a:buNone/>
            </a:pPr>
            <a:r>
              <a:rPr lang="en-US" sz="1100" dirty="0">
                <a:solidFill>
                  <a:srgbClr val="1F2933"/>
                </a:solidFill>
                <a:latin typeface="Calibri" pitchFamily="34" charset="0"/>
                <a:ea typeface="Calibri" pitchFamily="34" charset="-122"/>
                <a:cs typeface="Calibri" pitchFamily="34" charset="-120"/>
              </a:rPr>
              <a:t>224×224</a:t>
            </a:r>
            <a:endParaRPr lang="en-US" sz="1100" dirty="0"/>
          </a:p>
        </p:txBody>
      </p:sp>
      <p:sp>
        <p:nvSpPr>
          <p:cNvPr id="6" name="Shape 4"/>
          <p:cNvSpPr/>
          <p:nvPr/>
        </p:nvSpPr>
        <p:spPr>
          <a:xfrm>
            <a:off x="2168434" y="1828800"/>
            <a:ext cx="1436914" cy="1371600"/>
          </a:xfrm>
          <a:prstGeom prst="roundRect">
            <a:avLst>
              <a:gd name="adj" fmla="val 5333"/>
            </a:avLst>
          </a:prstGeom>
          <a:solidFill>
            <a:srgbClr val="F4F7F8"/>
          </a:solidFill>
          <a:ln w="12700">
            <a:solidFill>
              <a:srgbClr val="D7DEE2"/>
            </a:solidFill>
            <a:prstDash val="solid"/>
          </a:ln>
        </p:spPr>
      </p:sp>
      <p:sp>
        <p:nvSpPr>
          <p:cNvPr id="7" name="Text 5"/>
          <p:cNvSpPr/>
          <p:nvPr/>
        </p:nvSpPr>
        <p:spPr>
          <a:xfrm>
            <a:off x="2205010" y="1828800"/>
            <a:ext cx="1363762" cy="1371600"/>
          </a:xfrm>
          <a:prstGeom prst="rect">
            <a:avLst/>
          </a:prstGeom>
          <a:noFill/>
          <a:ln/>
        </p:spPr>
        <p:txBody>
          <a:bodyPr wrap="square"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preprocess_</a:t>
            </a:r>
            <a:endParaRPr lang="en-US" sz="1100" dirty="0"/>
          </a:p>
          <a:p>
            <a:pPr algn="ctr" indent="0" marL="0">
              <a:buNone/>
            </a:pPr>
            <a:r>
              <a:rPr lang="en-US" sz="1100" dirty="0">
                <a:solidFill>
                  <a:srgbClr val="1F2933"/>
                </a:solidFill>
                <a:latin typeface="Calibri" pitchFamily="34" charset="0"/>
                <a:ea typeface="Calibri" pitchFamily="34" charset="-122"/>
                <a:cs typeface="Calibri" pitchFamily="34" charset="-120"/>
              </a:rPr>
              <a:t>input</a:t>
            </a:r>
            <a:endParaRPr lang="en-US" sz="1100" dirty="0"/>
          </a:p>
        </p:txBody>
      </p:sp>
      <p:sp>
        <p:nvSpPr>
          <p:cNvPr id="8" name="Shape 6"/>
          <p:cNvSpPr/>
          <p:nvPr/>
        </p:nvSpPr>
        <p:spPr>
          <a:xfrm>
            <a:off x="3788229" y="1828800"/>
            <a:ext cx="1436914" cy="1371600"/>
          </a:xfrm>
          <a:prstGeom prst="roundRect">
            <a:avLst>
              <a:gd name="adj" fmla="val 5333"/>
            </a:avLst>
          </a:prstGeom>
          <a:solidFill>
            <a:srgbClr val="1C7293"/>
          </a:solidFill>
          <a:ln w="12700">
            <a:solidFill>
              <a:srgbClr val="1C7293"/>
            </a:solidFill>
            <a:prstDash val="solid"/>
          </a:ln>
        </p:spPr>
      </p:sp>
      <p:sp>
        <p:nvSpPr>
          <p:cNvPr id="9" name="Text 7"/>
          <p:cNvSpPr/>
          <p:nvPr/>
        </p:nvSpPr>
        <p:spPr>
          <a:xfrm>
            <a:off x="3824805" y="1828800"/>
            <a:ext cx="1363762" cy="1371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ResNet50</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(ImageNet)</a:t>
            </a:r>
            <a:endParaRPr lang="en-US" sz="1100" dirty="0"/>
          </a:p>
        </p:txBody>
      </p:sp>
      <p:sp>
        <p:nvSpPr>
          <p:cNvPr id="10" name="Shape 8"/>
          <p:cNvSpPr/>
          <p:nvPr/>
        </p:nvSpPr>
        <p:spPr>
          <a:xfrm>
            <a:off x="5408023" y="1828800"/>
            <a:ext cx="1436914" cy="1371600"/>
          </a:xfrm>
          <a:prstGeom prst="roundRect">
            <a:avLst>
              <a:gd name="adj" fmla="val 5333"/>
            </a:avLst>
          </a:prstGeom>
          <a:solidFill>
            <a:srgbClr val="F4F7F8"/>
          </a:solidFill>
          <a:ln w="12700">
            <a:solidFill>
              <a:srgbClr val="D7DEE2"/>
            </a:solidFill>
            <a:prstDash val="solid"/>
          </a:ln>
        </p:spPr>
      </p:sp>
      <p:sp>
        <p:nvSpPr>
          <p:cNvPr id="11" name="Text 9"/>
          <p:cNvSpPr/>
          <p:nvPr/>
        </p:nvSpPr>
        <p:spPr>
          <a:xfrm>
            <a:off x="5444599" y="1828800"/>
            <a:ext cx="1363762" cy="1371600"/>
          </a:xfrm>
          <a:prstGeom prst="rect">
            <a:avLst/>
          </a:prstGeom>
          <a:noFill/>
          <a:ln/>
        </p:spPr>
        <p:txBody>
          <a:bodyPr wrap="square"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Global</a:t>
            </a:r>
            <a:endParaRPr lang="en-US" sz="1100" dirty="0"/>
          </a:p>
          <a:p>
            <a:pPr algn="ctr" indent="0" marL="0">
              <a:buNone/>
            </a:pPr>
            <a:r>
              <a:rPr lang="en-US" sz="1100" dirty="0">
                <a:solidFill>
                  <a:srgbClr val="1F2933"/>
                </a:solidFill>
                <a:latin typeface="Calibri" pitchFamily="34" charset="0"/>
                <a:ea typeface="Calibri" pitchFamily="34" charset="-122"/>
                <a:cs typeface="Calibri" pitchFamily="34" charset="-120"/>
              </a:rPr>
              <a:t>AvgPool2D</a:t>
            </a:r>
            <a:endParaRPr lang="en-US" sz="1100" dirty="0"/>
          </a:p>
        </p:txBody>
      </p:sp>
      <p:sp>
        <p:nvSpPr>
          <p:cNvPr id="12" name="Shape 10"/>
          <p:cNvSpPr/>
          <p:nvPr/>
        </p:nvSpPr>
        <p:spPr>
          <a:xfrm>
            <a:off x="7027817" y="1828800"/>
            <a:ext cx="1436914" cy="1371600"/>
          </a:xfrm>
          <a:prstGeom prst="roundRect">
            <a:avLst>
              <a:gd name="adj" fmla="val 5333"/>
            </a:avLst>
          </a:prstGeom>
          <a:solidFill>
            <a:srgbClr val="F4F7F8"/>
          </a:solidFill>
          <a:ln w="12700">
            <a:solidFill>
              <a:srgbClr val="D7DEE2"/>
            </a:solidFill>
            <a:prstDash val="solid"/>
          </a:ln>
        </p:spPr>
      </p:sp>
      <p:sp>
        <p:nvSpPr>
          <p:cNvPr id="13" name="Text 11"/>
          <p:cNvSpPr/>
          <p:nvPr/>
        </p:nvSpPr>
        <p:spPr>
          <a:xfrm>
            <a:off x="7064393" y="1828800"/>
            <a:ext cx="1363762" cy="1371600"/>
          </a:xfrm>
          <a:prstGeom prst="rect">
            <a:avLst/>
          </a:prstGeom>
          <a:noFill/>
          <a:ln/>
        </p:spPr>
        <p:txBody>
          <a:bodyPr wrap="square"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Dropout</a:t>
            </a:r>
            <a:endParaRPr lang="en-US" sz="1100" dirty="0"/>
          </a:p>
        </p:txBody>
      </p:sp>
      <p:sp>
        <p:nvSpPr>
          <p:cNvPr id="14" name="Shape 12"/>
          <p:cNvSpPr/>
          <p:nvPr/>
        </p:nvSpPr>
        <p:spPr>
          <a:xfrm>
            <a:off x="8647611" y="1828800"/>
            <a:ext cx="1436914" cy="1371600"/>
          </a:xfrm>
          <a:prstGeom prst="roundRect">
            <a:avLst>
              <a:gd name="adj" fmla="val 5333"/>
            </a:avLst>
          </a:prstGeom>
          <a:solidFill>
            <a:srgbClr val="F4F7F8"/>
          </a:solidFill>
          <a:ln w="12700">
            <a:solidFill>
              <a:srgbClr val="D7DEE2"/>
            </a:solidFill>
            <a:prstDash val="solid"/>
          </a:ln>
        </p:spPr>
      </p:sp>
      <p:sp>
        <p:nvSpPr>
          <p:cNvPr id="15" name="Text 13"/>
          <p:cNvSpPr/>
          <p:nvPr/>
        </p:nvSpPr>
        <p:spPr>
          <a:xfrm>
            <a:off x="8684187" y="1828800"/>
            <a:ext cx="1363762" cy="1371600"/>
          </a:xfrm>
          <a:prstGeom prst="rect">
            <a:avLst/>
          </a:prstGeom>
          <a:noFill/>
          <a:ln/>
        </p:spPr>
        <p:txBody>
          <a:bodyPr wrap="square"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Dense(1)</a:t>
            </a:r>
            <a:endParaRPr lang="en-US" sz="1100" dirty="0"/>
          </a:p>
          <a:p>
            <a:pPr algn="ctr" indent="0" marL="0">
              <a:buNone/>
            </a:pPr>
            <a:r>
              <a:rPr lang="en-US" sz="1100" dirty="0">
                <a:solidFill>
                  <a:srgbClr val="1F2933"/>
                </a:solidFill>
                <a:latin typeface="Calibri" pitchFamily="34" charset="0"/>
                <a:ea typeface="Calibri" pitchFamily="34" charset="-122"/>
                <a:cs typeface="Calibri" pitchFamily="34" charset="-120"/>
              </a:rPr>
              <a:t>sigmoid</a:t>
            </a:r>
            <a:endParaRPr lang="en-US" sz="1100" dirty="0"/>
          </a:p>
        </p:txBody>
      </p:sp>
      <p:sp>
        <p:nvSpPr>
          <p:cNvPr id="16" name="Shape 14"/>
          <p:cNvSpPr/>
          <p:nvPr/>
        </p:nvSpPr>
        <p:spPr>
          <a:xfrm>
            <a:off x="10267406" y="1828800"/>
            <a:ext cx="1436914" cy="1371600"/>
          </a:xfrm>
          <a:prstGeom prst="roundRect">
            <a:avLst>
              <a:gd name="adj" fmla="val 5333"/>
            </a:avLst>
          </a:prstGeom>
          <a:solidFill>
            <a:srgbClr val="F4F7F8"/>
          </a:solidFill>
          <a:ln w="12700">
            <a:solidFill>
              <a:srgbClr val="D7DEE2"/>
            </a:solidFill>
            <a:prstDash val="solid"/>
          </a:ln>
        </p:spPr>
      </p:sp>
      <p:sp>
        <p:nvSpPr>
          <p:cNvPr id="17" name="Text 15"/>
          <p:cNvSpPr/>
          <p:nvPr/>
        </p:nvSpPr>
        <p:spPr>
          <a:xfrm>
            <a:off x="10303982" y="1828800"/>
            <a:ext cx="1363762" cy="1371600"/>
          </a:xfrm>
          <a:prstGeom prst="rect">
            <a:avLst/>
          </a:prstGeom>
          <a:noFill/>
          <a:ln/>
        </p:spPr>
        <p:txBody>
          <a:bodyPr wrap="square"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NORMAL /</a:t>
            </a:r>
            <a:endParaRPr lang="en-US" sz="1100" dirty="0"/>
          </a:p>
          <a:p>
            <a:pPr algn="ctr" indent="0" marL="0">
              <a:buNone/>
            </a:pPr>
            <a:r>
              <a:rPr lang="en-US" sz="1100" dirty="0">
                <a:solidFill>
                  <a:srgbClr val="1F2933"/>
                </a:solidFill>
                <a:latin typeface="Calibri" pitchFamily="34" charset="0"/>
                <a:ea typeface="Calibri" pitchFamily="34" charset="-122"/>
                <a:cs typeface="Calibri" pitchFamily="34" charset="-120"/>
              </a:rPr>
              <a:t>PNEUMONIA</a:t>
            </a:r>
            <a:endParaRPr lang="en-US" sz="1100" dirty="0"/>
          </a:p>
        </p:txBody>
      </p:sp>
      <p:sp>
        <p:nvSpPr>
          <p:cNvPr id="18" name="Shape 16"/>
          <p:cNvSpPr/>
          <p:nvPr/>
        </p:nvSpPr>
        <p:spPr>
          <a:xfrm>
            <a:off x="548640" y="3566160"/>
            <a:ext cx="5257800" cy="1965960"/>
          </a:xfrm>
          <a:prstGeom prst="roundRect">
            <a:avLst>
              <a:gd name="adj" fmla="val 3721"/>
            </a:avLst>
          </a:prstGeom>
          <a:solidFill>
            <a:srgbClr val="0B3D59"/>
          </a:solidFill>
          <a:ln/>
        </p:spPr>
      </p:sp>
      <p:sp>
        <p:nvSpPr>
          <p:cNvPr id="19" name="Text 17"/>
          <p:cNvSpPr/>
          <p:nvPr/>
        </p:nvSpPr>
        <p:spPr>
          <a:xfrm>
            <a:off x="822960" y="3749040"/>
            <a:ext cx="4754880" cy="365760"/>
          </a:xfrm>
          <a:prstGeom prst="rect">
            <a:avLst/>
          </a:prstGeom>
          <a:noFill/>
          <a:ln/>
        </p:spPr>
        <p:txBody>
          <a:bodyPr wrap="square" rtlCol="0" anchor="ctr"/>
          <a:lstStyle/>
          <a:p>
            <a:pPr indent="0" marL="0">
              <a:buNone/>
            </a:pPr>
            <a:r>
              <a:rPr lang="en-US" sz="1400" b="1" dirty="0">
                <a:solidFill>
                  <a:srgbClr val="4FB6C8"/>
                </a:solidFill>
                <a:latin typeface="Calibri" pitchFamily="34" charset="0"/>
                <a:ea typeface="Calibri" pitchFamily="34" charset="-122"/>
                <a:cs typeface="Calibri" pitchFamily="34" charset="-120"/>
              </a:rPr>
              <a:t>Fase A — Congelado</a:t>
            </a:r>
            <a:endParaRPr lang="en-US" sz="1400" dirty="0"/>
          </a:p>
        </p:txBody>
      </p:sp>
      <p:sp>
        <p:nvSpPr>
          <p:cNvPr id="20" name="Text 18"/>
          <p:cNvSpPr/>
          <p:nvPr/>
        </p:nvSpPr>
        <p:spPr>
          <a:xfrm>
            <a:off x="822960" y="4160520"/>
            <a:ext cx="4754880" cy="1280160"/>
          </a:xfrm>
          <a:prstGeom prst="rect">
            <a:avLst/>
          </a:prstGeom>
          <a:noFill/>
          <a:ln/>
        </p:spPr>
        <p:txBody>
          <a:bodyPr wrap="square" rtlCol="0" anchor="t"/>
          <a:lstStyle/>
          <a:p>
            <a:pPr indent="0" marL="0">
              <a:buNone/>
            </a:pPr>
            <a:r>
              <a:rPr lang="en-US" sz="1300" dirty="0">
                <a:solidFill>
                  <a:srgbClr val="D7E4EA"/>
                </a:solidFill>
                <a:latin typeface="Calibri" pitchFamily="34" charset="0"/>
                <a:ea typeface="Calibri" pitchFamily="34" charset="-122"/>
                <a:cs typeface="Calibri" pitchFamily="34" charset="-120"/>
              </a:rPr>
              <a:t>Toda la base de ResNet50 permanece congelada; solo se entrena el clasificador nuevo (GAP + Dropout + Dense). Rápido y siempre el primer paso.</a:t>
            </a:r>
            <a:endParaRPr lang="en-US" sz="1300" dirty="0"/>
          </a:p>
        </p:txBody>
      </p:sp>
      <p:sp>
        <p:nvSpPr>
          <p:cNvPr id="21" name="Shape 19"/>
          <p:cNvSpPr/>
          <p:nvPr/>
        </p:nvSpPr>
        <p:spPr>
          <a:xfrm>
            <a:off x="6080760" y="3566160"/>
            <a:ext cx="5257800" cy="1965960"/>
          </a:xfrm>
          <a:prstGeom prst="roundRect">
            <a:avLst>
              <a:gd name="adj" fmla="val 3721"/>
            </a:avLst>
          </a:prstGeom>
          <a:solidFill>
            <a:srgbClr val="F4F7F8"/>
          </a:solidFill>
          <a:ln/>
        </p:spPr>
      </p:sp>
      <p:sp>
        <p:nvSpPr>
          <p:cNvPr id="22" name="Text 20"/>
          <p:cNvSpPr/>
          <p:nvPr/>
        </p:nvSpPr>
        <p:spPr>
          <a:xfrm>
            <a:off x="6355080" y="3749040"/>
            <a:ext cx="4754880" cy="365760"/>
          </a:xfrm>
          <a:prstGeom prst="rect">
            <a:avLst/>
          </a:prstGeom>
          <a:noFill/>
          <a:ln/>
        </p:spPr>
        <p:txBody>
          <a:bodyPr wrap="square" rtlCol="0" anchor="ctr"/>
          <a:lstStyle/>
          <a:p>
            <a:pPr indent="0" marL="0">
              <a:buNone/>
            </a:pPr>
            <a:r>
              <a:rPr lang="en-US" sz="1400" b="1" dirty="0">
                <a:solidFill>
                  <a:srgbClr val="0B3D59"/>
                </a:solidFill>
                <a:latin typeface="Calibri" pitchFamily="34" charset="0"/>
                <a:ea typeface="Calibri" pitchFamily="34" charset="-122"/>
                <a:cs typeface="Calibri" pitchFamily="34" charset="-120"/>
              </a:rPr>
              <a:t>Fase B — Fine-tuning</a:t>
            </a:r>
            <a:endParaRPr lang="en-US" sz="1400" dirty="0"/>
          </a:p>
        </p:txBody>
      </p:sp>
      <p:sp>
        <p:nvSpPr>
          <p:cNvPr id="23" name="Text 21"/>
          <p:cNvSpPr/>
          <p:nvPr/>
        </p:nvSpPr>
        <p:spPr>
          <a:xfrm>
            <a:off x="6355080" y="4160520"/>
            <a:ext cx="4754880" cy="1280160"/>
          </a:xfrm>
          <a:prstGeom prst="rect">
            <a:avLst/>
          </a:prstGeom>
          <a:noFill/>
          <a:ln/>
        </p:spPr>
        <p:txBody>
          <a:bodyPr wrap="square" rtlCol="0" anchor="t"/>
          <a:lstStyle/>
          <a:p>
            <a:pPr indent="0" marL="0">
              <a:buNone/>
            </a:pPr>
            <a:r>
              <a:rPr lang="en-US" sz="1300" dirty="0">
                <a:solidFill>
                  <a:srgbClr val="5B6B73"/>
                </a:solidFill>
                <a:latin typeface="Calibri" pitchFamily="34" charset="0"/>
                <a:ea typeface="Calibri" pitchFamily="34" charset="-122"/>
                <a:cs typeface="Calibri" pitchFamily="34" charset="-120"/>
              </a:rPr>
              <a:t>Se descongelan las últimas capas (desde la 143 de 175) con learning rate mucho más bajo, para adaptar los filtros al dominio de rayos X sin destruir lo aprendido en ImageNet.</a:t>
            </a:r>
            <a:endParaRPr lang="en-US" sz="1300" dirty="0"/>
          </a:p>
        </p:txBody>
      </p:sp>
      <p:sp>
        <p:nvSpPr>
          <p:cNvPr id="24" name="Text 22"/>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EVALUACIÓN</a:t>
            </a:r>
            <a:endParaRPr lang="en-US" sz="1200" dirty="0"/>
          </a:p>
        </p:txBody>
      </p:sp>
      <p:sp>
        <p:nvSpPr>
          <p:cNvPr id="3" name="Text 1"/>
          <p:cNvSpPr/>
          <p:nvPr/>
        </p:nvSpPr>
        <p:spPr>
          <a:xfrm>
            <a:off x="548640" y="685800"/>
            <a:ext cx="9144000" cy="640080"/>
          </a:xfrm>
          <a:prstGeom prst="rect">
            <a:avLst/>
          </a:prstGeom>
          <a:noFill/>
          <a:ln/>
        </p:spPr>
        <p:txBody>
          <a:bodyPr wrap="square"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Más allá del Accuracy</a:t>
            </a:r>
            <a:endParaRPr lang="en-US" sz="3000" dirty="0"/>
          </a:p>
        </p:txBody>
      </p:sp>
      <p:sp>
        <p:nvSpPr>
          <p:cNvPr id="4" name="Text 2"/>
          <p:cNvSpPr/>
          <p:nvPr/>
        </p:nvSpPr>
        <p:spPr>
          <a:xfrm>
            <a:off x="548640" y="1325880"/>
            <a:ext cx="10515600" cy="548640"/>
          </a:xfrm>
          <a:prstGeom prst="rect">
            <a:avLst/>
          </a:prstGeom>
          <a:noFill/>
          <a:ln/>
        </p:spPr>
        <p:txBody>
          <a:bodyPr wrap="square" rtlCol="0" anchor="ctr"/>
          <a:lstStyle/>
          <a:p>
            <a:pPr indent="0" marL="0">
              <a:buNone/>
            </a:pPr>
            <a:r>
              <a:rPr lang="en-US" sz="1500" dirty="0">
                <a:solidFill>
                  <a:srgbClr val="5B6B73"/>
                </a:solidFill>
                <a:latin typeface="Calibri" pitchFamily="34" charset="0"/>
                <a:ea typeface="Calibri" pitchFamily="34" charset="-122"/>
                <a:cs typeface="Calibri" pitchFamily="34" charset="-120"/>
              </a:rPr>
              <a:t>En un problema médico desbalanceado, un modelo que siempre predice “PNEUMONIA” tendría accuracy alta y sería clínicamente inútil.</a:t>
            </a:r>
            <a:endParaRPr lang="en-US" sz="1500" dirty="0"/>
          </a:p>
        </p:txBody>
      </p:sp>
      <p:sp>
        <p:nvSpPr>
          <p:cNvPr id="5" name="Shape 3"/>
          <p:cNvSpPr/>
          <p:nvPr/>
        </p:nvSpPr>
        <p:spPr>
          <a:xfrm>
            <a:off x="548640" y="2148840"/>
            <a:ext cx="5212080" cy="1188720"/>
          </a:xfrm>
          <a:prstGeom prst="roundRect">
            <a:avLst>
              <a:gd name="adj" fmla="val 6154"/>
            </a:avLst>
          </a:prstGeom>
          <a:solidFill>
            <a:srgbClr val="F4F7F8"/>
          </a:solidFill>
          <a:ln/>
        </p:spPr>
      </p:sp>
      <p:sp>
        <p:nvSpPr>
          <p:cNvPr id="6" name="Text 4"/>
          <p:cNvSpPr/>
          <p:nvPr/>
        </p:nvSpPr>
        <p:spPr>
          <a:xfrm>
            <a:off x="777240" y="2286000"/>
            <a:ext cx="4754880" cy="365760"/>
          </a:xfrm>
          <a:prstGeom prst="rect">
            <a:avLst/>
          </a:prstGeom>
          <a:noFill/>
          <a:ln/>
        </p:spPr>
        <p:txBody>
          <a:bodyPr wrap="square" rtlCol="0" anchor="ctr"/>
          <a:lstStyle/>
          <a:p>
            <a:pPr indent="0" marL="0">
              <a:buNone/>
            </a:pPr>
            <a:r>
              <a:rPr lang="en-US" sz="1500" b="1" dirty="0">
                <a:solidFill>
                  <a:srgbClr val="0B3D59"/>
                </a:solidFill>
                <a:latin typeface="Calibri" pitchFamily="34" charset="0"/>
                <a:ea typeface="Calibri" pitchFamily="34" charset="-122"/>
                <a:cs typeface="Calibri" pitchFamily="34" charset="-120"/>
              </a:rPr>
              <a:t>Precision</a:t>
            </a:r>
            <a:endParaRPr lang="en-US" sz="1500" dirty="0"/>
          </a:p>
        </p:txBody>
      </p:sp>
      <p:sp>
        <p:nvSpPr>
          <p:cNvPr id="7" name="Text 5"/>
          <p:cNvSpPr/>
          <p:nvPr/>
        </p:nvSpPr>
        <p:spPr>
          <a:xfrm>
            <a:off x="777240" y="2651760"/>
            <a:ext cx="4754880" cy="594360"/>
          </a:xfrm>
          <a:prstGeom prst="rect">
            <a:avLst/>
          </a:prstGeom>
          <a:noFill/>
          <a:ln/>
        </p:spPr>
        <p:txBody>
          <a:bodyPr wrap="square" rtlCol="0" anchor="t"/>
          <a:lstStyle/>
          <a:p>
            <a:pPr indent="0" marL="0">
              <a:buNone/>
            </a:pPr>
            <a:r>
              <a:rPr lang="en-US" sz="1250" dirty="0">
                <a:solidFill>
                  <a:srgbClr val="5B6B73"/>
                </a:solidFill>
                <a:latin typeface="Calibri" pitchFamily="34" charset="0"/>
                <a:ea typeface="Calibri" pitchFamily="34" charset="-122"/>
                <a:cs typeface="Calibri" pitchFamily="34" charset="-120"/>
              </a:rPr>
              <a:t>De lo que predije PNEUMONIA, ¿cuánto era real?</a:t>
            </a:r>
            <a:endParaRPr lang="en-US" sz="1250" dirty="0"/>
          </a:p>
        </p:txBody>
      </p:sp>
      <p:sp>
        <p:nvSpPr>
          <p:cNvPr id="8" name="Shape 6"/>
          <p:cNvSpPr/>
          <p:nvPr/>
        </p:nvSpPr>
        <p:spPr>
          <a:xfrm>
            <a:off x="6217920" y="2148840"/>
            <a:ext cx="5212080" cy="1188720"/>
          </a:xfrm>
          <a:prstGeom prst="roundRect">
            <a:avLst>
              <a:gd name="adj" fmla="val 6154"/>
            </a:avLst>
          </a:prstGeom>
          <a:solidFill>
            <a:srgbClr val="F4F7F8"/>
          </a:solidFill>
          <a:ln/>
        </p:spPr>
      </p:sp>
      <p:sp>
        <p:nvSpPr>
          <p:cNvPr id="9" name="Text 7"/>
          <p:cNvSpPr/>
          <p:nvPr/>
        </p:nvSpPr>
        <p:spPr>
          <a:xfrm>
            <a:off x="6446520" y="2286000"/>
            <a:ext cx="4754880" cy="365760"/>
          </a:xfrm>
          <a:prstGeom prst="rect">
            <a:avLst/>
          </a:prstGeom>
          <a:noFill/>
          <a:ln/>
        </p:spPr>
        <p:txBody>
          <a:bodyPr wrap="square" rtlCol="0" anchor="ctr"/>
          <a:lstStyle/>
          <a:p>
            <a:pPr indent="0" marL="0">
              <a:buNone/>
            </a:pPr>
            <a:r>
              <a:rPr lang="en-US" sz="1500" b="1" dirty="0">
                <a:solidFill>
                  <a:srgbClr val="0B3D59"/>
                </a:solidFill>
                <a:latin typeface="Calibri" pitchFamily="34" charset="0"/>
                <a:ea typeface="Calibri" pitchFamily="34" charset="-122"/>
                <a:cs typeface="Calibri" pitchFamily="34" charset="-120"/>
              </a:rPr>
              <a:t>Recall</a:t>
            </a:r>
            <a:endParaRPr lang="en-US" sz="1500" dirty="0"/>
          </a:p>
        </p:txBody>
      </p:sp>
      <p:sp>
        <p:nvSpPr>
          <p:cNvPr id="10" name="Text 8"/>
          <p:cNvSpPr/>
          <p:nvPr/>
        </p:nvSpPr>
        <p:spPr>
          <a:xfrm>
            <a:off x="6446520" y="2651760"/>
            <a:ext cx="4754880" cy="594360"/>
          </a:xfrm>
          <a:prstGeom prst="rect">
            <a:avLst/>
          </a:prstGeom>
          <a:noFill/>
          <a:ln/>
        </p:spPr>
        <p:txBody>
          <a:bodyPr wrap="square" rtlCol="0" anchor="t"/>
          <a:lstStyle/>
          <a:p>
            <a:pPr indent="0" marL="0">
              <a:buNone/>
            </a:pPr>
            <a:r>
              <a:rPr lang="en-US" sz="1250" dirty="0">
                <a:solidFill>
                  <a:srgbClr val="5B6B73"/>
                </a:solidFill>
                <a:latin typeface="Calibri" pitchFamily="34" charset="0"/>
                <a:ea typeface="Calibri" pitchFamily="34" charset="-122"/>
                <a:cs typeface="Calibri" pitchFamily="34" charset="-120"/>
              </a:rPr>
              <a:t>De los casos reales de PNEUMONIA, ¿cuántos detecté?</a:t>
            </a:r>
            <a:endParaRPr lang="en-US" sz="1250" dirty="0"/>
          </a:p>
        </p:txBody>
      </p:sp>
      <p:sp>
        <p:nvSpPr>
          <p:cNvPr id="11" name="Shape 9"/>
          <p:cNvSpPr/>
          <p:nvPr/>
        </p:nvSpPr>
        <p:spPr>
          <a:xfrm>
            <a:off x="548640" y="3566160"/>
            <a:ext cx="5212080" cy="1188720"/>
          </a:xfrm>
          <a:prstGeom prst="roundRect">
            <a:avLst>
              <a:gd name="adj" fmla="val 6154"/>
            </a:avLst>
          </a:prstGeom>
          <a:solidFill>
            <a:srgbClr val="F4F7F8"/>
          </a:solidFill>
          <a:ln/>
        </p:spPr>
      </p:sp>
      <p:sp>
        <p:nvSpPr>
          <p:cNvPr id="12" name="Text 10"/>
          <p:cNvSpPr/>
          <p:nvPr/>
        </p:nvSpPr>
        <p:spPr>
          <a:xfrm>
            <a:off x="777240" y="3703320"/>
            <a:ext cx="4754880" cy="365760"/>
          </a:xfrm>
          <a:prstGeom prst="rect">
            <a:avLst/>
          </a:prstGeom>
          <a:noFill/>
          <a:ln/>
        </p:spPr>
        <p:txBody>
          <a:bodyPr wrap="square" rtlCol="0" anchor="ctr"/>
          <a:lstStyle/>
          <a:p>
            <a:pPr indent="0" marL="0">
              <a:buNone/>
            </a:pPr>
            <a:r>
              <a:rPr lang="en-US" sz="1500" b="1" dirty="0">
                <a:solidFill>
                  <a:srgbClr val="0B3D59"/>
                </a:solidFill>
                <a:latin typeface="Calibri" pitchFamily="34" charset="0"/>
                <a:ea typeface="Calibri" pitchFamily="34" charset="-122"/>
                <a:cs typeface="Calibri" pitchFamily="34" charset="-120"/>
              </a:rPr>
              <a:t>F1-score</a:t>
            </a:r>
            <a:endParaRPr lang="en-US" sz="1500" dirty="0"/>
          </a:p>
        </p:txBody>
      </p:sp>
      <p:sp>
        <p:nvSpPr>
          <p:cNvPr id="13" name="Text 11"/>
          <p:cNvSpPr/>
          <p:nvPr/>
        </p:nvSpPr>
        <p:spPr>
          <a:xfrm>
            <a:off x="777240" y="4069080"/>
            <a:ext cx="4754880" cy="594360"/>
          </a:xfrm>
          <a:prstGeom prst="rect">
            <a:avLst/>
          </a:prstGeom>
          <a:noFill/>
          <a:ln/>
        </p:spPr>
        <p:txBody>
          <a:bodyPr wrap="square" rtlCol="0" anchor="t"/>
          <a:lstStyle/>
          <a:p>
            <a:pPr indent="0" marL="0">
              <a:buNone/>
            </a:pPr>
            <a:r>
              <a:rPr lang="en-US" sz="1250" dirty="0">
                <a:solidFill>
                  <a:srgbClr val="5B6B73"/>
                </a:solidFill>
                <a:latin typeface="Calibri" pitchFamily="34" charset="0"/>
                <a:ea typeface="Calibri" pitchFamily="34" charset="-122"/>
                <a:cs typeface="Calibri" pitchFamily="34" charset="-120"/>
              </a:rPr>
              <a:t>Balance entre precision y recall</a:t>
            </a:r>
            <a:endParaRPr lang="en-US" sz="1250" dirty="0"/>
          </a:p>
        </p:txBody>
      </p:sp>
      <p:sp>
        <p:nvSpPr>
          <p:cNvPr id="14" name="Shape 12"/>
          <p:cNvSpPr/>
          <p:nvPr/>
        </p:nvSpPr>
        <p:spPr>
          <a:xfrm>
            <a:off x="6217920" y="3566160"/>
            <a:ext cx="5212080" cy="1188720"/>
          </a:xfrm>
          <a:prstGeom prst="roundRect">
            <a:avLst>
              <a:gd name="adj" fmla="val 6154"/>
            </a:avLst>
          </a:prstGeom>
          <a:solidFill>
            <a:srgbClr val="F4F7F8"/>
          </a:solidFill>
          <a:ln/>
        </p:spPr>
      </p:sp>
      <p:sp>
        <p:nvSpPr>
          <p:cNvPr id="15" name="Text 13"/>
          <p:cNvSpPr/>
          <p:nvPr/>
        </p:nvSpPr>
        <p:spPr>
          <a:xfrm>
            <a:off x="6446520" y="3703320"/>
            <a:ext cx="4754880" cy="365760"/>
          </a:xfrm>
          <a:prstGeom prst="rect">
            <a:avLst/>
          </a:prstGeom>
          <a:noFill/>
          <a:ln/>
        </p:spPr>
        <p:txBody>
          <a:bodyPr wrap="square" rtlCol="0" anchor="ctr"/>
          <a:lstStyle/>
          <a:p>
            <a:pPr indent="0" marL="0">
              <a:buNone/>
            </a:pPr>
            <a:r>
              <a:rPr lang="en-US" sz="1500" b="1" dirty="0">
                <a:solidFill>
                  <a:srgbClr val="0B3D59"/>
                </a:solidFill>
                <a:latin typeface="Calibri" pitchFamily="34" charset="0"/>
                <a:ea typeface="Calibri" pitchFamily="34" charset="-122"/>
                <a:cs typeface="Calibri" pitchFamily="34" charset="-120"/>
              </a:rPr>
              <a:t>ROC-AUC</a:t>
            </a:r>
            <a:endParaRPr lang="en-US" sz="1500" dirty="0"/>
          </a:p>
        </p:txBody>
      </p:sp>
      <p:sp>
        <p:nvSpPr>
          <p:cNvPr id="16" name="Text 14"/>
          <p:cNvSpPr/>
          <p:nvPr/>
        </p:nvSpPr>
        <p:spPr>
          <a:xfrm>
            <a:off x="6446520" y="4069080"/>
            <a:ext cx="4754880" cy="594360"/>
          </a:xfrm>
          <a:prstGeom prst="rect">
            <a:avLst/>
          </a:prstGeom>
          <a:noFill/>
          <a:ln/>
        </p:spPr>
        <p:txBody>
          <a:bodyPr wrap="square" rtlCol="0" anchor="t"/>
          <a:lstStyle/>
          <a:p>
            <a:pPr indent="0" marL="0">
              <a:buNone/>
            </a:pPr>
            <a:r>
              <a:rPr lang="en-US" sz="1250" dirty="0">
                <a:solidFill>
                  <a:srgbClr val="5B6B73"/>
                </a:solidFill>
                <a:latin typeface="Calibri" pitchFamily="34" charset="0"/>
                <a:ea typeface="Calibri" pitchFamily="34" charset="-122"/>
                <a:cs typeface="Calibri" pitchFamily="34" charset="-120"/>
              </a:rPr>
              <a:t>Capacidad de separar las dos clases en todos los umbrales</a:t>
            </a:r>
            <a:endParaRPr lang="en-US" sz="1250" dirty="0"/>
          </a:p>
        </p:txBody>
      </p:sp>
      <p:sp>
        <p:nvSpPr>
          <p:cNvPr id="17" name="Text 15"/>
          <p:cNvSpPr/>
          <p:nvPr/>
        </p:nvSpPr>
        <p:spPr>
          <a:xfrm>
            <a:off x="548640" y="5166360"/>
            <a:ext cx="10789920" cy="457200"/>
          </a:xfrm>
          <a:prstGeom prst="rect">
            <a:avLst/>
          </a:prstGeom>
          <a:noFill/>
          <a:ln/>
        </p:spPr>
        <p:txBody>
          <a:bodyPr wrap="square" rtlCol="0" anchor="ctr"/>
          <a:lstStyle/>
          <a:p>
            <a:pPr indent="0" marL="0">
              <a:buNone/>
            </a:pPr>
            <a:r>
              <a:rPr lang="en-US" sz="1300" i="1" dirty="0">
                <a:solidFill>
                  <a:srgbClr val="5B6B73"/>
                </a:solidFill>
                <a:latin typeface="Calibri" pitchFamily="34" charset="0"/>
                <a:ea typeface="Calibri" pitchFamily="34" charset="-122"/>
                <a:cs typeface="Calibri" pitchFamily="34" charset="-120"/>
              </a:rPr>
              <a:t>+ matriz de confusión, curva ROC y curvas de entrenamiento (train vs. val) — todo registrado como artefacto en MLflow.</a:t>
            </a:r>
            <a:endParaRPr lang="en-US" sz="1300" dirty="0"/>
          </a:p>
        </p:txBody>
      </p:sp>
      <p:sp>
        <p:nvSpPr>
          <p:cNvPr id="18" name="Text 16"/>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MLOPS</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indent="0" marL="0">
              <a:buNone/>
            </a:pPr>
            <a:r>
              <a:rPr lang="en-US" sz="2700" b="1" dirty="0">
                <a:solidFill>
                  <a:srgbClr val="1F2933"/>
                </a:solidFill>
                <a:latin typeface="Cambria" pitchFamily="34" charset="0"/>
                <a:ea typeface="Cambria" pitchFamily="34" charset="-122"/>
                <a:cs typeface="Cambria" pitchFamily="34" charset="-120"/>
              </a:rPr>
              <a:t>MLflow: registro completo del experimento</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949440" cy="1737360"/>
        </p:xfrm>
        <a:graphic>
          <a:graphicData uri="http://schemas.openxmlformats.org/drawingml/2006/table">
            <a:tbl>
              <a:tblPr/>
              <a:tblGrid>
                <a:gridCol w="822960"/>
                <a:gridCol w="3291840"/>
                <a:gridCol w="1554480"/>
                <a:gridCol w="1280160"/>
              </a:tblGrid>
              <a:tr h="434340">
                <a:tc>
                  <a:txBody>
                    <a:bodyPr/>
                    <a:lstStyle/>
                    <a:p>
                      <a:pPr indent="0" marL="0">
                        <a:buNone/>
                      </a:pPr>
                      <a:r>
                        <a:rPr lang="en-US" sz="1300" b="1" dirty="0">
                          <a:solidFill>
                            <a:srgbClr val="FFFFFF"/>
                          </a:solidFill>
                        </a:rPr>
                        <a:t>Run</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solidFill>
                      <a:srgbClr val="0B3D59"/>
                    </a:solidFill>
                  </a:tcPr>
                </a:tc>
                <a:tc>
                  <a:txBody>
                    <a:bodyPr/>
                    <a:lstStyle/>
                    <a:p>
                      <a:pPr indent="0" marL="0">
                        <a:buNone/>
                      </a:pPr>
                      <a:r>
                        <a:rPr lang="en-US" sz="1300" b="1" dirty="0">
                          <a:solidFill>
                            <a:srgbClr val="FFFFFF"/>
                          </a:solidFill>
                        </a:rPr>
                        <a:t>Arquitectura</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solidFill>
                      <a:srgbClr val="0B3D59"/>
                    </a:solidFill>
                  </a:tcPr>
                </a:tc>
                <a:tc>
                  <a:txBody>
                    <a:bodyPr/>
                    <a:lstStyle/>
                    <a:p>
                      <a:pPr indent="0" marL="0">
                        <a:buNone/>
                      </a:pPr>
                      <a:r>
                        <a:rPr lang="en-US" sz="1300" b="1" dirty="0">
                          <a:solidFill>
                            <a:srgbClr val="FFFFFF"/>
                          </a:solidFill>
                        </a:rPr>
                        <a:t>Learning rate</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solidFill>
                      <a:srgbClr val="0B3D59"/>
                    </a:solidFill>
                  </a:tcPr>
                </a:tc>
                <a:tc>
                  <a:txBody>
                    <a:bodyPr/>
                    <a:lstStyle/>
                    <a:p>
                      <a:pPr indent="0" marL="0">
                        <a:buNone/>
                      </a:pPr>
                      <a:r>
                        <a:rPr lang="en-US" sz="1300" b="1" dirty="0">
                          <a:solidFill>
                            <a:srgbClr val="FFFFFF"/>
                          </a:solidFill>
                        </a:rPr>
                        <a:t>Dropout</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solidFill>
                      <a:srgbClr val="0B3D59"/>
                    </a:solidFill>
                  </a:tcPr>
                </a:tc>
              </a:tr>
              <a:tr h="434340">
                <a:tc>
                  <a:txBody>
                    <a:bodyPr/>
                    <a:lstStyle/>
                    <a:p>
                      <a:pPr indent="0" marL="0">
                        <a:buNone/>
                      </a:pPr>
                      <a:r>
                        <a:rPr lang="en-US" sz="1300" dirty="0">
                          <a:solidFill>
                            <a:srgbClr val="1F2933"/>
                          </a:solidFill>
                        </a:rPr>
                        <a:t>1</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tcPr>
                </a:tc>
                <a:tc>
                  <a:txBody>
                    <a:bodyPr/>
                    <a:lstStyle/>
                    <a:p>
                      <a:pPr indent="0" marL="0">
                        <a:buNone/>
                      </a:pPr>
                      <a:r>
                        <a:rPr lang="en-US" sz="1300" dirty="0">
                          <a:solidFill>
                            <a:srgbClr val="1F2933"/>
                          </a:solidFill>
                        </a:rPr>
                        <a:t>ResNet50 congelado</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tcPr>
                </a:tc>
                <a:tc>
                  <a:txBody>
                    <a:bodyPr/>
                    <a:lstStyle/>
                    <a:p>
                      <a:pPr indent="0" marL="0">
                        <a:buNone/>
                      </a:pPr>
                      <a:r>
                        <a:rPr lang="en-US" sz="1300" dirty="0">
                          <a:solidFill>
                            <a:srgbClr val="1F2933"/>
                          </a:solidFill>
                        </a:rPr>
                        <a:t>0.001</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tcPr>
                </a:tc>
                <a:tc>
                  <a:txBody>
                    <a:bodyPr/>
                    <a:lstStyle/>
                    <a:p>
                      <a:pPr indent="0" marL="0">
                        <a:buNone/>
                      </a:pPr>
                      <a:r>
                        <a:rPr lang="en-US" sz="1300" dirty="0">
                          <a:solidFill>
                            <a:srgbClr val="1F2933"/>
                          </a:solidFill>
                        </a:rPr>
                        <a:t>0.3</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tcPr>
                </a:tc>
              </a:tr>
              <a:tr h="434340">
                <a:tc>
                  <a:txBody>
                    <a:bodyPr/>
                    <a:lstStyle/>
                    <a:p>
                      <a:pPr indent="0" marL="0">
                        <a:buNone/>
                      </a:pPr>
                      <a:r>
                        <a:rPr lang="en-US" sz="1300" dirty="0">
                          <a:solidFill>
                            <a:srgbClr val="1F2933"/>
                          </a:solidFill>
                        </a:rPr>
                        <a:t>2</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tcPr>
                </a:tc>
                <a:tc>
                  <a:txBody>
                    <a:bodyPr/>
                    <a:lstStyle/>
                    <a:p>
                      <a:pPr indent="0" marL="0">
                        <a:buNone/>
                      </a:pPr>
                      <a:r>
                        <a:rPr lang="en-US" sz="1300" dirty="0">
                          <a:solidFill>
                            <a:srgbClr val="1F2933"/>
                          </a:solidFill>
                        </a:rPr>
                        <a:t>ResNet50 congelado</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tcPr>
                </a:tc>
                <a:tc>
                  <a:txBody>
                    <a:bodyPr/>
                    <a:lstStyle/>
                    <a:p>
                      <a:pPr indent="0" marL="0">
                        <a:buNone/>
                      </a:pPr>
                      <a:r>
                        <a:rPr lang="en-US" sz="1300" dirty="0">
                          <a:solidFill>
                            <a:srgbClr val="1F2933"/>
                          </a:solidFill>
                        </a:rPr>
                        <a:t>0.0001</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tcPr>
                </a:tc>
                <a:tc>
                  <a:txBody>
                    <a:bodyPr/>
                    <a:lstStyle/>
                    <a:p>
                      <a:pPr indent="0" marL="0">
                        <a:buNone/>
                      </a:pPr>
                      <a:r>
                        <a:rPr lang="en-US" sz="1300" dirty="0">
                          <a:solidFill>
                            <a:srgbClr val="1F2933"/>
                          </a:solidFill>
                        </a:rPr>
                        <a:t>0.5</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tcPr>
                </a:tc>
              </a:tr>
              <a:tr h="434340">
                <a:tc>
                  <a:txBody>
                    <a:bodyPr/>
                    <a:lstStyle/>
                    <a:p>
                      <a:pPr indent="0" marL="0">
                        <a:buNone/>
                      </a:pPr>
                      <a:r>
                        <a:rPr lang="en-US" sz="1300" dirty="0">
                          <a:solidFill>
                            <a:srgbClr val="1F2933"/>
                          </a:solidFill>
                        </a:rPr>
                        <a:t>3</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tcPr>
                </a:tc>
                <a:tc>
                  <a:txBody>
                    <a:bodyPr/>
                    <a:lstStyle/>
                    <a:p>
                      <a:pPr indent="0" marL="0">
                        <a:buNone/>
                      </a:pPr>
                      <a:r>
                        <a:rPr lang="en-US" sz="1300" dirty="0">
                          <a:solidFill>
                            <a:srgbClr val="1F2933"/>
                          </a:solidFill>
                        </a:rPr>
                        <a:t>ResNet50 + Fine-tuning</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tcPr>
                </a:tc>
                <a:tc>
                  <a:txBody>
                    <a:bodyPr/>
                    <a:lstStyle/>
                    <a:p>
                      <a:pPr indent="0" marL="0">
                        <a:buNone/>
                      </a:pPr>
                      <a:r>
                        <a:rPr lang="en-US" sz="1300" dirty="0">
                          <a:solidFill>
                            <a:srgbClr val="1F2933"/>
                          </a:solidFill>
                        </a:rPr>
                        <a:t>0.00001</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tcPr>
                </a:tc>
                <a:tc>
                  <a:txBody>
                    <a:bodyPr/>
                    <a:lstStyle/>
                    <a:p>
                      <a:pPr indent="0" marL="0">
                        <a:buNone/>
                      </a:pPr>
                      <a:r>
                        <a:rPr lang="en-US" sz="1300" dirty="0">
                          <a:solidFill>
                            <a:srgbClr val="1F2933"/>
                          </a:solidFill>
                        </a:rPr>
                        <a:t>0.3</a:t>
                      </a:r>
                      <a:endParaRPr lang="en-US" sz="1300" dirty="0"/>
                    </a:p>
                  </a:txBody>
                  <a:tcPr marL="91440" marR="91440" marT="45720" marB="45720">
                    <a:lnL w="12700" cap="flat" cmpd="sng" algn="ctr">
                      <a:solidFill>
                        <a:srgbClr val="E2E7E9"/>
                      </a:solidFill>
                      <a:prstDash val="solid"/>
                      <a:round/>
                      <a:headEnd type="none" w="med" len="med"/>
                      <a:tailEnd type="none" w="med" len="med"/>
                    </a:lnL>
                    <a:lnR w="12700" cap="flat" cmpd="sng" algn="ctr">
                      <a:solidFill>
                        <a:srgbClr val="E2E7E9"/>
                      </a:solidFill>
                      <a:prstDash val="solid"/>
                      <a:round/>
                      <a:headEnd type="none" w="med" len="med"/>
                      <a:tailEnd type="none" w="med" len="med"/>
                    </a:lnR>
                    <a:lnT w="12700" cap="flat" cmpd="sng" algn="ctr">
                      <a:solidFill>
                        <a:srgbClr val="E2E7E9"/>
                      </a:solidFill>
                      <a:prstDash val="solid"/>
                      <a:round/>
                      <a:headEnd type="none" w="med" len="med"/>
                      <a:tailEnd type="none" w="med" len="med"/>
                    </a:lnT>
                    <a:lnB w="12700" cap="flat" cmpd="sng" algn="ctr">
                      <a:solidFill>
                        <a:srgbClr val="E2E7E9"/>
                      </a:solidFill>
                      <a:prstDash val="solid"/>
                      <a:round/>
                      <a:headEnd type="none" w="med" len="med"/>
                      <a:tailEnd type="none" w="med" len="med"/>
                    </a:lnB>
                  </a:tcPr>
                </a:tc>
              </a:tr>
            </a:tbl>
          </a:graphicData>
        </a:graphic>
      </p:graphicFrame>
      <p:sp>
        <p:nvSpPr>
          <p:cNvPr id="5" name="Text 2"/>
          <p:cNvSpPr/>
          <p:nvPr/>
        </p:nvSpPr>
        <p:spPr>
          <a:xfrm>
            <a:off x="548640" y="3520440"/>
            <a:ext cx="3657600" cy="365760"/>
          </a:xfrm>
          <a:prstGeom prst="rect">
            <a:avLst/>
          </a:prstGeom>
          <a:noFill/>
          <a:ln/>
        </p:spPr>
        <p:txBody>
          <a:bodyPr wrap="square"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Cada run registra:</a:t>
            </a:r>
            <a:endParaRPr lang="en-US" sz="1300" dirty="0"/>
          </a:p>
        </p:txBody>
      </p:sp>
      <p:sp>
        <p:nvSpPr>
          <p:cNvPr id="6" name="Text 3"/>
          <p:cNvSpPr/>
          <p:nvPr/>
        </p:nvSpPr>
        <p:spPr>
          <a:xfrm>
            <a:off x="548640" y="3886200"/>
            <a:ext cx="3657600" cy="320040"/>
          </a:xfrm>
          <a:prstGeom prst="rect">
            <a:avLst/>
          </a:prstGeom>
          <a:noFill/>
          <a:ln/>
        </p:spPr>
        <p:txBody>
          <a:bodyPr wrap="square" rtlCol="0" anchor="ctr"/>
          <a:lstStyle/>
          <a:p>
            <a:pPr marL="342900" indent="-342900">
              <a:buSzPct val="100000"/>
              <a:buChar char="•"/>
            </a:pPr>
            <a:r>
              <a:rPr lang="en-US" sz="1300" dirty="0">
                <a:solidFill>
                  <a:srgbClr val="5B6B73"/>
                </a:solidFill>
                <a:latin typeface="Calibri" pitchFamily="34" charset="0"/>
                <a:ea typeface="Calibri" pitchFamily="34" charset="-122"/>
                <a:cs typeface="Calibri" pitchFamily="34" charset="-120"/>
              </a:rPr>
              <a:t>Parámetros</a:t>
            </a:r>
            <a:endParaRPr lang="en-US" sz="1300" dirty="0"/>
          </a:p>
        </p:txBody>
      </p:sp>
      <p:sp>
        <p:nvSpPr>
          <p:cNvPr id="7" name="Text 4"/>
          <p:cNvSpPr/>
          <p:nvPr/>
        </p:nvSpPr>
        <p:spPr>
          <a:xfrm>
            <a:off x="548640" y="4251960"/>
            <a:ext cx="3657600" cy="320040"/>
          </a:xfrm>
          <a:prstGeom prst="rect">
            <a:avLst/>
          </a:prstGeom>
          <a:noFill/>
          <a:ln/>
        </p:spPr>
        <p:txBody>
          <a:bodyPr wrap="square" rtlCol="0" anchor="ctr"/>
          <a:lstStyle/>
          <a:p>
            <a:pPr marL="342900" indent="-342900">
              <a:buSzPct val="100000"/>
              <a:buChar char="•"/>
            </a:pPr>
            <a:r>
              <a:rPr lang="en-US" sz="1300" dirty="0">
                <a:solidFill>
                  <a:srgbClr val="5B6B73"/>
                </a:solidFill>
                <a:latin typeface="Calibri" pitchFamily="34" charset="0"/>
                <a:ea typeface="Calibri" pitchFamily="34" charset="-122"/>
                <a:cs typeface="Calibri" pitchFamily="34" charset="-120"/>
              </a:rPr>
              <a:t>Métricas por época</a:t>
            </a:r>
            <a:endParaRPr lang="en-US" sz="1300" dirty="0"/>
          </a:p>
        </p:txBody>
      </p:sp>
      <p:sp>
        <p:nvSpPr>
          <p:cNvPr id="8" name="Text 5"/>
          <p:cNvSpPr/>
          <p:nvPr/>
        </p:nvSpPr>
        <p:spPr>
          <a:xfrm>
            <a:off x="548640" y="4617720"/>
            <a:ext cx="3657600" cy="320040"/>
          </a:xfrm>
          <a:prstGeom prst="rect">
            <a:avLst/>
          </a:prstGeom>
          <a:noFill/>
          <a:ln/>
        </p:spPr>
        <p:txBody>
          <a:bodyPr wrap="square" rtlCol="0" anchor="ctr"/>
          <a:lstStyle/>
          <a:p>
            <a:pPr marL="342900" indent="-342900">
              <a:buSzPct val="100000"/>
              <a:buChar char="•"/>
            </a:pPr>
            <a:r>
              <a:rPr lang="en-US" sz="1300" dirty="0">
                <a:solidFill>
                  <a:srgbClr val="5B6B73"/>
                </a:solidFill>
                <a:latin typeface="Calibri" pitchFamily="34" charset="0"/>
                <a:ea typeface="Calibri" pitchFamily="34" charset="-122"/>
                <a:cs typeface="Calibri" pitchFamily="34" charset="-120"/>
              </a:rPr>
              <a:t>Métricas finales (P/R/F1/AUC)</a:t>
            </a:r>
            <a:endParaRPr lang="en-US" sz="1300" dirty="0"/>
          </a:p>
        </p:txBody>
      </p:sp>
      <p:sp>
        <p:nvSpPr>
          <p:cNvPr id="9" name="Text 6"/>
          <p:cNvSpPr/>
          <p:nvPr/>
        </p:nvSpPr>
        <p:spPr>
          <a:xfrm>
            <a:off x="548640" y="4983480"/>
            <a:ext cx="3657600" cy="320040"/>
          </a:xfrm>
          <a:prstGeom prst="rect">
            <a:avLst/>
          </a:prstGeom>
          <a:noFill/>
          <a:ln/>
        </p:spPr>
        <p:txBody>
          <a:bodyPr wrap="square" rtlCol="0" anchor="ctr"/>
          <a:lstStyle/>
          <a:p>
            <a:pPr marL="342900" indent="-342900">
              <a:buSzPct val="100000"/>
              <a:buChar char="•"/>
            </a:pPr>
            <a:r>
              <a:rPr lang="en-US" sz="1300" dirty="0">
                <a:solidFill>
                  <a:srgbClr val="5B6B73"/>
                </a:solidFill>
                <a:latin typeface="Calibri" pitchFamily="34" charset="0"/>
                <a:ea typeface="Calibri" pitchFamily="34" charset="-122"/>
                <a:cs typeface="Calibri" pitchFamily="34" charset="-120"/>
              </a:rPr>
              <a:t>Artefactos (matriz, ROC, curvas)</a:t>
            </a:r>
            <a:endParaRPr lang="en-US" sz="1300" dirty="0"/>
          </a:p>
        </p:txBody>
      </p:sp>
      <p:sp>
        <p:nvSpPr>
          <p:cNvPr id="10" name="Text 7"/>
          <p:cNvSpPr/>
          <p:nvPr/>
        </p:nvSpPr>
        <p:spPr>
          <a:xfrm>
            <a:off x="548640" y="5349240"/>
            <a:ext cx="3657600" cy="320040"/>
          </a:xfrm>
          <a:prstGeom prst="rect">
            <a:avLst/>
          </a:prstGeom>
          <a:noFill/>
          <a:ln/>
        </p:spPr>
        <p:txBody>
          <a:bodyPr wrap="square" rtlCol="0" anchor="ctr"/>
          <a:lstStyle/>
          <a:p>
            <a:pPr marL="342900" indent="-342900">
              <a:buSzPct val="100000"/>
              <a:buChar char="•"/>
            </a:pPr>
            <a:r>
              <a:rPr lang="en-US" sz="1300" dirty="0">
                <a:solidFill>
                  <a:srgbClr val="5B6B73"/>
                </a:solidFill>
                <a:latin typeface="Calibri" pitchFamily="34" charset="0"/>
                <a:ea typeface="Calibri" pitchFamily="34" charset="-122"/>
                <a:cs typeface="Calibri" pitchFamily="34" charset="-120"/>
              </a:rPr>
              <a:t>El modelo, con signature</a:t>
            </a:r>
            <a:endParaRPr lang="en-US" sz="1300" dirty="0"/>
          </a:p>
        </p:txBody>
      </p:sp>
      <p:sp>
        <p:nvSpPr>
          <p:cNvPr id="11" name="Shape 8"/>
          <p:cNvSpPr/>
          <p:nvPr/>
        </p:nvSpPr>
        <p:spPr>
          <a:xfrm>
            <a:off x="7772400" y="1554480"/>
            <a:ext cx="3566160" cy="4572000"/>
          </a:xfrm>
          <a:prstGeom prst="roundRect">
            <a:avLst>
              <a:gd name="adj" fmla="val 2051"/>
            </a:avLst>
          </a:prstGeom>
          <a:solidFill>
            <a:srgbClr val="0B3D59"/>
          </a:solidFill>
          <a:ln/>
        </p:spPr>
      </p:sp>
      <p:sp>
        <p:nvSpPr>
          <p:cNvPr id="12" name="Text 9"/>
          <p:cNvSpPr/>
          <p:nvPr/>
        </p:nvSpPr>
        <p:spPr>
          <a:xfrm>
            <a:off x="8046720" y="1783080"/>
            <a:ext cx="3017520" cy="365760"/>
          </a:xfrm>
          <a:prstGeom prst="rect">
            <a:avLst/>
          </a:prstGeom>
          <a:noFill/>
          <a:ln/>
        </p:spPr>
        <p:txBody>
          <a:bodyPr wrap="square" rtlCol="0" anchor="ctr"/>
          <a:lstStyle/>
          <a:p>
            <a:pPr indent="0" marL="0">
              <a:buNone/>
            </a:pPr>
            <a:r>
              <a:rPr lang="en-US" sz="1300" b="1" dirty="0">
                <a:solidFill>
                  <a:srgbClr val="4FB6C8"/>
                </a:solidFill>
                <a:latin typeface="Calibri" pitchFamily="34" charset="0"/>
                <a:ea typeface="Calibri" pitchFamily="34" charset="-122"/>
                <a:cs typeface="Calibri" pitchFamily="34" charset="-120"/>
              </a:rPr>
              <a:t>Nota técnica</a:t>
            </a:r>
            <a:endParaRPr lang="en-US" sz="1300" dirty="0"/>
          </a:p>
        </p:txBody>
      </p:sp>
      <p:sp>
        <p:nvSpPr>
          <p:cNvPr id="13" name="Text 10"/>
          <p:cNvSpPr/>
          <p:nvPr/>
        </p:nvSpPr>
        <p:spPr>
          <a:xfrm>
            <a:off x="8046720" y="2194560"/>
            <a:ext cx="3017520" cy="1828800"/>
          </a:xfrm>
          <a:prstGeom prst="rect">
            <a:avLst/>
          </a:prstGeom>
          <a:noFill/>
          <a:ln/>
        </p:spPr>
        <p:txBody>
          <a:bodyPr wrap="square" rtlCol="0" anchor="t"/>
          <a:lstStyle/>
          <a:p>
            <a:pPr indent="0" marL="0">
              <a:buNone/>
            </a:pPr>
            <a:r>
              <a:rPr lang="en-US" sz="1100" dirty="0">
                <a:solidFill>
                  <a:srgbClr val="FFFFFF"/>
                </a:solidFill>
                <a:latin typeface="Courier New" pitchFamily="34" charset="0"/>
                <a:ea typeface="Courier New" pitchFamily="34" charset="-122"/>
                <a:cs typeface="Courier New" pitchFamily="34" charset="-120"/>
              </a:rPr>
              <a:t>mlflow.keras.log_model(..., input_example=...) </a:t>
            </a:r>
            <a:pPr indent="0" marL="0">
              <a:buNone/>
            </a:pPr>
            <a:r>
              <a:rPr lang="en-US" sz="1250" dirty="0">
                <a:solidFill>
                  <a:srgbClr val="D7E4EA"/>
                </a:solidFill>
                <a:latin typeface="Calibri" pitchFamily="34" charset="0"/>
                <a:ea typeface="Calibri" pitchFamily="34" charset="-122"/>
                <a:cs typeface="Calibri" pitchFamily="34" charset="-120"/>
              </a:rPr>
              <a:t>falla en esta combinación de versiones (MLflow 3.15 + Keras 3) con un bug de serialización conocido.</a:t>
            </a:r>
            <a:endParaRPr lang="en-US" sz="1100" dirty="0"/>
          </a:p>
        </p:txBody>
      </p:sp>
      <p:sp>
        <p:nvSpPr>
          <p:cNvPr id="14" name="Text 11"/>
          <p:cNvSpPr/>
          <p:nvPr/>
        </p:nvSpPr>
        <p:spPr>
          <a:xfrm>
            <a:off x="8046720" y="4023360"/>
            <a:ext cx="3017520" cy="1920240"/>
          </a:xfrm>
          <a:prstGeom prst="rect">
            <a:avLst/>
          </a:prstGeom>
          <a:noFill/>
          <a:ln/>
        </p:spPr>
        <p:txBody>
          <a:bodyPr wrap="square" rtlCol="0" anchor="t"/>
          <a:lstStyle/>
          <a:p>
            <a:pPr indent="0" marL="0">
              <a:buNone/>
            </a:pPr>
            <a:r>
              <a:rPr lang="en-US" sz="1250" b="1" dirty="0">
                <a:solidFill>
                  <a:srgbClr val="4FB6C8"/>
                </a:solidFill>
                <a:latin typeface="Calibri" pitchFamily="34" charset="0"/>
                <a:ea typeface="Calibri" pitchFamily="34" charset="-122"/>
                <a:cs typeface="Calibri" pitchFamily="34" charset="-120"/>
              </a:rPr>
              <a:t>Workaround verificado: </a:t>
            </a:r>
            <a:pPr indent="0" marL="0">
              <a:buNone/>
            </a:pPr>
            <a:r>
              <a:rPr lang="en-US" sz="1250" dirty="0">
                <a:solidFill>
                  <a:srgbClr val="D7E4EA"/>
                </a:solidFill>
                <a:latin typeface="Calibri" pitchFamily="34" charset="0"/>
                <a:ea typeface="Calibri" pitchFamily="34" charset="-122"/>
                <a:cs typeface="Calibri" pitchFamily="34" charset="-120"/>
              </a:rPr>
              <a:t>se omite input_example en log_model y se registra la forma esperada como artefacto JSON aparte.</a:t>
            </a:r>
            <a:endParaRPr lang="en-US" sz="1250" dirty="0"/>
          </a:p>
        </p:txBody>
      </p:sp>
      <p:sp>
        <p:nvSpPr>
          <p:cNvPr id="15" name="Text 12"/>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MLOPS</a:t>
            </a:r>
            <a:endParaRPr lang="en-US" sz="1200" dirty="0"/>
          </a:p>
        </p:txBody>
      </p:sp>
      <p:sp>
        <p:nvSpPr>
          <p:cNvPr id="3" name="Text 1"/>
          <p:cNvSpPr/>
          <p:nvPr/>
        </p:nvSpPr>
        <p:spPr>
          <a:xfrm>
            <a:off x="548640" y="685800"/>
            <a:ext cx="9144000" cy="640080"/>
          </a:xfrm>
          <a:prstGeom prst="rect">
            <a:avLst/>
          </a:prstGeom>
          <a:noFill/>
          <a:ln/>
        </p:spPr>
        <p:txBody>
          <a:bodyPr wrap="square"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Del experimento a Staging</a:t>
            </a:r>
            <a:endParaRPr lang="en-US" sz="3000" dirty="0"/>
          </a:p>
        </p:txBody>
      </p:sp>
      <p:sp>
        <p:nvSpPr>
          <p:cNvPr id="4" name="Shape 2"/>
          <p:cNvSpPr/>
          <p:nvPr/>
        </p:nvSpPr>
        <p:spPr>
          <a:xfrm>
            <a:off x="822960" y="2011680"/>
            <a:ext cx="2331720" cy="1005840"/>
          </a:xfrm>
          <a:prstGeom prst="roundRect">
            <a:avLst>
              <a:gd name="adj" fmla="val 7273"/>
            </a:avLst>
          </a:prstGeom>
          <a:solidFill>
            <a:srgbClr val="F4F7F8"/>
          </a:solidFill>
          <a:ln/>
        </p:spPr>
      </p:sp>
      <p:sp>
        <p:nvSpPr>
          <p:cNvPr id="5" name="Text 3"/>
          <p:cNvSpPr/>
          <p:nvPr/>
        </p:nvSpPr>
        <p:spPr>
          <a:xfrm>
            <a:off x="822960" y="2011680"/>
            <a:ext cx="2331720" cy="1005840"/>
          </a:xfrm>
          <a:prstGeom prst="rect">
            <a:avLst/>
          </a:prstGeom>
          <a:noFill/>
          <a:ln/>
        </p:spPr>
        <p:txBody>
          <a:bodyPr wrap="square" rtlCol="0" anchor="ctr"/>
          <a:lstStyle/>
          <a:p>
            <a:pPr algn="ctr" indent="0" marL="0">
              <a:buNone/>
            </a:pPr>
            <a:r>
              <a:rPr lang="en-US" sz="1500" b="1" dirty="0">
                <a:solidFill>
                  <a:srgbClr val="5B6B73"/>
                </a:solidFill>
                <a:latin typeface="Calibri" pitchFamily="34" charset="0"/>
                <a:ea typeface="Calibri" pitchFamily="34" charset="-122"/>
                <a:cs typeface="Calibri" pitchFamily="34" charset="-120"/>
              </a:rPr>
              <a:t>None</a:t>
            </a:r>
            <a:endParaRPr lang="en-US" sz="1500" dirty="0"/>
          </a:p>
        </p:txBody>
      </p:sp>
      <p:sp>
        <p:nvSpPr>
          <p:cNvPr id="6" name="Text 4"/>
          <p:cNvSpPr/>
          <p:nvPr/>
        </p:nvSpPr>
        <p:spPr>
          <a:xfrm>
            <a:off x="3154680" y="2011680"/>
            <a:ext cx="320040" cy="1005840"/>
          </a:xfrm>
          <a:prstGeom prst="rect">
            <a:avLst/>
          </a:prstGeom>
          <a:noFill/>
          <a:ln/>
        </p:spPr>
        <p:txBody>
          <a:bodyPr wrap="square" rtlCol="0" anchor="ctr"/>
          <a:lstStyle/>
          <a:p>
            <a:pPr algn="ctr" indent="0" marL="0">
              <a:buNone/>
            </a:pPr>
            <a:r>
              <a:rPr lang="en-US" sz="1800" dirty="0">
                <a:solidFill>
                  <a:srgbClr val="5B6B73"/>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3474720" y="2011680"/>
            <a:ext cx="2331720" cy="1005840"/>
          </a:xfrm>
          <a:prstGeom prst="roundRect">
            <a:avLst>
              <a:gd name="adj" fmla="val 7273"/>
            </a:avLst>
          </a:prstGeom>
          <a:solidFill>
            <a:srgbClr val="1C7293"/>
          </a:solidFill>
          <a:ln/>
        </p:spPr>
      </p:sp>
      <p:sp>
        <p:nvSpPr>
          <p:cNvPr id="8" name="Text 6"/>
          <p:cNvSpPr/>
          <p:nvPr/>
        </p:nvSpPr>
        <p:spPr>
          <a:xfrm>
            <a:off x="3474720" y="2011680"/>
            <a:ext cx="2331720" cy="10058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Staging</a:t>
            </a:r>
            <a:endParaRPr lang="en-US" sz="1500" dirty="0"/>
          </a:p>
        </p:txBody>
      </p:sp>
      <p:sp>
        <p:nvSpPr>
          <p:cNvPr id="9" name="Text 7"/>
          <p:cNvSpPr/>
          <p:nvPr/>
        </p:nvSpPr>
        <p:spPr>
          <a:xfrm>
            <a:off x="5806440" y="2011680"/>
            <a:ext cx="320040" cy="1005840"/>
          </a:xfrm>
          <a:prstGeom prst="rect">
            <a:avLst/>
          </a:prstGeom>
          <a:noFill/>
          <a:ln/>
        </p:spPr>
        <p:txBody>
          <a:bodyPr wrap="square" rtlCol="0" anchor="ctr"/>
          <a:lstStyle/>
          <a:p>
            <a:pPr algn="ctr" indent="0" marL="0">
              <a:buNone/>
            </a:pPr>
            <a:r>
              <a:rPr lang="en-US" sz="1800" dirty="0">
                <a:solidFill>
                  <a:srgbClr val="5B6B73"/>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6126480" y="2011680"/>
            <a:ext cx="2331720" cy="1005840"/>
          </a:xfrm>
          <a:prstGeom prst="roundRect">
            <a:avLst>
              <a:gd name="adj" fmla="val 7273"/>
            </a:avLst>
          </a:prstGeom>
          <a:solidFill>
            <a:srgbClr val="F4F7F8"/>
          </a:solidFill>
          <a:ln/>
        </p:spPr>
      </p:sp>
      <p:sp>
        <p:nvSpPr>
          <p:cNvPr id="11" name="Text 9"/>
          <p:cNvSpPr/>
          <p:nvPr/>
        </p:nvSpPr>
        <p:spPr>
          <a:xfrm>
            <a:off x="6126480" y="2011680"/>
            <a:ext cx="2331720" cy="1005840"/>
          </a:xfrm>
          <a:prstGeom prst="rect">
            <a:avLst/>
          </a:prstGeom>
          <a:noFill/>
          <a:ln/>
        </p:spPr>
        <p:txBody>
          <a:bodyPr wrap="square" rtlCol="0" anchor="ctr"/>
          <a:lstStyle/>
          <a:p>
            <a:pPr algn="ctr" indent="0" marL="0">
              <a:buNone/>
            </a:pPr>
            <a:r>
              <a:rPr lang="en-US" sz="1500" b="1" dirty="0">
                <a:solidFill>
                  <a:srgbClr val="5B6B73"/>
                </a:solidFill>
                <a:latin typeface="Calibri" pitchFamily="34" charset="0"/>
                <a:ea typeface="Calibri" pitchFamily="34" charset="-122"/>
                <a:cs typeface="Calibri" pitchFamily="34" charset="-120"/>
              </a:rPr>
              <a:t>Production</a:t>
            </a:r>
            <a:endParaRPr lang="en-US" sz="1500" dirty="0"/>
          </a:p>
        </p:txBody>
      </p:sp>
      <p:sp>
        <p:nvSpPr>
          <p:cNvPr id="12" name="Text 10"/>
          <p:cNvSpPr/>
          <p:nvPr/>
        </p:nvSpPr>
        <p:spPr>
          <a:xfrm>
            <a:off x="8458200" y="2011680"/>
            <a:ext cx="320040" cy="1005840"/>
          </a:xfrm>
          <a:prstGeom prst="rect">
            <a:avLst/>
          </a:prstGeom>
          <a:noFill/>
          <a:ln/>
        </p:spPr>
        <p:txBody>
          <a:bodyPr wrap="square" rtlCol="0" anchor="ctr"/>
          <a:lstStyle/>
          <a:p>
            <a:pPr algn="ctr" indent="0" marL="0">
              <a:buNone/>
            </a:pPr>
            <a:r>
              <a:rPr lang="en-US" sz="1800" dirty="0">
                <a:solidFill>
                  <a:srgbClr val="5B6B73"/>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8778240" y="2011680"/>
            <a:ext cx="2331720" cy="1005840"/>
          </a:xfrm>
          <a:prstGeom prst="roundRect">
            <a:avLst>
              <a:gd name="adj" fmla="val 7273"/>
            </a:avLst>
          </a:prstGeom>
          <a:solidFill>
            <a:srgbClr val="F4F7F8"/>
          </a:solidFill>
          <a:ln/>
        </p:spPr>
      </p:sp>
      <p:sp>
        <p:nvSpPr>
          <p:cNvPr id="14" name="Text 12"/>
          <p:cNvSpPr/>
          <p:nvPr/>
        </p:nvSpPr>
        <p:spPr>
          <a:xfrm>
            <a:off x="8778240" y="2011680"/>
            <a:ext cx="2331720" cy="1005840"/>
          </a:xfrm>
          <a:prstGeom prst="rect">
            <a:avLst/>
          </a:prstGeom>
          <a:noFill/>
          <a:ln/>
        </p:spPr>
        <p:txBody>
          <a:bodyPr wrap="square" rtlCol="0" anchor="ctr"/>
          <a:lstStyle/>
          <a:p>
            <a:pPr algn="ctr" indent="0" marL="0">
              <a:buNone/>
            </a:pPr>
            <a:r>
              <a:rPr lang="en-US" sz="1500" b="1" dirty="0">
                <a:solidFill>
                  <a:srgbClr val="5B6B73"/>
                </a:solidFill>
                <a:latin typeface="Calibri" pitchFamily="34" charset="0"/>
                <a:ea typeface="Calibri" pitchFamily="34" charset="-122"/>
                <a:cs typeface="Calibri" pitchFamily="34" charset="-120"/>
              </a:rPr>
              <a:t>Archived</a:t>
            </a:r>
            <a:endParaRPr lang="en-US" sz="1500" dirty="0"/>
          </a:p>
        </p:txBody>
      </p:sp>
      <p:sp>
        <p:nvSpPr>
          <p:cNvPr id="15" name="Text 13"/>
          <p:cNvSpPr/>
          <p:nvPr/>
        </p:nvSpPr>
        <p:spPr>
          <a:xfrm>
            <a:off x="822960" y="3246120"/>
            <a:ext cx="9144000" cy="365760"/>
          </a:xfrm>
          <a:prstGeom prst="rect">
            <a:avLst/>
          </a:prstGeom>
          <a:noFill/>
          <a:ln/>
        </p:spPr>
        <p:txBody>
          <a:bodyPr wrap="square" rtlCol="0" anchor="ctr"/>
          <a:lstStyle/>
          <a:p>
            <a:pPr indent="0" marL="0">
              <a:buNone/>
            </a:pPr>
            <a:r>
              <a:rPr lang="en-US" sz="1400" i="1" dirty="0">
                <a:solidFill>
                  <a:srgbClr val="5B6B73"/>
                </a:solidFill>
                <a:latin typeface="Calibri" pitchFamily="34" charset="0"/>
                <a:ea typeface="Calibri" pitchFamily="34" charset="-122"/>
                <a:cs typeface="Calibri" pitchFamily="34" charset="-120"/>
              </a:rPr>
              <a:t>Hoy: registramos el mejor run y lo promovemos a Staging.</a:t>
            </a:r>
            <a:endParaRPr lang="en-US" sz="1400" dirty="0"/>
          </a:p>
        </p:txBody>
      </p:sp>
      <p:sp>
        <p:nvSpPr>
          <p:cNvPr id="16" name="Shape 14"/>
          <p:cNvSpPr/>
          <p:nvPr/>
        </p:nvSpPr>
        <p:spPr>
          <a:xfrm>
            <a:off x="822960" y="3840480"/>
            <a:ext cx="10149840" cy="2011680"/>
          </a:xfrm>
          <a:prstGeom prst="roundRect">
            <a:avLst>
              <a:gd name="adj" fmla="val 3636"/>
            </a:avLst>
          </a:prstGeom>
          <a:solidFill>
            <a:srgbClr val="F4F7F8"/>
          </a:solidFill>
          <a:ln/>
        </p:spPr>
      </p:sp>
      <p:sp>
        <p:nvSpPr>
          <p:cNvPr id="17" name="Text 15"/>
          <p:cNvSpPr/>
          <p:nvPr/>
        </p:nvSpPr>
        <p:spPr>
          <a:xfrm>
            <a:off x="1097280" y="4069080"/>
            <a:ext cx="9509760" cy="914400"/>
          </a:xfrm>
          <a:prstGeom prst="rect">
            <a:avLst/>
          </a:prstGeom>
          <a:noFill/>
          <a:ln/>
        </p:spPr>
        <p:txBody>
          <a:bodyPr wrap="square"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Criterio de selección:  </a:t>
            </a:r>
            <a:pPr indent="0" marL="0">
              <a:buNone/>
            </a:pPr>
            <a:r>
              <a:rPr lang="en-US" sz="1500" dirty="0">
                <a:solidFill>
                  <a:srgbClr val="5B6B73"/>
                </a:solidFill>
                <a:latin typeface="Calibri" pitchFamily="34" charset="0"/>
                <a:ea typeface="Calibri" pitchFamily="34" charset="-122"/>
                <a:cs typeface="Calibri" pitchFamily="34" charset="-120"/>
              </a:rPr>
              <a:t>no se elige el run con mayor Accuracy a secas. Se ordena por F1-score (balance precision/recall) y se revisa el Recall de PNEUMONIA antes de decidir — en salud, dejar pasar un caso positivo pesa distinto que una falsa alarma.</a:t>
            </a:r>
            <a:endParaRPr lang="en-US" sz="1500" dirty="0"/>
          </a:p>
        </p:txBody>
      </p:sp>
      <p:sp>
        <p:nvSpPr>
          <p:cNvPr id="18" name="Text 16"/>
          <p:cNvSpPr/>
          <p:nvPr/>
        </p:nvSpPr>
        <p:spPr>
          <a:xfrm>
            <a:off x="1097280" y="5029200"/>
            <a:ext cx="9509760" cy="548640"/>
          </a:xfrm>
          <a:prstGeom prst="rect">
            <a:avLst/>
          </a:prstGeom>
          <a:noFill/>
          <a:ln/>
        </p:spPr>
        <p:txBody>
          <a:bodyPr wrap="square" rtlCol="0" anchor="t"/>
          <a:lstStyle/>
          <a:p>
            <a:pPr indent="0" marL="0">
              <a:buNone/>
            </a:pPr>
            <a:r>
              <a:rPr lang="en-US" sz="1400" b="1" dirty="0">
                <a:solidFill>
                  <a:srgbClr val="0B3D59"/>
                </a:solidFill>
                <a:latin typeface="Courier New" pitchFamily="34" charset="0"/>
                <a:ea typeface="Courier New" pitchFamily="34" charset="-122"/>
                <a:cs typeface="Courier New" pitchFamily="34" charset="-120"/>
              </a:rPr>
              <a:t>register_model()</a:t>
            </a:r>
            <a:pPr indent="0" marL="0">
              <a:buNone/>
            </a:pPr>
            <a:r>
              <a:rPr lang="en-US" sz="1400" dirty="0">
                <a:solidFill>
                  <a:srgbClr val="5B6B73"/>
                </a:solidFill>
                <a:latin typeface="Calibri" pitchFamily="34" charset="0"/>
                <a:ea typeface="Calibri" pitchFamily="34" charset="-122"/>
                <a:cs typeface="Calibri" pitchFamily="34" charset="-120"/>
              </a:rPr>
              <a:t>  +  </a:t>
            </a:r>
            <a:pPr indent="0" marL="0">
              <a:buNone/>
            </a:pPr>
            <a:r>
              <a:rPr lang="en-US" sz="1400" b="1" dirty="0">
                <a:solidFill>
                  <a:srgbClr val="0B3D59"/>
                </a:solidFill>
                <a:latin typeface="Courier New" pitchFamily="34" charset="0"/>
                <a:ea typeface="Courier New" pitchFamily="34" charset="-122"/>
                <a:cs typeface="Courier New" pitchFamily="34" charset="-120"/>
              </a:rPr>
              <a:t>transition_model_version_stage()</a:t>
            </a:r>
            <a:pPr indent="0" marL="0">
              <a:buNone/>
            </a:pPr>
            <a:r>
              <a:rPr lang="en-US" sz="1400" dirty="0">
                <a:solidFill>
                  <a:srgbClr val="5B6B73"/>
                </a:solidFill>
                <a:latin typeface="Calibri" pitchFamily="34" charset="0"/>
                <a:ea typeface="Calibri" pitchFamily="34" charset="-122"/>
                <a:cs typeface="Calibri" pitchFamily="34" charset="-120"/>
              </a:rPr>
              <a:t>  — mismo patrón visto en la Clase 3.</a:t>
            </a:r>
            <a:endParaRPr lang="en-US" sz="1400" dirty="0"/>
          </a:p>
        </p:txBody>
      </p:sp>
      <p:sp>
        <p:nvSpPr>
          <p:cNvPr id="19" name="Text 17"/>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D59"/>
        </a:solidFill>
      </p:bgPr>
    </p:bg>
    <p:spTree>
      <p:nvGrpSpPr>
        <p:cNvPr id="1" name=""/>
        <p:cNvGrpSpPr/>
        <p:nvPr/>
      </p:nvGrpSpPr>
      <p:grpSpPr>
        <a:xfrm>
          <a:off x="0" y="0"/>
          <a:ext cx="0" cy="0"/>
          <a:chOff x="0" y="0"/>
          <a:chExt cx="0" cy="0"/>
        </a:xfrm>
      </p:grpSpPr>
      <p:sp>
        <p:nvSpPr>
          <p:cNvPr id="2" name="Shape 0"/>
          <p:cNvSpPr/>
          <p:nvPr/>
        </p:nvSpPr>
        <p:spPr>
          <a:xfrm>
            <a:off x="-2286000" y="3840480"/>
            <a:ext cx="5486400" cy="5486400"/>
          </a:xfrm>
          <a:prstGeom prst="ellipse">
            <a:avLst/>
          </a:prstGeom>
          <a:solidFill>
            <a:srgbClr val="082C40"/>
          </a:solidFill>
          <a:ln/>
        </p:spPr>
      </p:sp>
      <p:sp>
        <p:nvSpPr>
          <p:cNvPr id="3" name="Text 1"/>
          <p:cNvSpPr/>
          <p:nvPr/>
        </p:nvSpPr>
        <p:spPr>
          <a:xfrm>
            <a:off x="640080" y="2331720"/>
            <a:ext cx="3657600" cy="365760"/>
          </a:xfrm>
          <a:prstGeom prst="rect">
            <a:avLst/>
          </a:prstGeom>
          <a:noFill/>
          <a:ln/>
        </p:spPr>
        <p:txBody>
          <a:bodyPr wrap="square" rtlCol="0" anchor="ctr"/>
          <a:lstStyle/>
          <a:p>
            <a:pPr indent="0" marL="0">
              <a:buNone/>
            </a:pPr>
            <a:r>
              <a:rPr lang="en-US" sz="1300" b="1" spc="200" kern="0" dirty="0">
                <a:solidFill>
                  <a:srgbClr val="4FB6C8"/>
                </a:solidFill>
                <a:latin typeface="Calibri" pitchFamily="34" charset="0"/>
                <a:ea typeface="Calibri" pitchFamily="34" charset="-122"/>
                <a:cs typeface="Calibri" pitchFamily="34" charset="-120"/>
              </a:rPr>
              <a:t>BLOQUE 2 · DEMO GUIADA</a:t>
            </a:r>
            <a:endParaRPr lang="en-US" sz="1300" dirty="0"/>
          </a:p>
        </p:txBody>
      </p:sp>
      <p:sp>
        <p:nvSpPr>
          <p:cNvPr id="4" name="Text 2"/>
          <p:cNvSpPr/>
          <p:nvPr/>
        </p:nvSpPr>
        <p:spPr>
          <a:xfrm>
            <a:off x="594360" y="2743200"/>
            <a:ext cx="10058400" cy="128016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Backend, sin frontend</a:t>
            </a:r>
            <a:endParaRPr lang="en-US" sz="3800" dirty="0"/>
          </a:p>
        </p:txBody>
      </p:sp>
      <p:sp>
        <p:nvSpPr>
          <p:cNvPr id="5" name="Text 3"/>
          <p:cNvSpPr/>
          <p:nvPr/>
        </p:nvSpPr>
        <p:spPr>
          <a:xfrm>
            <a:off x="621792" y="3794760"/>
            <a:ext cx="9144000" cy="640080"/>
          </a:xfrm>
          <a:prstGeom prst="rect">
            <a:avLst/>
          </a:prstGeom>
          <a:noFill/>
          <a:ln/>
        </p:spPr>
        <p:txBody>
          <a:bodyPr wrap="square" rtlCol="0" anchor="ctr"/>
          <a:lstStyle/>
          <a:p>
            <a:pPr indent="0" marL="0">
              <a:buNone/>
            </a:pPr>
            <a:r>
              <a:rPr lang="en-US" sz="1600" dirty="0">
                <a:solidFill>
                  <a:srgbClr val="C9DAE2"/>
                </a:solidFill>
                <a:latin typeface="Calibri" pitchFamily="34" charset="0"/>
                <a:ea typeface="Calibri" pitchFamily="34" charset="-122"/>
                <a:cs typeface="Calibri" pitchFamily="34" charset="-120"/>
              </a:rPr>
              <a:t>El entregable de “aplicación” es únicamente la API — se prueba con Swagger, no con una interfaz visual.</a:t>
            </a:r>
            <a:endParaRPr lang="en-US" sz="1600" dirty="0"/>
          </a:p>
        </p:txBody>
      </p:sp>
      <p:sp>
        <p:nvSpPr>
          <p:cNvPr id="6" name="Text 4"/>
          <p:cNvSpPr/>
          <p:nvPr/>
        </p:nvSpPr>
        <p:spPr>
          <a:xfrm>
            <a:off x="10607040" y="502920"/>
            <a:ext cx="1280160" cy="914400"/>
          </a:xfrm>
          <a:prstGeom prst="rect">
            <a:avLst/>
          </a:prstGeom>
          <a:noFill/>
          <a:ln/>
        </p:spPr>
        <p:txBody>
          <a:bodyPr wrap="square" rtlCol="0" anchor="ctr"/>
          <a:lstStyle/>
          <a:p>
            <a:pPr algn="r" indent="0" marL="0">
              <a:buNone/>
            </a:pPr>
            <a:r>
              <a:rPr lang="en-US" sz="3400" b="1" dirty="0">
                <a:solidFill>
                  <a:srgbClr val="1E4B62"/>
                </a:solidFill>
                <a:latin typeface="Cambria" pitchFamily="34" charset="0"/>
                <a:ea typeface="Cambria" pitchFamily="34" charset="-122"/>
                <a:cs typeface="Cambria" pitchFamily="34" charset="-120"/>
              </a:rPr>
              <a:t>02</a:t>
            </a:r>
            <a:endParaRPr lang="en-US" sz="3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API DE INFERENCIA (FASTAPI)</a:t>
            </a:r>
            <a:endParaRPr lang="en-US" sz="1200" dirty="0"/>
          </a:p>
        </p:txBody>
      </p:sp>
      <p:sp>
        <p:nvSpPr>
          <p:cNvPr id="3" name="Text 1"/>
          <p:cNvSpPr/>
          <p:nvPr/>
        </p:nvSpPr>
        <p:spPr>
          <a:xfrm>
            <a:off x="548640" y="685800"/>
            <a:ext cx="9144000" cy="640080"/>
          </a:xfrm>
          <a:prstGeom prst="rect">
            <a:avLst/>
          </a:prstGeom>
          <a:noFill/>
          <a:ln/>
        </p:spPr>
        <p:txBody>
          <a:bodyPr wrap="square"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POST /predict</a:t>
            </a:r>
            <a:endParaRPr lang="en-US" sz="3000" dirty="0"/>
          </a:p>
        </p:txBody>
      </p:sp>
      <p:sp>
        <p:nvSpPr>
          <p:cNvPr id="4" name="Shape 2"/>
          <p:cNvSpPr/>
          <p:nvPr/>
        </p:nvSpPr>
        <p:spPr>
          <a:xfrm>
            <a:off x="548640" y="1645920"/>
            <a:ext cx="5120640" cy="4023360"/>
          </a:xfrm>
          <a:prstGeom prst="roundRect">
            <a:avLst>
              <a:gd name="adj" fmla="val 1818"/>
            </a:avLst>
          </a:prstGeom>
          <a:solidFill>
            <a:srgbClr val="F4F7F8"/>
          </a:solidFill>
          <a:ln/>
        </p:spPr>
      </p:sp>
      <p:sp>
        <p:nvSpPr>
          <p:cNvPr id="5" name="Text 3"/>
          <p:cNvSpPr/>
          <p:nvPr/>
        </p:nvSpPr>
        <p:spPr>
          <a:xfrm>
            <a:off x="822960" y="1828800"/>
            <a:ext cx="4572000" cy="365760"/>
          </a:xfrm>
          <a:prstGeom prst="rect">
            <a:avLst/>
          </a:prstGeom>
          <a:noFill/>
          <a:ln/>
        </p:spPr>
        <p:txBody>
          <a:bodyPr wrap="square" rtlCol="0" anchor="ctr"/>
          <a:lstStyle/>
          <a:p>
            <a:pPr indent="0" marL="0">
              <a:buNone/>
            </a:pPr>
            <a:r>
              <a:rPr lang="en-US" sz="1400" b="1" dirty="0">
                <a:solidFill>
                  <a:srgbClr val="0B3D59"/>
                </a:solidFill>
                <a:latin typeface="Calibri" pitchFamily="34" charset="0"/>
                <a:ea typeface="Calibri" pitchFamily="34" charset="-122"/>
                <a:cs typeface="Calibri" pitchFamily="34" charset="-120"/>
              </a:rPr>
              <a:t>Endpoints</a:t>
            </a:r>
            <a:endParaRPr lang="en-US" sz="1400" dirty="0"/>
          </a:p>
        </p:txBody>
      </p:sp>
      <p:sp>
        <p:nvSpPr>
          <p:cNvPr id="6" name="Text 4"/>
          <p:cNvSpPr/>
          <p:nvPr/>
        </p:nvSpPr>
        <p:spPr>
          <a:xfrm>
            <a:off x="822960" y="2286000"/>
            <a:ext cx="4572000" cy="320040"/>
          </a:xfrm>
          <a:prstGeom prst="rect">
            <a:avLst/>
          </a:prstGeom>
          <a:noFill/>
          <a:ln/>
        </p:spPr>
        <p:txBody>
          <a:bodyPr wrap="square" rtlCol="0" anchor="ctr"/>
          <a:lstStyle/>
          <a:p>
            <a:pPr indent="0" marL="0">
              <a:buNone/>
            </a:pPr>
            <a:r>
              <a:rPr lang="en-US" sz="1400" b="1" dirty="0">
                <a:solidFill>
                  <a:srgbClr val="1C7293"/>
                </a:solidFill>
                <a:latin typeface="Courier New" pitchFamily="34" charset="0"/>
                <a:ea typeface="Courier New" pitchFamily="34" charset="-122"/>
                <a:cs typeface="Courier New" pitchFamily="34" charset="-120"/>
              </a:rPr>
              <a:t>GET /health</a:t>
            </a:r>
            <a:endParaRPr lang="en-US" sz="1400" dirty="0"/>
          </a:p>
        </p:txBody>
      </p:sp>
      <p:sp>
        <p:nvSpPr>
          <p:cNvPr id="7" name="Text 5"/>
          <p:cNvSpPr/>
          <p:nvPr/>
        </p:nvSpPr>
        <p:spPr>
          <a:xfrm>
            <a:off x="822960" y="2651760"/>
            <a:ext cx="4572000" cy="457200"/>
          </a:xfrm>
          <a:prstGeom prst="rect">
            <a:avLst/>
          </a:prstGeom>
          <a:noFill/>
          <a:ln/>
        </p:spPr>
        <p:txBody>
          <a:bodyPr wrap="square" rtlCol="0" anchor="ctr"/>
          <a:lstStyle/>
          <a:p>
            <a:pPr indent="0" marL="0">
              <a:buNone/>
            </a:pPr>
            <a:r>
              <a:rPr lang="en-US" sz="1300" dirty="0">
                <a:solidFill>
                  <a:srgbClr val="5B6B73"/>
                </a:solidFill>
                <a:latin typeface="Calibri" pitchFamily="34" charset="0"/>
                <a:ea typeface="Calibri" pitchFamily="34" charset="-122"/>
                <a:cs typeface="Calibri" pitchFamily="34" charset="-120"/>
              </a:rPr>
              <a:t>estado del servicio y del modelo cargado</a:t>
            </a:r>
            <a:endParaRPr lang="en-US" sz="1300" dirty="0"/>
          </a:p>
        </p:txBody>
      </p:sp>
      <p:sp>
        <p:nvSpPr>
          <p:cNvPr id="8" name="Text 6"/>
          <p:cNvSpPr/>
          <p:nvPr/>
        </p:nvSpPr>
        <p:spPr>
          <a:xfrm>
            <a:off x="822960" y="3337560"/>
            <a:ext cx="4572000" cy="320040"/>
          </a:xfrm>
          <a:prstGeom prst="rect">
            <a:avLst/>
          </a:prstGeom>
          <a:noFill/>
          <a:ln/>
        </p:spPr>
        <p:txBody>
          <a:bodyPr wrap="square" rtlCol="0" anchor="ctr"/>
          <a:lstStyle/>
          <a:p>
            <a:pPr indent="0" marL="0">
              <a:buNone/>
            </a:pPr>
            <a:r>
              <a:rPr lang="en-US" sz="1400" b="1" dirty="0">
                <a:solidFill>
                  <a:srgbClr val="1C7293"/>
                </a:solidFill>
                <a:latin typeface="Courier New" pitchFamily="34" charset="0"/>
                <a:ea typeface="Courier New" pitchFamily="34" charset="-122"/>
                <a:cs typeface="Courier New" pitchFamily="34" charset="-120"/>
              </a:rPr>
              <a:t>POST /predict</a:t>
            </a:r>
            <a:endParaRPr lang="en-US" sz="1400" dirty="0"/>
          </a:p>
        </p:txBody>
      </p:sp>
      <p:sp>
        <p:nvSpPr>
          <p:cNvPr id="9" name="Text 7"/>
          <p:cNvSpPr/>
          <p:nvPr/>
        </p:nvSpPr>
        <p:spPr>
          <a:xfrm>
            <a:off x="822960" y="3703320"/>
            <a:ext cx="4572000" cy="457200"/>
          </a:xfrm>
          <a:prstGeom prst="rect">
            <a:avLst/>
          </a:prstGeom>
          <a:noFill/>
          <a:ln/>
        </p:spPr>
        <p:txBody>
          <a:bodyPr wrap="square" rtlCol="0" anchor="ctr"/>
          <a:lstStyle/>
          <a:p>
            <a:pPr indent="0" marL="0">
              <a:buNone/>
            </a:pPr>
            <a:r>
              <a:rPr lang="en-US" sz="1300" dirty="0">
                <a:solidFill>
                  <a:srgbClr val="5B6B73"/>
                </a:solidFill>
                <a:latin typeface="Calibri" pitchFamily="34" charset="0"/>
                <a:ea typeface="Calibri" pitchFamily="34" charset="-122"/>
                <a:cs typeface="Calibri" pitchFamily="34" charset="-120"/>
              </a:rPr>
              <a:t>clasifica una imagen (JPEG/PNG)</a:t>
            </a:r>
            <a:endParaRPr lang="en-US" sz="1300" dirty="0"/>
          </a:p>
        </p:txBody>
      </p:sp>
      <p:sp>
        <p:nvSpPr>
          <p:cNvPr id="10" name="Text 8"/>
          <p:cNvSpPr/>
          <p:nvPr/>
        </p:nvSpPr>
        <p:spPr>
          <a:xfrm>
            <a:off x="822960" y="4389120"/>
            <a:ext cx="4572000" cy="320040"/>
          </a:xfrm>
          <a:prstGeom prst="rect">
            <a:avLst/>
          </a:prstGeom>
          <a:noFill/>
          <a:ln/>
        </p:spPr>
        <p:txBody>
          <a:bodyPr wrap="square" rtlCol="0" anchor="ctr"/>
          <a:lstStyle/>
          <a:p>
            <a:pPr indent="0" marL="0">
              <a:buNone/>
            </a:pPr>
            <a:r>
              <a:rPr lang="en-US" sz="1400" b="1" dirty="0">
                <a:solidFill>
                  <a:srgbClr val="1C7293"/>
                </a:solidFill>
                <a:latin typeface="Courier New" pitchFamily="34" charset="0"/>
                <a:ea typeface="Courier New" pitchFamily="34" charset="-122"/>
                <a:cs typeface="Courier New" pitchFamily="34" charset="-120"/>
              </a:rPr>
              <a:t>GET /docs</a:t>
            </a:r>
            <a:endParaRPr lang="en-US" sz="1400" dirty="0"/>
          </a:p>
        </p:txBody>
      </p:sp>
      <p:sp>
        <p:nvSpPr>
          <p:cNvPr id="11" name="Text 9"/>
          <p:cNvSpPr/>
          <p:nvPr/>
        </p:nvSpPr>
        <p:spPr>
          <a:xfrm>
            <a:off x="822960" y="4754880"/>
            <a:ext cx="4572000" cy="457200"/>
          </a:xfrm>
          <a:prstGeom prst="rect">
            <a:avLst/>
          </a:prstGeom>
          <a:noFill/>
          <a:ln/>
        </p:spPr>
        <p:txBody>
          <a:bodyPr wrap="square" rtlCol="0" anchor="ctr"/>
          <a:lstStyle/>
          <a:p>
            <a:pPr indent="0" marL="0">
              <a:buNone/>
            </a:pPr>
            <a:r>
              <a:rPr lang="en-US" sz="1300" dirty="0">
                <a:solidFill>
                  <a:srgbClr val="5B6B73"/>
                </a:solidFill>
                <a:latin typeface="Calibri" pitchFamily="34" charset="0"/>
                <a:ea typeface="Calibri" pitchFamily="34" charset="-122"/>
                <a:cs typeface="Calibri" pitchFamily="34" charset="-120"/>
              </a:rPr>
              <a:t>documentación interactiva (Swagger)</a:t>
            </a:r>
            <a:endParaRPr lang="en-US" sz="1300" dirty="0"/>
          </a:p>
        </p:txBody>
      </p:sp>
      <p:sp>
        <p:nvSpPr>
          <p:cNvPr id="12" name="Shape 10"/>
          <p:cNvSpPr/>
          <p:nvPr/>
        </p:nvSpPr>
        <p:spPr>
          <a:xfrm>
            <a:off x="5989320" y="1645920"/>
            <a:ext cx="5303520" cy="4023360"/>
          </a:xfrm>
          <a:prstGeom prst="roundRect">
            <a:avLst>
              <a:gd name="adj" fmla="val 1818"/>
            </a:avLst>
          </a:prstGeom>
          <a:solidFill>
            <a:srgbClr val="0B3D59"/>
          </a:solidFill>
          <a:ln/>
        </p:spPr>
      </p:sp>
      <p:sp>
        <p:nvSpPr>
          <p:cNvPr id="13" name="Text 11"/>
          <p:cNvSpPr/>
          <p:nvPr/>
        </p:nvSpPr>
        <p:spPr>
          <a:xfrm>
            <a:off x="6263640" y="1828800"/>
            <a:ext cx="4754880" cy="365760"/>
          </a:xfrm>
          <a:prstGeom prst="rect">
            <a:avLst/>
          </a:prstGeom>
          <a:noFill/>
          <a:ln/>
        </p:spPr>
        <p:txBody>
          <a:bodyPr wrap="square" rtlCol="0" anchor="ctr"/>
          <a:lstStyle/>
          <a:p>
            <a:pPr indent="0" marL="0">
              <a:buNone/>
            </a:pPr>
            <a:r>
              <a:rPr lang="en-US" sz="1400" b="1" dirty="0">
                <a:solidFill>
                  <a:srgbClr val="4FB6C8"/>
                </a:solidFill>
                <a:latin typeface="Calibri" pitchFamily="34" charset="0"/>
                <a:ea typeface="Calibri" pitchFamily="34" charset="-122"/>
                <a:cs typeface="Calibri" pitchFamily="34" charset="-120"/>
              </a:rPr>
              <a:t>Respuesta de ejemplo</a:t>
            </a:r>
            <a:endParaRPr lang="en-US" sz="1400" dirty="0"/>
          </a:p>
        </p:txBody>
      </p:sp>
      <p:sp>
        <p:nvSpPr>
          <p:cNvPr id="14" name="Text 12"/>
          <p:cNvSpPr/>
          <p:nvPr/>
        </p:nvSpPr>
        <p:spPr>
          <a:xfrm>
            <a:off x="6263640" y="2286000"/>
            <a:ext cx="4754880" cy="2011680"/>
          </a:xfrm>
          <a:prstGeom prst="rect">
            <a:avLst/>
          </a:prstGeom>
          <a:noFill/>
          <a:ln/>
        </p:spPr>
        <p:txBody>
          <a:bodyPr wrap="square" rtlCol="0" anchor="t"/>
          <a:lstStyle/>
          <a:p>
            <a:pPr indent="0" marL="0">
              <a:buNone/>
            </a:pPr>
            <a:r>
              <a:rPr lang="en-US" sz="1300" dirty="0">
                <a:solidFill>
                  <a:srgbClr val="E4F3F6"/>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4F3F6"/>
                </a:solidFill>
                <a:latin typeface="Courier New" pitchFamily="34" charset="0"/>
                <a:ea typeface="Courier New" pitchFamily="34" charset="-122"/>
                <a:cs typeface="Courier New" pitchFamily="34" charset="-120"/>
              </a:rPr>
              <a:t>  "prediction": "PNEUMONIA",</a:t>
            </a:r>
            <a:endParaRPr lang="en-US" sz="1300" dirty="0"/>
          </a:p>
          <a:p>
            <a:pPr indent="0" marL="0">
              <a:buNone/>
            </a:pPr>
            <a:r>
              <a:rPr lang="en-US" sz="1300" dirty="0">
                <a:solidFill>
                  <a:srgbClr val="E4F3F6"/>
                </a:solidFill>
                <a:latin typeface="Courier New" pitchFamily="34" charset="0"/>
                <a:ea typeface="Courier New" pitchFamily="34" charset="-122"/>
                <a:cs typeface="Courier New" pitchFamily="34" charset="-120"/>
              </a:rPr>
              <a:t>  "probability": 0.942,</a:t>
            </a:r>
            <a:endParaRPr lang="en-US" sz="1300" dirty="0"/>
          </a:p>
          <a:p>
            <a:pPr indent="0" marL="0">
              <a:buNone/>
            </a:pPr>
            <a:r>
              <a:rPr lang="en-US" sz="1300" dirty="0">
                <a:solidFill>
                  <a:srgbClr val="E4F3F6"/>
                </a:solidFill>
                <a:latin typeface="Courier New" pitchFamily="34" charset="0"/>
                <a:ea typeface="Courier New" pitchFamily="34" charset="-122"/>
                <a:cs typeface="Courier New" pitchFamily="34" charset="-120"/>
              </a:rPr>
              <a:t>  "model_version": "1.0",</a:t>
            </a:r>
            <a:endParaRPr lang="en-US" sz="1300" dirty="0"/>
          </a:p>
          <a:p>
            <a:pPr indent="0" marL="0">
              <a:buNone/>
            </a:pPr>
            <a:r>
              <a:rPr lang="en-US" sz="1300" dirty="0">
                <a:solidFill>
                  <a:srgbClr val="E4F3F6"/>
                </a:solidFill>
                <a:latin typeface="Courier New" pitchFamily="34" charset="0"/>
                <a:ea typeface="Courier New" pitchFamily="34" charset="-122"/>
                <a:cs typeface="Courier New" pitchFamily="34" charset="-120"/>
              </a:rPr>
              <a:t>  "disclaimer": "Proyecto</a:t>
            </a:r>
            <a:endParaRPr lang="en-US" sz="1300" dirty="0"/>
          </a:p>
          <a:p>
            <a:pPr indent="0" marL="0">
              <a:buNone/>
            </a:pPr>
            <a:r>
              <a:rPr lang="en-US" sz="1300" dirty="0">
                <a:solidFill>
                  <a:srgbClr val="E4F3F6"/>
                </a:solidFill>
                <a:latin typeface="Courier New" pitchFamily="34" charset="0"/>
                <a:ea typeface="Courier New" pitchFamily="34" charset="-122"/>
                <a:cs typeface="Courier New" pitchFamily="34" charset="-120"/>
              </a:rPr>
              <a:t>    académico..."</a:t>
            </a:r>
            <a:endParaRPr lang="en-US" sz="1300" dirty="0"/>
          </a:p>
          <a:p>
            <a:pPr indent="0" marL="0">
              <a:buNone/>
            </a:pPr>
            <a:r>
              <a:rPr lang="en-US" sz="1300" dirty="0">
                <a:solidFill>
                  <a:srgbClr val="E4F3F6"/>
                </a:solidFill>
                <a:latin typeface="Courier New" pitchFamily="34" charset="0"/>
                <a:ea typeface="Courier New" pitchFamily="34" charset="-122"/>
                <a:cs typeface="Courier New" pitchFamily="34" charset="-120"/>
              </a:rPr>
              <a:t>}</a:t>
            </a:r>
            <a:endParaRPr lang="en-US" sz="1300" dirty="0"/>
          </a:p>
        </p:txBody>
      </p:sp>
      <p:sp>
        <p:nvSpPr>
          <p:cNvPr id="15" name="Text 13"/>
          <p:cNvSpPr/>
          <p:nvPr/>
        </p:nvSpPr>
        <p:spPr>
          <a:xfrm>
            <a:off x="6263640" y="4572000"/>
            <a:ext cx="4754880" cy="914400"/>
          </a:xfrm>
          <a:prstGeom prst="rect">
            <a:avLst/>
          </a:prstGeom>
          <a:noFill/>
          <a:ln/>
        </p:spPr>
        <p:txBody>
          <a:bodyPr wrap="square" rtlCol="0" anchor="t"/>
          <a:lstStyle/>
          <a:p>
            <a:pPr indent="0" marL="0">
              <a:buNone/>
            </a:pPr>
            <a:r>
              <a:rPr lang="en-US" sz="1250" i="1" dirty="0">
                <a:solidFill>
                  <a:srgbClr val="C9DAE2"/>
                </a:solidFill>
                <a:latin typeface="Calibri" pitchFamily="34" charset="0"/>
                <a:ea typeface="Calibri" pitchFamily="34" charset="-122"/>
                <a:cs typeface="Calibri" pitchFamily="34" charset="-120"/>
              </a:rPr>
              <a:t>El modelo se carga UNA sola vez al iniciar el proceso — no en cada petición (misma buena práctica de la Clase 2).</a:t>
            </a:r>
            <a:endParaRPr lang="en-US" sz="1250" dirty="0"/>
          </a:p>
        </p:txBody>
      </p:sp>
      <p:sp>
        <p:nvSpPr>
          <p:cNvPr id="16" name="Text 14"/>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CÓMO ESTÁ ORGANIZADO</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indent="0" marL="0">
              <a:buNone/>
            </a:pPr>
            <a:r>
              <a:rPr lang="en-US" sz="2700" b="1" dirty="0">
                <a:solidFill>
                  <a:srgbClr val="1F2933"/>
                </a:solidFill>
                <a:latin typeface="Cambria" pitchFamily="34" charset="0"/>
                <a:ea typeface="Cambria" pitchFamily="34" charset="-122"/>
                <a:cs typeface="Cambria" pitchFamily="34" charset="-120"/>
              </a:rPr>
              <a:t>Estructura del proyecto: solo lo necesario</a:t>
            </a:r>
            <a:endParaRPr lang="en-US" sz="2700" dirty="0"/>
          </a:p>
        </p:txBody>
      </p:sp>
      <p:sp>
        <p:nvSpPr>
          <p:cNvPr id="4" name="Shape 2"/>
          <p:cNvSpPr/>
          <p:nvPr/>
        </p:nvSpPr>
        <p:spPr>
          <a:xfrm>
            <a:off x="548640" y="1645920"/>
            <a:ext cx="5120640" cy="4114800"/>
          </a:xfrm>
          <a:prstGeom prst="roundRect">
            <a:avLst>
              <a:gd name="adj" fmla="val 1778"/>
            </a:avLst>
          </a:prstGeom>
          <a:solidFill>
            <a:srgbClr val="F4F7F8"/>
          </a:solidFill>
          <a:ln/>
        </p:spPr>
      </p:sp>
      <p:sp>
        <p:nvSpPr>
          <p:cNvPr id="5" name="Text 3"/>
          <p:cNvSpPr/>
          <p:nvPr/>
        </p:nvSpPr>
        <p:spPr>
          <a:xfrm>
            <a:off x="822960" y="1874520"/>
            <a:ext cx="4663440" cy="3657600"/>
          </a:xfrm>
          <a:prstGeom prst="rect">
            <a:avLst/>
          </a:prstGeom>
          <a:noFill/>
          <a:ln/>
        </p:spPr>
        <p:txBody>
          <a:bodyPr wrap="square" rtlCol="0" anchor="t"/>
          <a:lstStyle/>
          <a:p>
            <a:pPr indent="0" marL="0">
              <a:lnSpc>
                <a:spcPct val="140000"/>
              </a:lnSpc>
              <a:buNone/>
            </a:pPr>
            <a:r>
              <a:rPr lang="en-US" sz="1400" dirty="0">
                <a:solidFill>
                  <a:srgbClr val="1F2933"/>
                </a:solidFill>
                <a:latin typeface="Courier New" pitchFamily="34" charset="0"/>
                <a:ea typeface="Courier New" pitchFamily="34" charset="-122"/>
                <a:cs typeface="Courier New" pitchFamily="34" charset="-120"/>
              </a:rPr>
              <a:t>AI-XRay/</a:t>
            </a:r>
            <a:endParaRPr lang="en-US" sz="1400" dirty="0"/>
          </a:p>
          <a:p>
            <a:pPr indent="0" marL="0">
              <a:lnSpc>
                <a:spcPct val="140000"/>
              </a:lnSpc>
              <a:buNone/>
            </a:pPr>
            <a:r>
              <a:rPr lang="en-US" sz="1400" dirty="0">
                <a:solidFill>
                  <a:srgbClr val="1F2933"/>
                </a:solidFill>
                <a:latin typeface="Courier New" pitchFamily="34" charset="0"/>
                <a:ea typeface="Courier New" pitchFamily="34" charset="-122"/>
                <a:cs typeface="Courier New" pitchFamily="34" charset="-120"/>
              </a:rPr>
              <a:t>├── data/          dataset</a:t>
            </a:r>
            <a:endParaRPr lang="en-US" sz="1400" dirty="0"/>
          </a:p>
          <a:p>
            <a:pPr indent="0" marL="0">
              <a:lnSpc>
                <a:spcPct val="140000"/>
              </a:lnSpc>
              <a:buNone/>
            </a:pPr>
            <a:r>
              <a:rPr lang="en-US" sz="1400" dirty="0">
                <a:solidFill>
                  <a:srgbClr val="1F2933"/>
                </a:solidFill>
                <a:latin typeface="Courier New" pitchFamily="34" charset="0"/>
                <a:ea typeface="Courier New" pitchFamily="34" charset="-122"/>
                <a:cs typeface="Courier New" pitchFamily="34" charset="-120"/>
              </a:rPr>
              <a:t>├── notebooks/     4 notebooks</a:t>
            </a:r>
            <a:endParaRPr lang="en-US" sz="1400" dirty="0"/>
          </a:p>
          <a:p>
            <a:pPr indent="0" marL="0">
              <a:lnSpc>
                <a:spcPct val="140000"/>
              </a:lnSpc>
              <a:buNone/>
            </a:pPr>
            <a:r>
              <a:rPr lang="en-US" sz="1400" dirty="0">
                <a:solidFill>
                  <a:srgbClr val="1F2933"/>
                </a:solidFill>
                <a:latin typeface="Courier New" pitchFamily="34" charset="0"/>
                <a:ea typeface="Courier New" pitchFamily="34" charset="-122"/>
                <a:cs typeface="Courier New" pitchFamily="34" charset="-120"/>
              </a:rPr>
              <a:t>├── src/           6 módulos</a:t>
            </a:r>
            <a:endParaRPr lang="en-US" sz="1400" dirty="0"/>
          </a:p>
          <a:p>
            <a:pPr indent="0" marL="0">
              <a:lnSpc>
                <a:spcPct val="140000"/>
              </a:lnSpc>
              <a:buNone/>
            </a:pPr>
            <a:r>
              <a:rPr lang="en-US" sz="1400" dirty="0">
                <a:solidFill>
                  <a:srgbClr val="1F2933"/>
                </a:solidFill>
                <a:latin typeface="Courier New" pitchFamily="34" charset="0"/>
                <a:ea typeface="Courier New" pitchFamily="34" charset="-122"/>
                <a:cs typeface="Courier New" pitchFamily="34" charset="-120"/>
              </a:rPr>
              <a:t>├── api/           FastAPI</a:t>
            </a:r>
            <a:endParaRPr lang="en-US" sz="1400" dirty="0"/>
          </a:p>
          <a:p>
            <a:pPr indent="0" marL="0">
              <a:lnSpc>
                <a:spcPct val="140000"/>
              </a:lnSpc>
              <a:buNone/>
            </a:pPr>
            <a:r>
              <a:rPr lang="en-US" sz="1400" dirty="0">
                <a:solidFill>
                  <a:srgbClr val="1F2933"/>
                </a:solidFill>
                <a:latin typeface="Courier New" pitchFamily="34" charset="0"/>
                <a:ea typeface="Courier New" pitchFamily="34" charset="-122"/>
                <a:cs typeface="Courier New" pitchFamily="34" charset="-120"/>
              </a:rPr>
              <a:t>├── tests/         pytest</a:t>
            </a:r>
            <a:endParaRPr lang="en-US" sz="1400" dirty="0"/>
          </a:p>
          <a:p>
            <a:pPr indent="0" marL="0">
              <a:lnSpc>
                <a:spcPct val="140000"/>
              </a:lnSpc>
              <a:buNone/>
            </a:pPr>
            <a:r>
              <a:rPr lang="en-US" sz="1400" dirty="0">
                <a:solidFill>
                  <a:srgbClr val="1F2933"/>
                </a:solidFill>
                <a:latin typeface="Courier New" pitchFamily="34" charset="0"/>
                <a:ea typeface="Courier New" pitchFamily="34" charset="-122"/>
                <a:cs typeface="Courier New" pitchFamily="34" charset="-120"/>
              </a:rPr>
              <a:t>└── requirements.txt</a:t>
            </a:r>
            <a:endParaRPr lang="en-US" sz="1400" dirty="0"/>
          </a:p>
        </p:txBody>
      </p:sp>
      <p:sp>
        <p:nvSpPr>
          <p:cNvPr id="6" name="Shape 4"/>
          <p:cNvSpPr/>
          <p:nvPr/>
        </p:nvSpPr>
        <p:spPr>
          <a:xfrm>
            <a:off x="5989320" y="1645920"/>
            <a:ext cx="5303520" cy="4114800"/>
          </a:xfrm>
          <a:prstGeom prst="roundRect">
            <a:avLst>
              <a:gd name="adj" fmla="val 1778"/>
            </a:avLst>
          </a:prstGeom>
          <a:solidFill>
            <a:srgbClr val="0B3D59"/>
          </a:solidFill>
          <a:ln/>
        </p:spPr>
      </p:sp>
      <p:sp>
        <p:nvSpPr>
          <p:cNvPr id="7" name="Text 5"/>
          <p:cNvSpPr/>
          <p:nvPr/>
        </p:nvSpPr>
        <p:spPr>
          <a:xfrm>
            <a:off x="6263640" y="1874520"/>
            <a:ext cx="4754880" cy="365760"/>
          </a:xfrm>
          <a:prstGeom prst="rect">
            <a:avLst/>
          </a:prstGeom>
          <a:noFill/>
          <a:ln/>
        </p:spPr>
        <p:txBody>
          <a:bodyPr wrap="square" rtlCol="0" anchor="ctr"/>
          <a:lstStyle/>
          <a:p>
            <a:pPr indent="0" marL="0">
              <a:buNone/>
            </a:pPr>
            <a:r>
              <a:rPr lang="en-US" sz="1400" b="1" dirty="0">
                <a:solidFill>
                  <a:srgbClr val="4FB6C8"/>
                </a:solidFill>
                <a:latin typeface="Calibri" pitchFamily="34" charset="0"/>
                <a:ea typeface="Calibri" pitchFamily="34" charset="-122"/>
                <a:cs typeface="Calibri" pitchFamily="34" charset="-120"/>
              </a:rPr>
              <a:t>Qué NO tiene este proyecto</a:t>
            </a:r>
            <a:endParaRPr lang="en-US" sz="1400" dirty="0"/>
          </a:p>
        </p:txBody>
      </p:sp>
      <p:sp>
        <p:nvSpPr>
          <p:cNvPr id="8" name="Text 6"/>
          <p:cNvSpPr/>
          <p:nvPr/>
        </p:nvSpPr>
        <p:spPr>
          <a:xfrm>
            <a:off x="6263640" y="2377440"/>
            <a:ext cx="4754880" cy="960120"/>
          </a:xfrm>
          <a:prstGeom prst="rect">
            <a:avLst/>
          </a:prstGeom>
          <a:noFill/>
          <a:ln/>
        </p:spPr>
        <p:txBody>
          <a:bodyPr wrap="square" rtlCol="0" anchor="t"/>
          <a:lstStyle/>
          <a:p>
            <a:pPr marL="342900" indent="-342900">
              <a:buSzPct val="100000"/>
              <a:buChar char="•"/>
            </a:pPr>
            <a:r>
              <a:rPr lang="en-US" sz="1350" dirty="0">
                <a:solidFill>
                  <a:srgbClr val="D7E4EA"/>
                </a:solidFill>
                <a:latin typeface="Calibri" pitchFamily="34" charset="0"/>
                <a:ea typeface="Calibri" pitchFamily="34" charset="-122"/>
                <a:cs typeface="Calibri" pitchFamily="34" charset="-120"/>
              </a:rPr>
              <a:t>Docker: la API corre directo con uvicorn, sin contenedores.</a:t>
            </a:r>
            <a:endParaRPr lang="en-US" sz="1350" dirty="0"/>
          </a:p>
        </p:txBody>
      </p:sp>
      <p:sp>
        <p:nvSpPr>
          <p:cNvPr id="9" name="Text 7"/>
          <p:cNvSpPr/>
          <p:nvPr/>
        </p:nvSpPr>
        <p:spPr>
          <a:xfrm>
            <a:off x="6263640" y="3429000"/>
            <a:ext cx="4754880" cy="960120"/>
          </a:xfrm>
          <a:prstGeom prst="rect">
            <a:avLst/>
          </a:prstGeom>
          <a:noFill/>
          <a:ln/>
        </p:spPr>
        <p:txBody>
          <a:bodyPr wrap="square" rtlCol="0" anchor="t"/>
          <a:lstStyle/>
          <a:p>
            <a:pPr marL="342900" indent="-342900">
              <a:buSzPct val="100000"/>
              <a:buChar char="•"/>
            </a:pPr>
            <a:r>
              <a:rPr lang="en-US" sz="1350" dirty="0">
                <a:solidFill>
                  <a:srgbClr val="D7E4EA"/>
                </a:solidFill>
                <a:latin typeface="Calibri" pitchFamily="34" charset="0"/>
                <a:ea typeface="Calibri" pitchFamily="34" charset="-122"/>
                <a:cs typeface="Calibri" pitchFamily="34" charset="-120"/>
              </a:rPr>
              <a:t>Carpetas vacías "por si acaso": models/ y mlruns/ se crean solos al entrenar, no se pre-crean.</a:t>
            </a:r>
            <a:endParaRPr lang="en-US" sz="1350" dirty="0"/>
          </a:p>
        </p:txBody>
      </p:sp>
      <p:sp>
        <p:nvSpPr>
          <p:cNvPr id="10" name="Text 8"/>
          <p:cNvSpPr/>
          <p:nvPr/>
        </p:nvSpPr>
        <p:spPr>
          <a:xfrm>
            <a:off x="6263640" y="4480560"/>
            <a:ext cx="4754880" cy="960120"/>
          </a:xfrm>
          <a:prstGeom prst="rect">
            <a:avLst/>
          </a:prstGeom>
          <a:noFill/>
          <a:ln/>
        </p:spPr>
        <p:txBody>
          <a:bodyPr wrap="square" rtlCol="0" anchor="t"/>
          <a:lstStyle/>
          <a:p>
            <a:pPr marL="342900" indent="-342900">
              <a:buSzPct val="100000"/>
              <a:buChar char="•"/>
            </a:pPr>
            <a:r>
              <a:rPr lang="en-US" sz="1350" dirty="0">
                <a:solidFill>
                  <a:srgbClr val="D7E4EA"/>
                </a:solidFill>
                <a:latin typeface="Calibri" pitchFamily="34" charset="0"/>
                <a:ea typeface="Calibri" pitchFamily="34" charset="-122"/>
                <a:cs typeface="Calibri" pitchFamily="34" charset="-120"/>
              </a:rPr>
              <a:t>Una subcarpeta por archivo en src/: son 6 módulos planos, cada uno con una responsabilidad clara.</a:t>
            </a:r>
            <a:endParaRPr lang="en-US" sz="1350" dirty="0"/>
          </a:p>
        </p:txBody>
      </p:sp>
      <p:sp>
        <p:nvSpPr>
          <p:cNvPr id="11" name="Text 9"/>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ESCALABILIDAD</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indent="0" marL="0">
              <a:buNone/>
            </a:pPr>
            <a:r>
              <a:rPr lang="en-US" sz="2700" b="1" dirty="0">
                <a:solidFill>
                  <a:srgbClr val="1F2933"/>
                </a:solidFill>
                <a:latin typeface="Cambria" pitchFamily="34" charset="0"/>
                <a:ea typeface="Cambria" pitchFamily="34" charset="-122"/>
                <a:cs typeface="Cambria" pitchFamily="34" charset="-120"/>
              </a:rPr>
              <a:t>Fase 1 (local) → Fase 2 (Databricks-ready)</a:t>
            </a:r>
            <a:endParaRPr lang="en-US" sz="2700" dirty="0"/>
          </a:p>
        </p:txBody>
      </p:sp>
      <p:sp>
        <p:nvSpPr>
          <p:cNvPr id="4" name="Shape 2"/>
          <p:cNvSpPr/>
          <p:nvPr/>
        </p:nvSpPr>
        <p:spPr>
          <a:xfrm>
            <a:off x="548640" y="1691640"/>
            <a:ext cx="5120640" cy="3931920"/>
          </a:xfrm>
          <a:prstGeom prst="roundRect">
            <a:avLst>
              <a:gd name="adj" fmla="val 1860"/>
            </a:avLst>
          </a:prstGeom>
          <a:solidFill>
            <a:srgbClr val="0B3D59"/>
          </a:solidFill>
          <a:ln/>
        </p:spPr>
      </p:sp>
      <p:sp>
        <p:nvSpPr>
          <p:cNvPr id="5" name="Text 3"/>
          <p:cNvSpPr/>
          <p:nvPr/>
        </p:nvSpPr>
        <p:spPr>
          <a:xfrm>
            <a:off x="822960" y="1920240"/>
            <a:ext cx="4572000" cy="365760"/>
          </a:xfrm>
          <a:prstGeom prst="rect">
            <a:avLst/>
          </a:prstGeom>
          <a:noFill/>
          <a:ln/>
        </p:spPr>
        <p:txBody>
          <a:bodyPr wrap="square" rtlCol="0" anchor="ctr"/>
          <a:lstStyle/>
          <a:p>
            <a:pPr indent="0" marL="0">
              <a:buNone/>
            </a:pPr>
            <a:r>
              <a:rPr lang="en-US" sz="1500" b="1" dirty="0">
                <a:solidFill>
                  <a:srgbClr val="4FB6C8"/>
                </a:solidFill>
                <a:latin typeface="Calibri" pitchFamily="34" charset="0"/>
                <a:ea typeface="Calibri" pitchFamily="34" charset="-122"/>
                <a:cs typeface="Calibri" pitchFamily="34" charset="-120"/>
              </a:rPr>
              <a:t>Fase 1 — Hoy</a:t>
            </a:r>
            <a:endParaRPr lang="en-US" sz="1500" dirty="0"/>
          </a:p>
        </p:txBody>
      </p:sp>
      <p:sp>
        <p:nvSpPr>
          <p:cNvPr id="6" name="Text 4"/>
          <p:cNvSpPr/>
          <p:nvPr/>
        </p:nvSpPr>
        <p:spPr>
          <a:xfrm>
            <a:off x="822960" y="2423160"/>
            <a:ext cx="4572000" cy="914400"/>
          </a:xfrm>
          <a:prstGeom prst="rect">
            <a:avLst/>
          </a:prstGeom>
          <a:noFill/>
          <a:ln/>
        </p:spPr>
        <p:txBody>
          <a:bodyPr wrap="square" rtlCol="0" anchor="t"/>
          <a:lstStyle/>
          <a:p>
            <a:pPr marL="342900" indent="-342900">
              <a:buSzPct val="100000"/>
              <a:buChar char="•"/>
            </a:pPr>
            <a:r>
              <a:rPr lang="en-US" sz="1350" dirty="0">
                <a:solidFill>
                  <a:srgbClr val="D7E4EA"/>
                </a:solidFill>
                <a:latin typeface="Calibri" pitchFamily="34" charset="0"/>
                <a:ea typeface="Calibri" pitchFamily="34" charset="-122"/>
                <a:cs typeface="Calibri" pitchFamily="34" charset="-120"/>
              </a:rPr>
              <a:t>Sistema completo y funcional en local</a:t>
            </a:r>
            <a:endParaRPr lang="en-US" sz="1350" dirty="0"/>
          </a:p>
        </p:txBody>
      </p:sp>
      <p:sp>
        <p:nvSpPr>
          <p:cNvPr id="7" name="Text 5"/>
          <p:cNvSpPr/>
          <p:nvPr/>
        </p:nvSpPr>
        <p:spPr>
          <a:xfrm>
            <a:off x="822960" y="3429000"/>
            <a:ext cx="4572000" cy="914400"/>
          </a:xfrm>
          <a:prstGeom prst="rect">
            <a:avLst/>
          </a:prstGeom>
          <a:noFill/>
          <a:ln/>
        </p:spPr>
        <p:txBody>
          <a:bodyPr wrap="square" rtlCol="0" anchor="t"/>
          <a:lstStyle/>
          <a:p>
            <a:pPr marL="342900" indent="-342900">
              <a:buSzPct val="100000"/>
              <a:buChar char="•"/>
            </a:pPr>
            <a:r>
              <a:rPr lang="en-US" sz="1350" dirty="0">
                <a:solidFill>
                  <a:srgbClr val="D7E4EA"/>
                </a:solidFill>
                <a:latin typeface="Calibri" pitchFamily="34" charset="0"/>
                <a:ea typeface="Calibri" pitchFamily="34" charset="-122"/>
                <a:cs typeface="Calibri" pitchFamily="34" charset="-120"/>
              </a:rPr>
              <a:t>Manifiesto ya escrito "a la manera de Databricks" (build_manifest_spark, simbólico)</a:t>
            </a:r>
            <a:endParaRPr lang="en-US" sz="1350" dirty="0"/>
          </a:p>
        </p:txBody>
      </p:sp>
      <p:sp>
        <p:nvSpPr>
          <p:cNvPr id="8" name="Text 6"/>
          <p:cNvSpPr/>
          <p:nvPr/>
        </p:nvSpPr>
        <p:spPr>
          <a:xfrm>
            <a:off x="822960" y="4434840"/>
            <a:ext cx="4572000" cy="914400"/>
          </a:xfrm>
          <a:prstGeom prst="rect">
            <a:avLst/>
          </a:prstGeom>
          <a:noFill/>
          <a:ln/>
        </p:spPr>
        <p:txBody>
          <a:bodyPr wrap="square" rtlCol="0" anchor="t"/>
          <a:lstStyle/>
          <a:p>
            <a:pPr marL="342900" indent="-342900">
              <a:buSzPct val="100000"/>
              <a:buChar char="•"/>
            </a:pPr>
            <a:r>
              <a:rPr lang="en-US" sz="1350" dirty="0">
                <a:solidFill>
                  <a:srgbClr val="D7E4EA"/>
                </a:solidFill>
                <a:latin typeface="Calibri" pitchFamily="34" charset="0"/>
                <a:ea typeface="Calibri" pitchFamily="34" charset="-122"/>
                <a:cs typeface="Calibri" pitchFamily="34" charset="-120"/>
              </a:rPr>
              <a:t>Sin forzar infraestructura que el volumen de datos no justifica</a:t>
            </a:r>
            <a:endParaRPr lang="en-US" sz="1350" dirty="0"/>
          </a:p>
        </p:txBody>
      </p:sp>
      <p:sp>
        <p:nvSpPr>
          <p:cNvPr id="9" name="Shape 7"/>
          <p:cNvSpPr/>
          <p:nvPr/>
        </p:nvSpPr>
        <p:spPr>
          <a:xfrm>
            <a:off x="5989320" y="1691640"/>
            <a:ext cx="5303520" cy="3931920"/>
          </a:xfrm>
          <a:prstGeom prst="roundRect">
            <a:avLst>
              <a:gd name="adj" fmla="val 1860"/>
            </a:avLst>
          </a:prstGeom>
          <a:solidFill>
            <a:srgbClr val="F4F7F8"/>
          </a:solidFill>
          <a:ln/>
        </p:spPr>
      </p:sp>
      <p:sp>
        <p:nvSpPr>
          <p:cNvPr id="10" name="Text 8"/>
          <p:cNvSpPr/>
          <p:nvPr/>
        </p:nvSpPr>
        <p:spPr>
          <a:xfrm>
            <a:off x="6263640" y="1920240"/>
            <a:ext cx="4754880" cy="365760"/>
          </a:xfrm>
          <a:prstGeom prst="rect">
            <a:avLst/>
          </a:prstGeom>
          <a:noFill/>
          <a:ln/>
        </p:spPr>
        <p:txBody>
          <a:bodyPr wrap="square" rtlCol="0" anchor="ctr"/>
          <a:lstStyle/>
          <a:p>
            <a:pPr indent="0" marL="0">
              <a:buNone/>
            </a:pPr>
            <a:r>
              <a:rPr lang="en-US" sz="1500" b="1" dirty="0">
                <a:solidFill>
                  <a:srgbClr val="0B3D59"/>
                </a:solidFill>
                <a:latin typeface="Calibri" pitchFamily="34" charset="0"/>
                <a:ea typeface="Calibri" pitchFamily="34" charset="-122"/>
                <a:cs typeface="Calibri" pitchFamily="34" charset="-120"/>
              </a:rPr>
              <a:t>Fase 2 — Documentada</a:t>
            </a:r>
            <a:endParaRPr lang="en-US" sz="1500" dirty="0"/>
          </a:p>
        </p:txBody>
      </p:sp>
      <p:sp>
        <p:nvSpPr>
          <p:cNvPr id="11" name="Text 9"/>
          <p:cNvSpPr/>
          <p:nvPr/>
        </p:nvSpPr>
        <p:spPr>
          <a:xfrm>
            <a:off x="6263640" y="2423160"/>
            <a:ext cx="4754880" cy="914400"/>
          </a:xfrm>
          <a:prstGeom prst="rect">
            <a:avLst/>
          </a:prstGeom>
          <a:noFill/>
          <a:ln/>
        </p:spPr>
        <p:txBody>
          <a:bodyPr wrap="square" rtlCol="0" anchor="t"/>
          <a:lstStyle/>
          <a:p>
            <a:pPr marL="342900" indent="-342900">
              <a:buSzPct val="100000"/>
              <a:buChar char="•"/>
            </a:pPr>
            <a:r>
              <a:rPr lang="en-US" sz="1350" dirty="0">
                <a:solidFill>
                  <a:srgbClr val="5B6B73"/>
                </a:solidFill>
                <a:latin typeface="Calibri" pitchFamily="34" charset="0"/>
                <a:ea typeface="Calibri" pitchFamily="34" charset="-122"/>
                <a:cs typeface="Calibri" pitchFamily="34" charset="-120"/>
              </a:rPr>
              <a:t>Manifiesto → tabla Delta en Unity Catalog</a:t>
            </a:r>
            <a:endParaRPr lang="en-US" sz="1350" dirty="0"/>
          </a:p>
        </p:txBody>
      </p:sp>
      <p:sp>
        <p:nvSpPr>
          <p:cNvPr id="12" name="Text 10"/>
          <p:cNvSpPr/>
          <p:nvPr/>
        </p:nvSpPr>
        <p:spPr>
          <a:xfrm>
            <a:off x="6263640" y="3429000"/>
            <a:ext cx="4754880" cy="914400"/>
          </a:xfrm>
          <a:prstGeom prst="rect">
            <a:avLst/>
          </a:prstGeom>
          <a:noFill/>
          <a:ln/>
        </p:spPr>
        <p:txBody>
          <a:bodyPr wrap="square" rtlCol="0" anchor="t"/>
          <a:lstStyle/>
          <a:p>
            <a:pPr marL="342900" indent="-342900">
              <a:buSzPct val="100000"/>
              <a:buChar char="•"/>
            </a:pPr>
            <a:r>
              <a:rPr lang="en-US" sz="1350" dirty="0">
                <a:solidFill>
                  <a:srgbClr val="5B6B73"/>
                </a:solidFill>
                <a:latin typeface="Calibri" pitchFamily="34" charset="0"/>
                <a:ea typeface="Calibri" pitchFamily="34" charset="-122"/>
                <a:cs typeface="Calibri" pitchFamily="34" charset="-120"/>
              </a:rPr>
              <a:t>Tracking gestionado del Workspace de Databricks</a:t>
            </a:r>
            <a:endParaRPr lang="en-US" sz="1350" dirty="0"/>
          </a:p>
        </p:txBody>
      </p:sp>
      <p:sp>
        <p:nvSpPr>
          <p:cNvPr id="13" name="Text 11"/>
          <p:cNvSpPr/>
          <p:nvPr/>
        </p:nvSpPr>
        <p:spPr>
          <a:xfrm>
            <a:off x="6263640" y="4434840"/>
            <a:ext cx="4754880" cy="914400"/>
          </a:xfrm>
          <a:prstGeom prst="rect">
            <a:avLst/>
          </a:prstGeom>
          <a:noFill/>
          <a:ln/>
        </p:spPr>
        <p:txBody>
          <a:bodyPr wrap="square" rtlCol="0" anchor="t"/>
          <a:lstStyle/>
          <a:p>
            <a:pPr marL="342900" indent="-342900">
              <a:buSzPct val="100000"/>
              <a:buChar char="•"/>
            </a:pPr>
            <a:r>
              <a:rPr lang="en-US" sz="1350" dirty="0">
                <a:solidFill>
                  <a:srgbClr val="5B6B73"/>
                </a:solidFill>
                <a:latin typeface="Calibri" pitchFamily="34" charset="0"/>
                <a:ea typeface="Calibri" pitchFamily="34" charset="-122"/>
                <a:cs typeface="Calibri" pitchFamily="34" charset="-120"/>
              </a:rPr>
              <a:t>Modelo servido desde el Model Registry (ya soportado por model_service.py)</a:t>
            </a:r>
            <a:endParaRPr lang="en-US" sz="1350" dirty="0"/>
          </a:p>
        </p:txBody>
      </p:sp>
      <p:sp>
        <p:nvSpPr>
          <p:cNvPr id="14" name="Text 12"/>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3D59"/>
        </a:solidFill>
      </p:bgPr>
    </p:bg>
    <p:spTree>
      <p:nvGrpSpPr>
        <p:cNvPr id="1" name=""/>
        <p:cNvGrpSpPr/>
        <p:nvPr/>
      </p:nvGrpSpPr>
      <p:grpSpPr>
        <a:xfrm>
          <a:off x="0" y="0"/>
          <a:ext cx="0" cy="0"/>
          <a:chOff x="0" y="0"/>
          <a:chExt cx="0" cy="0"/>
        </a:xfrm>
      </p:grpSpPr>
      <p:sp>
        <p:nvSpPr>
          <p:cNvPr id="2" name="Shape 0"/>
          <p:cNvSpPr/>
          <p:nvPr/>
        </p:nvSpPr>
        <p:spPr>
          <a:xfrm>
            <a:off x="-2286000" y="3840480"/>
            <a:ext cx="5486400" cy="5486400"/>
          </a:xfrm>
          <a:prstGeom prst="ellipse">
            <a:avLst/>
          </a:prstGeom>
          <a:solidFill>
            <a:srgbClr val="082C40"/>
          </a:solidFill>
          <a:ln/>
        </p:spPr>
      </p:sp>
      <p:sp>
        <p:nvSpPr>
          <p:cNvPr id="3" name="Text 1"/>
          <p:cNvSpPr/>
          <p:nvPr/>
        </p:nvSpPr>
        <p:spPr>
          <a:xfrm>
            <a:off x="640080" y="2331720"/>
            <a:ext cx="3657600" cy="365760"/>
          </a:xfrm>
          <a:prstGeom prst="rect">
            <a:avLst/>
          </a:prstGeom>
          <a:noFill/>
          <a:ln/>
        </p:spPr>
        <p:txBody>
          <a:bodyPr wrap="square" rtlCol="0" anchor="ctr"/>
          <a:lstStyle/>
          <a:p>
            <a:pPr indent="0" marL="0">
              <a:buNone/>
            </a:pPr>
            <a:r>
              <a:rPr lang="en-US" sz="1300" b="1" spc="200" kern="0" dirty="0">
                <a:solidFill>
                  <a:srgbClr val="4FB6C8"/>
                </a:solidFill>
                <a:latin typeface="Calibri" pitchFamily="34" charset="0"/>
                <a:ea typeface="Calibri" pitchFamily="34" charset="-122"/>
                <a:cs typeface="Calibri" pitchFamily="34" charset="-120"/>
              </a:rPr>
              <a:t>BLOQUE 3 · TRABAJO INDEPENDIENTE</a:t>
            </a:r>
            <a:endParaRPr lang="en-US" sz="1300" dirty="0"/>
          </a:p>
        </p:txBody>
      </p:sp>
      <p:sp>
        <p:nvSpPr>
          <p:cNvPr id="4" name="Text 2"/>
          <p:cNvSpPr/>
          <p:nvPr/>
        </p:nvSpPr>
        <p:spPr>
          <a:xfrm>
            <a:off x="594360" y="2743200"/>
            <a:ext cx="10058400" cy="128016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Tu Proyecto Final Independiente</a:t>
            </a:r>
            <a:endParaRPr lang="en-US" sz="3800" dirty="0"/>
          </a:p>
        </p:txBody>
      </p:sp>
      <p:sp>
        <p:nvSpPr>
          <p:cNvPr id="5" name="Text 3"/>
          <p:cNvSpPr/>
          <p:nvPr/>
        </p:nvSpPr>
        <p:spPr>
          <a:xfrm>
            <a:off x="621792" y="3794760"/>
            <a:ext cx="9144000" cy="640080"/>
          </a:xfrm>
          <a:prstGeom prst="rect">
            <a:avLst/>
          </a:prstGeom>
          <a:noFill/>
          <a:ln/>
        </p:spPr>
        <p:txBody>
          <a:bodyPr wrap="square" rtlCol="0" anchor="ctr"/>
          <a:lstStyle/>
          <a:p>
            <a:pPr indent="0" marL="0">
              <a:buNone/>
            </a:pPr>
            <a:r>
              <a:rPr lang="en-US" sz="1600" dirty="0">
                <a:solidFill>
                  <a:srgbClr val="C9DAE2"/>
                </a:solidFill>
                <a:latin typeface="Calibri" pitchFamily="34" charset="0"/>
                <a:ea typeface="Calibri" pitchFamily="34" charset="-122"/>
                <a:cs typeface="Calibri" pitchFamily="34" charset="-120"/>
              </a:rPr>
              <a:t>El docente dirigió el sistema. Ahora cada quien ejecuta y decide su propia instancia.</a:t>
            </a:r>
            <a:endParaRPr lang="en-US" sz="1600" dirty="0"/>
          </a:p>
        </p:txBody>
      </p:sp>
      <p:sp>
        <p:nvSpPr>
          <p:cNvPr id="6" name="Text 4"/>
          <p:cNvSpPr/>
          <p:nvPr/>
        </p:nvSpPr>
        <p:spPr>
          <a:xfrm>
            <a:off x="10607040" y="502920"/>
            <a:ext cx="1280160" cy="914400"/>
          </a:xfrm>
          <a:prstGeom prst="rect">
            <a:avLst/>
          </a:prstGeom>
          <a:noFill/>
          <a:ln/>
        </p:spPr>
        <p:txBody>
          <a:bodyPr wrap="square" rtlCol="0" anchor="ctr"/>
          <a:lstStyle/>
          <a:p>
            <a:pPr algn="r" indent="0" marL="0">
              <a:buNone/>
            </a:pPr>
            <a:r>
              <a:rPr lang="en-US" sz="3400" b="1" dirty="0">
                <a:solidFill>
                  <a:srgbClr val="1E4B62"/>
                </a:solidFill>
                <a:latin typeface="Cambria" pitchFamily="34" charset="0"/>
                <a:ea typeface="Cambria" pitchFamily="34" charset="-122"/>
                <a:cs typeface="Cambria" pitchFamily="34" charset="-120"/>
              </a:rPr>
              <a:t>03</a:t>
            </a:r>
            <a:endParaRPr lang="en-US" sz="3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ENTREGABLE DE HOY</a:t>
            </a:r>
            <a:endParaRPr lang="en-US" sz="1200" dirty="0"/>
          </a:p>
        </p:txBody>
      </p:sp>
      <p:sp>
        <p:nvSpPr>
          <p:cNvPr id="3" name="Text 1"/>
          <p:cNvSpPr/>
          <p:nvPr/>
        </p:nvSpPr>
        <p:spPr>
          <a:xfrm>
            <a:off x="548640" y="685800"/>
            <a:ext cx="9601200" cy="640080"/>
          </a:xfrm>
          <a:prstGeom prst="rect">
            <a:avLst/>
          </a:prstGeom>
          <a:noFill/>
          <a:ln/>
        </p:spPr>
        <p:txBody>
          <a:bodyPr wrap="square" rtlCol="0" anchor="ctr"/>
          <a:lstStyle/>
          <a:p>
            <a:pPr indent="0" marL="0">
              <a:buNone/>
            </a:pPr>
            <a:r>
              <a:rPr lang="en-US" sz="2800" b="1" dirty="0">
                <a:solidFill>
                  <a:srgbClr val="1F2933"/>
                </a:solidFill>
                <a:latin typeface="Cambria" pitchFamily="34" charset="0"/>
                <a:ea typeface="Cambria" pitchFamily="34" charset="-122"/>
                <a:cs typeface="Cambria" pitchFamily="34" charset="-120"/>
              </a:rPr>
              <a:t>Requisitos y autoevaluación</a:t>
            </a:r>
            <a:endParaRPr lang="en-US" sz="2800" dirty="0"/>
          </a:p>
        </p:txBody>
      </p:sp>
      <p:sp>
        <p:nvSpPr>
          <p:cNvPr id="4" name="Shape 2"/>
          <p:cNvSpPr/>
          <p:nvPr/>
        </p:nvSpPr>
        <p:spPr>
          <a:xfrm>
            <a:off x="548640" y="1600200"/>
            <a:ext cx="292608" cy="292608"/>
          </a:xfrm>
          <a:prstGeom prst="roundRect">
            <a:avLst>
              <a:gd name="adj" fmla="val 18750"/>
            </a:avLst>
          </a:prstGeom>
          <a:solidFill>
            <a:srgbClr val="1C7293"/>
          </a:solidFill>
          <a:ln/>
        </p:spPr>
      </p:sp>
      <p:sp>
        <p:nvSpPr>
          <p:cNvPr id="5" name="Text 3"/>
          <p:cNvSpPr/>
          <p:nvPr/>
        </p:nvSpPr>
        <p:spPr>
          <a:xfrm>
            <a:off x="1005840" y="1545336"/>
            <a:ext cx="9966960" cy="411480"/>
          </a:xfrm>
          <a:prstGeom prst="rect">
            <a:avLst/>
          </a:prstGeom>
          <a:noFill/>
          <a:ln/>
        </p:spPr>
        <p:txBody>
          <a:bodyPr wrap="square" rtlCol="0" anchor="ctr"/>
          <a:lstStyle/>
          <a:p>
            <a:pPr indent="0" marL="0">
              <a:buNone/>
            </a:pPr>
            <a:r>
              <a:rPr lang="en-US" sz="1500" dirty="0">
                <a:solidFill>
                  <a:srgbClr val="1F2933"/>
                </a:solidFill>
                <a:latin typeface="Calibri" pitchFamily="34" charset="0"/>
                <a:ea typeface="Calibri" pitchFamily="34" charset="-122"/>
                <a:cs typeface="Calibri" pitchFamily="34" charset="-120"/>
              </a:rPr>
              <a:t>Manifiesto propio con verificación de fuga de datos ejecutada</a:t>
            </a:r>
            <a:endParaRPr lang="en-US" sz="1500" dirty="0"/>
          </a:p>
        </p:txBody>
      </p:sp>
      <p:sp>
        <p:nvSpPr>
          <p:cNvPr id="6" name="Shape 4"/>
          <p:cNvSpPr/>
          <p:nvPr/>
        </p:nvSpPr>
        <p:spPr>
          <a:xfrm>
            <a:off x="548640" y="2167128"/>
            <a:ext cx="292608" cy="292608"/>
          </a:xfrm>
          <a:prstGeom prst="roundRect">
            <a:avLst>
              <a:gd name="adj" fmla="val 18750"/>
            </a:avLst>
          </a:prstGeom>
          <a:solidFill>
            <a:srgbClr val="1C7293"/>
          </a:solidFill>
          <a:ln/>
        </p:spPr>
      </p:sp>
      <p:sp>
        <p:nvSpPr>
          <p:cNvPr id="7" name="Text 5"/>
          <p:cNvSpPr/>
          <p:nvPr/>
        </p:nvSpPr>
        <p:spPr>
          <a:xfrm>
            <a:off x="1005840" y="2112264"/>
            <a:ext cx="9966960" cy="411480"/>
          </a:xfrm>
          <a:prstGeom prst="rect">
            <a:avLst/>
          </a:prstGeom>
          <a:noFill/>
          <a:ln/>
        </p:spPr>
        <p:txBody>
          <a:bodyPr wrap="square"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Al menos 2 variantes del modelo, comparadas con criterio explícito</a:t>
            </a:r>
            <a:endParaRPr lang="en-US" sz="1500" dirty="0"/>
          </a:p>
        </p:txBody>
      </p:sp>
      <p:sp>
        <p:nvSpPr>
          <p:cNvPr id="8" name="Shape 6"/>
          <p:cNvSpPr/>
          <p:nvPr/>
        </p:nvSpPr>
        <p:spPr>
          <a:xfrm>
            <a:off x="548640" y="2734056"/>
            <a:ext cx="292608" cy="292608"/>
          </a:xfrm>
          <a:prstGeom prst="roundRect">
            <a:avLst>
              <a:gd name="adj" fmla="val 18750"/>
            </a:avLst>
          </a:prstGeom>
          <a:solidFill>
            <a:srgbClr val="1C7293"/>
          </a:solidFill>
          <a:ln/>
        </p:spPr>
      </p:sp>
      <p:sp>
        <p:nvSpPr>
          <p:cNvPr id="9" name="Text 7"/>
          <p:cNvSpPr/>
          <p:nvPr/>
        </p:nvSpPr>
        <p:spPr>
          <a:xfrm>
            <a:off x="1005840" y="2679192"/>
            <a:ext cx="9966960" cy="411480"/>
          </a:xfrm>
          <a:prstGeom prst="rect">
            <a:avLst/>
          </a:prstGeom>
          <a:noFill/>
          <a:ln/>
        </p:spPr>
        <p:txBody>
          <a:bodyPr wrap="square" rtlCol="0" anchor="ctr"/>
          <a:lstStyle/>
          <a:p>
            <a:pPr indent="0" marL="0">
              <a:buNone/>
            </a:pPr>
            <a:r>
              <a:rPr lang="en-US" sz="1500" dirty="0">
                <a:solidFill>
                  <a:srgbClr val="1F2933"/>
                </a:solidFill>
                <a:latin typeface="Calibri" pitchFamily="34" charset="0"/>
                <a:ea typeface="Calibri" pitchFamily="34" charset="-122"/>
                <a:cs typeface="Calibri" pitchFamily="34" charset="-120"/>
              </a:rPr>
              <a:t>Mejor modelo registrado y promovido a Staging en MLflow</a:t>
            </a:r>
            <a:endParaRPr lang="en-US" sz="1500" dirty="0"/>
          </a:p>
        </p:txBody>
      </p:sp>
      <p:sp>
        <p:nvSpPr>
          <p:cNvPr id="10" name="Shape 8"/>
          <p:cNvSpPr/>
          <p:nvPr/>
        </p:nvSpPr>
        <p:spPr>
          <a:xfrm>
            <a:off x="548640" y="3300984"/>
            <a:ext cx="292608" cy="292608"/>
          </a:xfrm>
          <a:prstGeom prst="roundRect">
            <a:avLst>
              <a:gd name="adj" fmla="val 18750"/>
            </a:avLst>
          </a:prstGeom>
          <a:solidFill>
            <a:srgbClr val="1C7293"/>
          </a:solidFill>
          <a:ln/>
        </p:spPr>
      </p:sp>
      <p:sp>
        <p:nvSpPr>
          <p:cNvPr id="11" name="Text 9"/>
          <p:cNvSpPr/>
          <p:nvPr/>
        </p:nvSpPr>
        <p:spPr>
          <a:xfrm>
            <a:off x="1005840" y="3246120"/>
            <a:ext cx="9966960" cy="411480"/>
          </a:xfrm>
          <a:prstGeom prst="rect">
            <a:avLst/>
          </a:prstGeom>
          <a:noFill/>
          <a:ln/>
        </p:spPr>
        <p:txBody>
          <a:bodyPr wrap="square"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API funcionando (/health y /predict responden correctamente)</a:t>
            </a:r>
            <a:endParaRPr lang="en-US" sz="1500" dirty="0"/>
          </a:p>
        </p:txBody>
      </p:sp>
      <p:sp>
        <p:nvSpPr>
          <p:cNvPr id="12" name="Shape 10"/>
          <p:cNvSpPr/>
          <p:nvPr/>
        </p:nvSpPr>
        <p:spPr>
          <a:xfrm>
            <a:off x="548640" y="3867912"/>
            <a:ext cx="292608" cy="292608"/>
          </a:xfrm>
          <a:prstGeom prst="roundRect">
            <a:avLst>
              <a:gd name="adj" fmla="val 18750"/>
            </a:avLst>
          </a:prstGeom>
          <a:solidFill>
            <a:srgbClr val="1C7293"/>
          </a:solidFill>
          <a:ln/>
        </p:spPr>
      </p:sp>
      <p:sp>
        <p:nvSpPr>
          <p:cNvPr id="13" name="Text 11"/>
          <p:cNvSpPr/>
          <p:nvPr/>
        </p:nvSpPr>
        <p:spPr>
          <a:xfrm>
            <a:off x="1005840" y="3813048"/>
            <a:ext cx="9966960" cy="411480"/>
          </a:xfrm>
          <a:prstGeom prst="rect">
            <a:avLst/>
          </a:prstGeom>
          <a:noFill/>
          <a:ln/>
        </p:spPr>
        <p:txBody>
          <a:bodyPr wrap="square" rtlCol="0" anchor="ctr"/>
          <a:lstStyle/>
          <a:p>
            <a:pPr indent="0" marL="0">
              <a:buNone/>
            </a:pPr>
            <a:r>
              <a:rPr lang="en-US" sz="1500" dirty="0">
                <a:solidFill>
                  <a:srgbClr val="1F2933"/>
                </a:solidFill>
                <a:latin typeface="Calibri" pitchFamily="34" charset="0"/>
                <a:ea typeface="Calibri" pitchFamily="34" charset="-122"/>
                <a:cs typeface="Calibri" pitchFamily="34" charset="-120"/>
              </a:rPr>
              <a:t>Executive Summary (.docx), máximo 2-3 páginas</a:t>
            </a:r>
            <a:endParaRPr lang="en-US" sz="1500" dirty="0"/>
          </a:p>
        </p:txBody>
      </p:sp>
      <p:sp>
        <p:nvSpPr>
          <p:cNvPr id="14" name="Text 12"/>
          <p:cNvSpPr/>
          <p:nvPr/>
        </p:nvSpPr>
        <p:spPr>
          <a:xfrm>
            <a:off x="548640" y="4572000"/>
            <a:ext cx="7315200" cy="365760"/>
          </a:xfrm>
          <a:prstGeom prst="rect">
            <a:avLst/>
          </a:prstGeom>
          <a:noFill/>
          <a:ln/>
        </p:spPr>
        <p:txBody>
          <a:bodyPr wrap="square" rtlCol="0" anchor="ctr"/>
          <a:lstStyle/>
          <a:p>
            <a:pPr indent="0" marL="0">
              <a:buNone/>
            </a:pPr>
            <a:r>
              <a:rPr lang="en-US" sz="1300" b="1" dirty="0">
                <a:solidFill>
                  <a:srgbClr val="5B6B73"/>
                </a:solidFill>
                <a:latin typeface="Calibri" pitchFamily="34" charset="0"/>
                <a:ea typeface="Calibri" pitchFamily="34" charset="-122"/>
                <a:cs typeface="Calibri" pitchFamily="34" charset="-120"/>
              </a:rPr>
              <a:t>Ejemplo de la rúbrica (nivel “Sobresaliente”)</a:t>
            </a:r>
            <a:endParaRPr lang="en-US" sz="1300" dirty="0"/>
          </a:p>
        </p:txBody>
      </p:sp>
      <p:sp>
        <p:nvSpPr>
          <p:cNvPr id="15" name="Shape 13"/>
          <p:cNvSpPr/>
          <p:nvPr/>
        </p:nvSpPr>
        <p:spPr>
          <a:xfrm>
            <a:off x="548640" y="4937760"/>
            <a:ext cx="10424160" cy="1188720"/>
          </a:xfrm>
          <a:prstGeom prst="roundRect">
            <a:avLst>
              <a:gd name="adj" fmla="val 6154"/>
            </a:avLst>
          </a:prstGeom>
          <a:solidFill>
            <a:srgbClr val="F4F7F8"/>
          </a:solidFill>
          <a:ln/>
        </p:spPr>
      </p:sp>
      <p:sp>
        <p:nvSpPr>
          <p:cNvPr id="16" name="Text 14"/>
          <p:cNvSpPr/>
          <p:nvPr/>
        </p:nvSpPr>
        <p:spPr>
          <a:xfrm>
            <a:off x="822960" y="5074920"/>
            <a:ext cx="9875520" cy="914400"/>
          </a:xfrm>
          <a:prstGeom prst="rect">
            <a:avLst/>
          </a:prstGeom>
          <a:noFill/>
          <a:ln/>
        </p:spPr>
        <p:txBody>
          <a:bodyPr wrap="square" rtlCol="0" anchor="ctr"/>
          <a:lstStyle/>
          <a:p>
            <a:pPr indent="0" marL="0">
              <a:buNone/>
            </a:pPr>
            <a:r>
              <a:rPr lang="en-US" sz="1400" i="1" dirty="0">
                <a:solidFill>
                  <a:srgbClr val="1F2933"/>
                </a:solidFill>
                <a:latin typeface="Calibri" pitchFamily="34" charset="0"/>
                <a:ea typeface="Calibri" pitchFamily="34" charset="-122"/>
                <a:cs typeface="Calibri" pitchFamily="34" charset="-120"/>
              </a:rPr>
              <a:t>“Variantes justificadas con criterio explícito, no solo valores distintos al azar; Executive Summary cuantifica el impacto e incluye limitaciones y el aviso médico.”</a:t>
            </a:r>
            <a:endParaRPr lang="en-US" sz="1400" dirty="0"/>
          </a:p>
        </p:txBody>
      </p:sp>
      <p:sp>
        <p:nvSpPr>
          <p:cNvPr id="17" name="Text 15"/>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EL DOCUMENTO FINAL</a:t>
            </a:r>
            <a:endParaRPr lang="en-US" sz="1200" dirty="0"/>
          </a:p>
        </p:txBody>
      </p:sp>
      <p:sp>
        <p:nvSpPr>
          <p:cNvPr id="3" name="Text 1"/>
          <p:cNvSpPr/>
          <p:nvPr/>
        </p:nvSpPr>
        <p:spPr>
          <a:xfrm>
            <a:off x="548640" y="685800"/>
            <a:ext cx="10058400" cy="640080"/>
          </a:xfrm>
          <a:prstGeom prst="rect">
            <a:avLst/>
          </a:prstGeom>
          <a:noFill/>
          <a:ln/>
        </p:spPr>
        <p:txBody>
          <a:bodyPr wrap="square" rtlCol="0" anchor="ctr"/>
          <a:lstStyle/>
          <a:p>
            <a:pPr indent="0" marL="0">
              <a:buNone/>
            </a:pPr>
            <a:r>
              <a:rPr lang="en-US" sz="2800" b="1" dirty="0">
                <a:solidFill>
                  <a:srgbClr val="1F2933"/>
                </a:solidFill>
                <a:latin typeface="Cambria" pitchFamily="34" charset="0"/>
                <a:ea typeface="Cambria" pitchFamily="34" charset="-122"/>
                <a:cs typeface="Cambria" pitchFamily="34" charset="-120"/>
              </a:rPr>
              <a:t>Executive Summary — 10 secciones</a:t>
            </a:r>
            <a:endParaRPr lang="en-US" sz="2800" dirty="0"/>
          </a:p>
        </p:txBody>
      </p:sp>
      <p:sp>
        <p:nvSpPr>
          <p:cNvPr id="4" name="Shape 2"/>
          <p:cNvSpPr/>
          <p:nvPr/>
        </p:nvSpPr>
        <p:spPr>
          <a:xfrm>
            <a:off x="548640" y="1600200"/>
            <a:ext cx="2011680" cy="914400"/>
          </a:xfrm>
          <a:prstGeom prst="roundRect">
            <a:avLst>
              <a:gd name="adj" fmla="val 7000"/>
            </a:avLst>
          </a:prstGeom>
          <a:solidFill>
            <a:srgbClr val="F4F7F8"/>
          </a:solidFill>
          <a:ln/>
        </p:spPr>
      </p:sp>
      <p:sp>
        <p:nvSpPr>
          <p:cNvPr id="5" name="Text 3"/>
          <p:cNvSpPr/>
          <p:nvPr/>
        </p:nvSpPr>
        <p:spPr>
          <a:xfrm>
            <a:off x="658368" y="1673352"/>
            <a:ext cx="548640" cy="32004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658368" y="1965960"/>
            <a:ext cx="1792224" cy="50292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Problema</a:t>
            </a:r>
            <a:endParaRPr lang="en-US" sz="1250" dirty="0"/>
          </a:p>
        </p:txBody>
      </p:sp>
      <p:sp>
        <p:nvSpPr>
          <p:cNvPr id="7" name="Shape 5"/>
          <p:cNvSpPr/>
          <p:nvPr/>
        </p:nvSpPr>
        <p:spPr>
          <a:xfrm>
            <a:off x="2697480" y="1600200"/>
            <a:ext cx="2011680" cy="914400"/>
          </a:xfrm>
          <a:prstGeom prst="roundRect">
            <a:avLst>
              <a:gd name="adj" fmla="val 7000"/>
            </a:avLst>
          </a:prstGeom>
          <a:solidFill>
            <a:srgbClr val="F4F7F8"/>
          </a:solidFill>
          <a:ln/>
        </p:spPr>
      </p:sp>
      <p:sp>
        <p:nvSpPr>
          <p:cNvPr id="8" name="Text 6"/>
          <p:cNvSpPr/>
          <p:nvPr/>
        </p:nvSpPr>
        <p:spPr>
          <a:xfrm>
            <a:off x="2807208" y="1673352"/>
            <a:ext cx="548640" cy="32004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2807208" y="1965960"/>
            <a:ext cx="1792224" cy="50292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Datos</a:t>
            </a:r>
            <a:endParaRPr lang="en-US" sz="1250" dirty="0"/>
          </a:p>
        </p:txBody>
      </p:sp>
      <p:sp>
        <p:nvSpPr>
          <p:cNvPr id="10" name="Shape 8"/>
          <p:cNvSpPr/>
          <p:nvPr/>
        </p:nvSpPr>
        <p:spPr>
          <a:xfrm>
            <a:off x="4846320" y="1600200"/>
            <a:ext cx="2011680" cy="914400"/>
          </a:xfrm>
          <a:prstGeom prst="roundRect">
            <a:avLst>
              <a:gd name="adj" fmla="val 7000"/>
            </a:avLst>
          </a:prstGeom>
          <a:solidFill>
            <a:srgbClr val="F4F7F8"/>
          </a:solidFill>
          <a:ln/>
        </p:spPr>
      </p:sp>
      <p:sp>
        <p:nvSpPr>
          <p:cNvPr id="11" name="Text 9"/>
          <p:cNvSpPr/>
          <p:nvPr/>
        </p:nvSpPr>
        <p:spPr>
          <a:xfrm>
            <a:off x="4956048" y="1673352"/>
            <a:ext cx="548640" cy="32004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4956048" y="1965960"/>
            <a:ext cx="1792224" cy="50292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Arquitectura</a:t>
            </a:r>
            <a:endParaRPr lang="en-US" sz="1250" dirty="0"/>
          </a:p>
        </p:txBody>
      </p:sp>
      <p:sp>
        <p:nvSpPr>
          <p:cNvPr id="13" name="Shape 11"/>
          <p:cNvSpPr/>
          <p:nvPr/>
        </p:nvSpPr>
        <p:spPr>
          <a:xfrm>
            <a:off x="6995160" y="1600200"/>
            <a:ext cx="2011680" cy="914400"/>
          </a:xfrm>
          <a:prstGeom prst="roundRect">
            <a:avLst>
              <a:gd name="adj" fmla="val 7000"/>
            </a:avLst>
          </a:prstGeom>
          <a:solidFill>
            <a:srgbClr val="F4F7F8"/>
          </a:solidFill>
          <a:ln/>
        </p:spPr>
      </p:sp>
      <p:sp>
        <p:nvSpPr>
          <p:cNvPr id="14" name="Text 12"/>
          <p:cNvSpPr/>
          <p:nvPr/>
        </p:nvSpPr>
        <p:spPr>
          <a:xfrm>
            <a:off x="7104888" y="1673352"/>
            <a:ext cx="548640" cy="32004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7104888" y="1965960"/>
            <a:ext cx="1792224" cy="50292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Modelo</a:t>
            </a:r>
            <a:endParaRPr lang="en-US" sz="1250" dirty="0"/>
          </a:p>
        </p:txBody>
      </p:sp>
      <p:sp>
        <p:nvSpPr>
          <p:cNvPr id="16" name="Shape 14"/>
          <p:cNvSpPr/>
          <p:nvPr/>
        </p:nvSpPr>
        <p:spPr>
          <a:xfrm>
            <a:off x="9144000" y="1600200"/>
            <a:ext cx="2011680" cy="914400"/>
          </a:xfrm>
          <a:prstGeom prst="roundRect">
            <a:avLst>
              <a:gd name="adj" fmla="val 7000"/>
            </a:avLst>
          </a:prstGeom>
          <a:solidFill>
            <a:srgbClr val="F4F7F8"/>
          </a:solidFill>
          <a:ln/>
        </p:spPr>
      </p:sp>
      <p:sp>
        <p:nvSpPr>
          <p:cNvPr id="17" name="Text 15"/>
          <p:cNvSpPr/>
          <p:nvPr/>
        </p:nvSpPr>
        <p:spPr>
          <a:xfrm>
            <a:off x="9253728" y="1673352"/>
            <a:ext cx="548640" cy="32004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9253728" y="1965960"/>
            <a:ext cx="1792224" cy="50292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Resultados</a:t>
            </a:r>
            <a:endParaRPr lang="en-US" sz="1250" dirty="0"/>
          </a:p>
        </p:txBody>
      </p:sp>
      <p:sp>
        <p:nvSpPr>
          <p:cNvPr id="19" name="Shape 17"/>
          <p:cNvSpPr/>
          <p:nvPr/>
        </p:nvSpPr>
        <p:spPr>
          <a:xfrm>
            <a:off x="548640" y="2697480"/>
            <a:ext cx="2011680" cy="914400"/>
          </a:xfrm>
          <a:prstGeom prst="roundRect">
            <a:avLst>
              <a:gd name="adj" fmla="val 7000"/>
            </a:avLst>
          </a:prstGeom>
          <a:solidFill>
            <a:srgbClr val="F4F7F8"/>
          </a:solidFill>
          <a:ln/>
        </p:spPr>
      </p:sp>
      <p:sp>
        <p:nvSpPr>
          <p:cNvPr id="20" name="Text 18"/>
          <p:cNvSpPr/>
          <p:nvPr/>
        </p:nvSpPr>
        <p:spPr>
          <a:xfrm>
            <a:off x="658368" y="2770632"/>
            <a:ext cx="548640" cy="32004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658368" y="3063240"/>
            <a:ext cx="1792224" cy="50292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Experimentos</a:t>
            </a:r>
            <a:endParaRPr lang="en-US" sz="1250" dirty="0"/>
          </a:p>
        </p:txBody>
      </p:sp>
      <p:sp>
        <p:nvSpPr>
          <p:cNvPr id="22" name="Shape 20"/>
          <p:cNvSpPr/>
          <p:nvPr/>
        </p:nvSpPr>
        <p:spPr>
          <a:xfrm>
            <a:off x="2697480" y="2697480"/>
            <a:ext cx="2011680" cy="914400"/>
          </a:xfrm>
          <a:prstGeom prst="roundRect">
            <a:avLst>
              <a:gd name="adj" fmla="val 7000"/>
            </a:avLst>
          </a:prstGeom>
          <a:solidFill>
            <a:srgbClr val="F4F7F8"/>
          </a:solidFill>
          <a:ln/>
        </p:spPr>
      </p:sp>
      <p:sp>
        <p:nvSpPr>
          <p:cNvPr id="23" name="Text 21"/>
          <p:cNvSpPr/>
          <p:nvPr/>
        </p:nvSpPr>
        <p:spPr>
          <a:xfrm>
            <a:off x="2807208" y="2770632"/>
            <a:ext cx="548640" cy="32004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7</a:t>
            </a:r>
            <a:endParaRPr lang="en-US" sz="1200" dirty="0"/>
          </a:p>
        </p:txBody>
      </p:sp>
      <p:sp>
        <p:nvSpPr>
          <p:cNvPr id="24" name="Text 22"/>
          <p:cNvSpPr/>
          <p:nvPr/>
        </p:nvSpPr>
        <p:spPr>
          <a:xfrm>
            <a:off x="2807208" y="3063240"/>
            <a:ext cx="1792224" cy="50292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Mejor modelo</a:t>
            </a:r>
            <a:endParaRPr lang="en-US" sz="1250" dirty="0"/>
          </a:p>
        </p:txBody>
      </p:sp>
      <p:sp>
        <p:nvSpPr>
          <p:cNvPr id="25" name="Shape 23"/>
          <p:cNvSpPr/>
          <p:nvPr/>
        </p:nvSpPr>
        <p:spPr>
          <a:xfrm>
            <a:off x="4846320" y="2697480"/>
            <a:ext cx="2011680" cy="914400"/>
          </a:xfrm>
          <a:prstGeom prst="roundRect">
            <a:avLst>
              <a:gd name="adj" fmla="val 7000"/>
            </a:avLst>
          </a:prstGeom>
          <a:solidFill>
            <a:srgbClr val="F4F7F8"/>
          </a:solidFill>
          <a:ln/>
        </p:spPr>
      </p:sp>
      <p:sp>
        <p:nvSpPr>
          <p:cNvPr id="26" name="Text 24"/>
          <p:cNvSpPr/>
          <p:nvPr/>
        </p:nvSpPr>
        <p:spPr>
          <a:xfrm>
            <a:off x="4956048" y="2770632"/>
            <a:ext cx="548640" cy="32004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8</a:t>
            </a:r>
            <a:endParaRPr lang="en-US" sz="1200" dirty="0"/>
          </a:p>
        </p:txBody>
      </p:sp>
      <p:sp>
        <p:nvSpPr>
          <p:cNvPr id="27" name="Text 25"/>
          <p:cNvSpPr/>
          <p:nvPr/>
        </p:nvSpPr>
        <p:spPr>
          <a:xfrm>
            <a:off x="4956048" y="3063240"/>
            <a:ext cx="1792224" cy="50292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Arq. de producción</a:t>
            </a:r>
            <a:endParaRPr lang="en-US" sz="1250" dirty="0"/>
          </a:p>
        </p:txBody>
      </p:sp>
      <p:sp>
        <p:nvSpPr>
          <p:cNvPr id="28" name="Shape 26"/>
          <p:cNvSpPr/>
          <p:nvPr/>
        </p:nvSpPr>
        <p:spPr>
          <a:xfrm>
            <a:off x="6995160" y="2697480"/>
            <a:ext cx="2011680" cy="914400"/>
          </a:xfrm>
          <a:prstGeom prst="roundRect">
            <a:avLst>
              <a:gd name="adj" fmla="val 7000"/>
            </a:avLst>
          </a:prstGeom>
          <a:solidFill>
            <a:srgbClr val="FBEAEA"/>
          </a:solidFill>
          <a:ln/>
        </p:spPr>
      </p:sp>
      <p:sp>
        <p:nvSpPr>
          <p:cNvPr id="29" name="Text 27"/>
          <p:cNvSpPr/>
          <p:nvPr/>
        </p:nvSpPr>
        <p:spPr>
          <a:xfrm>
            <a:off x="7104888" y="2770632"/>
            <a:ext cx="548640" cy="320040"/>
          </a:xfrm>
          <a:prstGeom prst="rect">
            <a:avLst/>
          </a:prstGeom>
          <a:noFill/>
          <a:ln/>
        </p:spPr>
        <p:txBody>
          <a:bodyPr wrap="square" rtlCol="0" anchor="ctr"/>
          <a:lstStyle/>
          <a:p>
            <a:pPr indent="0" marL="0">
              <a:buNone/>
            </a:pPr>
            <a:r>
              <a:rPr lang="en-US" sz="1200" b="1" dirty="0">
                <a:solidFill>
                  <a:srgbClr val="9B2D2D"/>
                </a:solidFill>
                <a:latin typeface="Calibri" pitchFamily="34" charset="0"/>
                <a:ea typeface="Calibri" pitchFamily="34" charset="-122"/>
                <a:cs typeface="Calibri" pitchFamily="34" charset="-120"/>
              </a:rPr>
              <a:t>9</a:t>
            </a:r>
            <a:endParaRPr lang="en-US" sz="1200" dirty="0"/>
          </a:p>
        </p:txBody>
      </p:sp>
      <p:sp>
        <p:nvSpPr>
          <p:cNvPr id="30" name="Text 28"/>
          <p:cNvSpPr/>
          <p:nvPr/>
        </p:nvSpPr>
        <p:spPr>
          <a:xfrm>
            <a:off x="7104888" y="3063240"/>
            <a:ext cx="1792224" cy="502920"/>
          </a:xfrm>
          <a:prstGeom prst="rect">
            <a:avLst/>
          </a:prstGeom>
          <a:noFill/>
          <a:ln/>
        </p:spPr>
        <p:txBody>
          <a:bodyPr wrap="square" rtlCol="0" anchor="t"/>
          <a:lstStyle/>
          <a:p>
            <a:pPr indent="0" marL="0">
              <a:buNone/>
            </a:pPr>
            <a:r>
              <a:rPr lang="en-US" sz="1250" b="1" dirty="0">
                <a:solidFill>
                  <a:srgbClr val="9B2D2D"/>
                </a:solidFill>
                <a:latin typeface="Calibri" pitchFamily="34" charset="0"/>
                <a:ea typeface="Calibri" pitchFamily="34" charset="-122"/>
                <a:cs typeface="Calibri" pitchFamily="34" charset="-120"/>
              </a:rPr>
              <a:t>Limitaciones</a:t>
            </a:r>
            <a:endParaRPr lang="en-US" sz="1250" dirty="0"/>
          </a:p>
        </p:txBody>
      </p:sp>
      <p:sp>
        <p:nvSpPr>
          <p:cNvPr id="31" name="Shape 29"/>
          <p:cNvSpPr/>
          <p:nvPr/>
        </p:nvSpPr>
        <p:spPr>
          <a:xfrm>
            <a:off x="9144000" y="2697480"/>
            <a:ext cx="2011680" cy="914400"/>
          </a:xfrm>
          <a:prstGeom prst="roundRect">
            <a:avLst>
              <a:gd name="adj" fmla="val 7000"/>
            </a:avLst>
          </a:prstGeom>
          <a:solidFill>
            <a:srgbClr val="F4F7F8"/>
          </a:solidFill>
          <a:ln/>
        </p:spPr>
      </p:sp>
      <p:sp>
        <p:nvSpPr>
          <p:cNvPr id="32" name="Text 30"/>
          <p:cNvSpPr/>
          <p:nvPr/>
        </p:nvSpPr>
        <p:spPr>
          <a:xfrm>
            <a:off x="9253728" y="2770632"/>
            <a:ext cx="548640" cy="32004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10</a:t>
            </a:r>
            <a:endParaRPr lang="en-US" sz="1200" dirty="0"/>
          </a:p>
        </p:txBody>
      </p:sp>
      <p:sp>
        <p:nvSpPr>
          <p:cNvPr id="33" name="Text 31"/>
          <p:cNvSpPr/>
          <p:nvPr/>
        </p:nvSpPr>
        <p:spPr>
          <a:xfrm>
            <a:off x="9253728" y="3063240"/>
            <a:ext cx="1792224" cy="502920"/>
          </a:xfrm>
          <a:prstGeom prst="rect">
            <a:avLst/>
          </a:prstGeom>
          <a:noFill/>
          <a:ln/>
        </p:spPr>
        <p:txBody>
          <a:bodyPr wrap="square" rtlCol="0" anchor="t"/>
          <a:lstStyle/>
          <a:p>
            <a:pPr indent="0" marL="0">
              <a:buNone/>
            </a:pPr>
            <a:r>
              <a:rPr lang="en-US" sz="1250" b="1" dirty="0">
                <a:solidFill>
                  <a:srgbClr val="1F2933"/>
                </a:solidFill>
                <a:latin typeface="Calibri" pitchFamily="34" charset="0"/>
                <a:ea typeface="Calibri" pitchFamily="34" charset="-122"/>
                <a:cs typeface="Calibri" pitchFamily="34" charset="-120"/>
              </a:rPr>
              <a:t>Impacto potencial</a:t>
            </a:r>
            <a:endParaRPr lang="en-US" sz="1250" dirty="0"/>
          </a:p>
        </p:txBody>
      </p:sp>
      <p:sp>
        <p:nvSpPr>
          <p:cNvPr id="34" name="Text 32"/>
          <p:cNvSpPr/>
          <p:nvPr/>
        </p:nvSpPr>
        <p:spPr>
          <a:xfrm>
            <a:off x="548640" y="3977640"/>
            <a:ext cx="10424160" cy="411480"/>
          </a:xfrm>
          <a:prstGeom prst="rect">
            <a:avLst/>
          </a:prstGeom>
          <a:noFill/>
          <a:ln/>
        </p:spPr>
        <p:txBody>
          <a:bodyPr wrap="square" rtlCol="0" anchor="ctr"/>
          <a:lstStyle/>
          <a:p>
            <a:pPr indent="0" marL="0">
              <a:buNone/>
            </a:pPr>
            <a:r>
              <a:rPr lang="en-US" sz="1300" i="1" dirty="0">
                <a:solidFill>
                  <a:srgbClr val="5B6B73"/>
                </a:solidFill>
                <a:latin typeface="Calibri" pitchFamily="34" charset="0"/>
                <a:ea typeface="Calibri" pitchFamily="34" charset="-122"/>
                <a:cs typeface="Calibri" pitchFamily="34" charset="-120"/>
              </a:rPr>
              <a:t>Las cifras de las secciones 5 y 6 salen directo de los runs registrados en MLflow — no se estiman de memoria.</a:t>
            </a:r>
            <a:endParaRPr lang="en-US" sz="1300" dirty="0"/>
          </a:p>
        </p:txBody>
      </p:sp>
      <p:sp>
        <p:nvSpPr>
          <p:cNvPr id="35" name="Shape 33"/>
          <p:cNvSpPr/>
          <p:nvPr/>
        </p:nvSpPr>
        <p:spPr>
          <a:xfrm>
            <a:off x="548640" y="4572000"/>
            <a:ext cx="10424160" cy="1463040"/>
          </a:xfrm>
          <a:prstGeom prst="roundRect">
            <a:avLst>
              <a:gd name="adj" fmla="val 5000"/>
            </a:avLst>
          </a:prstGeom>
          <a:solidFill>
            <a:srgbClr val="FBEAEA"/>
          </a:solidFill>
          <a:ln/>
        </p:spPr>
      </p:sp>
      <p:sp>
        <p:nvSpPr>
          <p:cNvPr id="36" name="Text 34"/>
          <p:cNvSpPr/>
          <p:nvPr/>
        </p:nvSpPr>
        <p:spPr>
          <a:xfrm>
            <a:off x="822960" y="4754880"/>
            <a:ext cx="9875520" cy="320040"/>
          </a:xfrm>
          <a:prstGeom prst="rect">
            <a:avLst/>
          </a:prstGeom>
          <a:noFill/>
          <a:ln/>
        </p:spPr>
        <p:txBody>
          <a:bodyPr wrap="square" rtlCol="0" anchor="ctr"/>
          <a:lstStyle/>
          <a:p>
            <a:pPr indent="0" marL="0">
              <a:buNone/>
            </a:pPr>
            <a:r>
              <a:rPr lang="en-US" sz="1300" b="1" dirty="0">
                <a:solidFill>
                  <a:srgbClr val="9B2D2D"/>
                </a:solidFill>
                <a:latin typeface="Calibri" pitchFamily="34" charset="0"/>
                <a:ea typeface="Calibri" pitchFamily="34" charset="-122"/>
                <a:cs typeface="Calibri" pitchFamily="34" charset="-120"/>
              </a:rPr>
              <a:t>Aviso obligatorio en toda entrega:</a:t>
            </a:r>
            <a:endParaRPr lang="en-US" sz="1300" dirty="0"/>
          </a:p>
        </p:txBody>
      </p:sp>
      <p:sp>
        <p:nvSpPr>
          <p:cNvPr id="37" name="Text 35"/>
          <p:cNvSpPr/>
          <p:nvPr/>
        </p:nvSpPr>
        <p:spPr>
          <a:xfrm>
            <a:off x="822960" y="5074920"/>
            <a:ext cx="9875520" cy="822960"/>
          </a:xfrm>
          <a:prstGeom prst="rect">
            <a:avLst/>
          </a:prstGeom>
          <a:noFill/>
          <a:ln/>
        </p:spPr>
        <p:txBody>
          <a:bodyPr wrap="square" rtlCol="0" anchor="t"/>
          <a:lstStyle/>
          <a:p>
            <a:pPr indent="0" marL="0">
              <a:buNone/>
            </a:pPr>
            <a:r>
              <a:rPr lang="en-US" sz="1400" i="1" dirty="0">
                <a:solidFill>
                  <a:srgbClr val="6B1F1F"/>
                </a:solidFill>
                <a:latin typeface="Calibri" pitchFamily="34" charset="0"/>
                <a:ea typeface="Calibri" pitchFamily="34" charset="-122"/>
                <a:cs typeface="Calibri" pitchFamily="34" charset="-120"/>
              </a:rPr>
              <a:t>“Este sistema es un proyecto académico de inteligencia artificial y no constituye un diagnóstico médico ni sustituye la evaluación de un profesional de la salud.”</a:t>
            </a:r>
            <a:endParaRPr lang="en-US" sz="1400" dirty="0"/>
          </a:p>
        </p:txBody>
      </p:sp>
      <p:sp>
        <p:nvSpPr>
          <p:cNvPr id="38" name="Text 36"/>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CIERRE</a:t>
            </a:r>
            <a:endParaRPr lang="en-US" sz="1200" dirty="0"/>
          </a:p>
        </p:txBody>
      </p:sp>
      <p:sp>
        <p:nvSpPr>
          <p:cNvPr id="3" name="Text 1"/>
          <p:cNvSpPr/>
          <p:nvPr/>
        </p:nvSpPr>
        <p:spPr>
          <a:xfrm>
            <a:off x="548640" y="685800"/>
            <a:ext cx="9144000" cy="640080"/>
          </a:xfrm>
          <a:prstGeom prst="rect">
            <a:avLst/>
          </a:prstGeom>
          <a:noFill/>
          <a:ln/>
        </p:spPr>
        <p:txBody>
          <a:bodyPr wrap="square"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Lo que construimos hoy</a:t>
            </a:r>
            <a:endParaRPr lang="en-US" sz="3000" dirty="0"/>
          </a:p>
        </p:txBody>
      </p:sp>
      <p:sp>
        <p:nvSpPr>
          <p:cNvPr id="4" name="Text 2"/>
          <p:cNvSpPr/>
          <p:nvPr/>
        </p:nvSpPr>
        <p:spPr>
          <a:xfrm>
            <a:off x="548640" y="1737360"/>
            <a:ext cx="365760" cy="457200"/>
          </a:xfrm>
          <a:prstGeom prst="rect">
            <a:avLst/>
          </a:prstGeom>
          <a:noFill/>
          <a:ln/>
        </p:spPr>
        <p:txBody>
          <a:bodyPr wrap="square" rtlCol="0" anchor="ctr"/>
          <a:lstStyle/>
          <a:p>
            <a:pPr indent="0" marL="0">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5" name="Text 3"/>
          <p:cNvSpPr/>
          <p:nvPr/>
        </p:nvSpPr>
        <p:spPr>
          <a:xfrm>
            <a:off x="1005840" y="1737360"/>
            <a:ext cx="9875520" cy="457200"/>
          </a:xfrm>
          <a:prstGeom prst="rect">
            <a:avLst/>
          </a:prstGeom>
          <a:noFill/>
          <a:ln/>
        </p:spPr>
        <p:txBody>
          <a:bodyPr wrap="square" rtlCol="0" anchor="ctr"/>
          <a:lstStyle/>
          <a:p>
            <a:pPr indent="0" marL="0">
              <a:buNone/>
            </a:pPr>
            <a:r>
              <a:rPr lang="en-US" sz="1600" dirty="0">
                <a:solidFill>
                  <a:srgbClr val="1F2933"/>
                </a:solidFill>
                <a:latin typeface="Calibri" pitchFamily="34" charset="0"/>
                <a:ea typeface="Calibri" pitchFamily="34" charset="-122"/>
                <a:cs typeface="Calibri" pitchFamily="34" charset="-120"/>
              </a:rPr>
              <a:t>Un manifiesto de datos que detecta y corrige fuga de información real</a:t>
            </a:r>
            <a:endParaRPr lang="en-US" sz="1600" dirty="0"/>
          </a:p>
        </p:txBody>
      </p:sp>
      <p:sp>
        <p:nvSpPr>
          <p:cNvPr id="6" name="Text 4"/>
          <p:cNvSpPr/>
          <p:nvPr/>
        </p:nvSpPr>
        <p:spPr>
          <a:xfrm>
            <a:off x="548640" y="2395728"/>
            <a:ext cx="365760" cy="457200"/>
          </a:xfrm>
          <a:prstGeom prst="rect">
            <a:avLst/>
          </a:prstGeom>
          <a:noFill/>
          <a:ln/>
        </p:spPr>
        <p:txBody>
          <a:bodyPr wrap="square" rtlCol="0" anchor="ctr"/>
          <a:lstStyle/>
          <a:p>
            <a:pPr indent="0" marL="0">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95728"/>
            <a:ext cx="9875520" cy="457200"/>
          </a:xfrm>
          <a:prstGeom prst="rect">
            <a:avLst/>
          </a:prstGeom>
          <a:noFill/>
          <a:ln/>
        </p:spPr>
        <p:txBody>
          <a:bodyPr wrap="square" rtlCol="0" anchor="ctr"/>
          <a:lstStyle/>
          <a:p>
            <a:pPr indent="0" marL="0">
              <a:buNone/>
            </a:pPr>
            <a:r>
              <a:rPr lang="en-US" sz="1600" dirty="0">
                <a:solidFill>
                  <a:srgbClr val="1F2933"/>
                </a:solidFill>
                <a:latin typeface="Calibri" pitchFamily="34" charset="0"/>
                <a:ea typeface="Calibri" pitchFamily="34" charset="-122"/>
                <a:cs typeface="Calibri" pitchFamily="34" charset="-120"/>
              </a:rPr>
              <a:t>Un modelo CNN + Transfer Learning entrenado y comparado en 2 fases</a:t>
            </a:r>
            <a:endParaRPr lang="en-US" sz="1600" dirty="0"/>
          </a:p>
        </p:txBody>
      </p:sp>
      <p:sp>
        <p:nvSpPr>
          <p:cNvPr id="8" name="Text 6"/>
          <p:cNvSpPr/>
          <p:nvPr/>
        </p:nvSpPr>
        <p:spPr>
          <a:xfrm>
            <a:off x="548640" y="3054096"/>
            <a:ext cx="365760" cy="457200"/>
          </a:xfrm>
          <a:prstGeom prst="rect">
            <a:avLst/>
          </a:prstGeom>
          <a:noFill/>
          <a:ln/>
        </p:spPr>
        <p:txBody>
          <a:bodyPr wrap="square" rtlCol="0" anchor="ctr"/>
          <a:lstStyle/>
          <a:p>
            <a:pPr indent="0" marL="0">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005840" y="3054096"/>
            <a:ext cx="9875520" cy="457200"/>
          </a:xfrm>
          <a:prstGeom prst="rect">
            <a:avLst/>
          </a:prstGeom>
          <a:noFill/>
          <a:ln/>
        </p:spPr>
        <p:txBody>
          <a:bodyPr wrap="square" rtlCol="0" anchor="ctr"/>
          <a:lstStyle/>
          <a:p>
            <a:pPr indent="0" marL="0">
              <a:buNone/>
            </a:pPr>
            <a:r>
              <a:rPr lang="en-US" sz="1600" dirty="0">
                <a:solidFill>
                  <a:srgbClr val="1F2933"/>
                </a:solidFill>
                <a:latin typeface="Calibri" pitchFamily="34" charset="0"/>
                <a:ea typeface="Calibri" pitchFamily="34" charset="-122"/>
                <a:cs typeface="Calibri" pitchFamily="34" charset="-120"/>
              </a:rPr>
              <a:t>Un experimento 100% trazable en MLflow, con el mejor modelo registrado</a:t>
            </a:r>
            <a:endParaRPr lang="en-US" sz="1600" dirty="0"/>
          </a:p>
        </p:txBody>
      </p:sp>
      <p:sp>
        <p:nvSpPr>
          <p:cNvPr id="10" name="Text 8"/>
          <p:cNvSpPr/>
          <p:nvPr/>
        </p:nvSpPr>
        <p:spPr>
          <a:xfrm>
            <a:off x="548640" y="3712464"/>
            <a:ext cx="365760" cy="457200"/>
          </a:xfrm>
          <a:prstGeom prst="rect">
            <a:avLst/>
          </a:prstGeom>
          <a:noFill/>
          <a:ln/>
        </p:spPr>
        <p:txBody>
          <a:bodyPr wrap="square" rtlCol="0" anchor="ctr"/>
          <a:lstStyle/>
          <a:p>
            <a:pPr indent="0" marL="0">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005840" y="3712464"/>
            <a:ext cx="9875520" cy="457200"/>
          </a:xfrm>
          <a:prstGeom prst="rect">
            <a:avLst/>
          </a:prstGeom>
          <a:noFill/>
          <a:ln/>
        </p:spPr>
        <p:txBody>
          <a:bodyPr wrap="square" rtlCol="0" anchor="ctr"/>
          <a:lstStyle/>
          <a:p>
            <a:pPr indent="0" marL="0">
              <a:buNone/>
            </a:pPr>
            <a:r>
              <a:rPr lang="en-US" sz="1600" dirty="0">
                <a:solidFill>
                  <a:srgbClr val="1F2933"/>
                </a:solidFill>
                <a:latin typeface="Calibri" pitchFamily="34" charset="0"/>
                <a:ea typeface="Calibri" pitchFamily="34" charset="-122"/>
                <a:cs typeface="Calibri" pitchFamily="34" charset="-120"/>
              </a:rPr>
              <a:t>Una API de inferencia funcionando, sin necesidad de frontend</a:t>
            </a:r>
            <a:endParaRPr lang="en-US" sz="1600" dirty="0"/>
          </a:p>
        </p:txBody>
      </p:sp>
      <p:sp>
        <p:nvSpPr>
          <p:cNvPr id="12" name="Text 10"/>
          <p:cNvSpPr/>
          <p:nvPr/>
        </p:nvSpPr>
        <p:spPr>
          <a:xfrm>
            <a:off x="548640" y="4370832"/>
            <a:ext cx="365760" cy="457200"/>
          </a:xfrm>
          <a:prstGeom prst="rect">
            <a:avLst/>
          </a:prstGeom>
          <a:noFill/>
          <a:ln/>
        </p:spPr>
        <p:txBody>
          <a:bodyPr wrap="square" rtlCol="0" anchor="ctr"/>
          <a:lstStyle/>
          <a:p>
            <a:pPr indent="0" marL="0">
              <a:buNone/>
            </a:pPr>
            <a:r>
              <a:rPr lang="en-US" sz="1800" b="1" dirty="0">
                <a:solidFill>
                  <a:srgbClr val="1C7293"/>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1005840" y="4370832"/>
            <a:ext cx="9875520" cy="457200"/>
          </a:xfrm>
          <a:prstGeom prst="rect">
            <a:avLst/>
          </a:prstGeom>
          <a:noFill/>
          <a:ln/>
        </p:spPr>
        <p:txBody>
          <a:bodyPr wrap="square" rtlCol="0" anchor="ctr"/>
          <a:lstStyle/>
          <a:p>
            <a:pPr indent="0" marL="0">
              <a:buNone/>
            </a:pPr>
            <a:r>
              <a:rPr lang="en-US" sz="1600" dirty="0">
                <a:solidFill>
                  <a:srgbClr val="1F2933"/>
                </a:solidFill>
                <a:latin typeface="Calibri" pitchFamily="34" charset="0"/>
                <a:ea typeface="Calibri" pitchFamily="34" charset="-122"/>
                <a:cs typeface="Calibri" pitchFamily="34" charset="-120"/>
              </a:rPr>
              <a:t>Un Executive Summary que traduce todo esto en lenguaje de impacto</a:t>
            </a:r>
            <a:endParaRPr lang="en-US" sz="1600" dirty="0"/>
          </a:p>
        </p:txBody>
      </p:sp>
      <p:sp>
        <p:nvSpPr>
          <p:cNvPr id="14" name="Text 12"/>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AAB4BA"/>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3D59"/>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82C40"/>
          </a:solidFill>
          <a:ln/>
        </p:spPr>
      </p:sp>
      <p:sp>
        <p:nvSpPr>
          <p:cNvPr id="3" name="Text 1"/>
          <p:cNvSpPr/>
          <p:nvPr/>
        </p:nvSpPr>
        <p:spPr>
          <a:xfrm>
            <a:off x="594360" y="2103120"/>
            <a:ext cx="10058400" cy="9144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Gracias por tu atención</a:t>
            </a:r>
            <a:endParaRPr lang="en-US" sz="3800" dirty="0"/>
          </a:p>
        </p:txBody>
      </p:sp>
      <p:sp>
        <p:nvSpPr>
          <p:cNvPr id="4" name="Text 2"/>
          <p:cNvSpPr/>
          <p:nvPr/>
        </p:nvSpPr>
        <p:spPr>
          <a:xfrm>
            <a:off x="621792" y="2880360"/>
            <a:ext cx="9144000" cy="457200"/>
          </a:xfrm>
          <a:prstGeom prst="rect">
            <a:avLst/>
          </a:prstGeom>
          <a:noFill/>
          <a:ln/>
        </p:spPr>
        <p:txBody>
          <a:bodyPr wrap="square" rtlCol="0" anchor="ctr"/>
          <a:lstStyle/>
          <a:p>
            <a:pPr indent="0" marL="0">
              <a:buNone/>
            </a:pPr>
            <a:r>
              <a:rPr lang="en-US" sz="1700" dirty="0">
                <a:solidFill>
                  <a:srgbClr val="C9DAE2"/>
                </a:solidFill>
                <a:latin typeface="Calibri" pitchFamily="34" charset="0"/>
                <a:ea typeface="Calibri" pitchFamily="34" charset="-122"/>
                <a:cs typeface="Calibri" pitchFamily="34" charset="-120"/>
              </a:rPr>
              <a:t>Preguntas, dudas y próximos pasos</a:t>
            </a:r>
            <a:endParaRPr lang="en-US" sz="1700" dirty="0"/>
          </a:p>
        </p:txBody>
      </p:sp>
      <p:sp>
        <p:nvSpPr>
          <p:cNvPr id="5" name="Shape 3"/>
          <p:cNvSpPr/>
          <p:nvPr/>
        </p:nvSpPr>
        <p:spPr>
          <a:xfrm>
            <a:off x="594360" y="3749040"/>
            <a:ext cx="10607040" cy="1965960"/>
          </a:xfrm>
          <a:prstGeom prst="roundRect">
            <a:avLst>
              <a:gd name="adj" fmla="val 3721"/>
            </a:avLst>
          </a:prstGeom>
          <a:solidFill>
            <a:srgbClr val="082C40"/>
          </a:solidFill>
          <a:ln/>
        </p:spPr>
      </p:sp>
      <p:sp>
        <p:nvSpPr>
          <p:cNvPr id="6" name="Text 4"/>
          <p:cNvSpPr/>
          <p:nvPr/>
        </p:nvSpPr>
        <p:spPr>
          <a:xfrm>
            <a:off x="868680" y="3931920"/>
            <a:ext cx="10058400" cy="457200"/>
          </a:xfrm>
          <a:prstGeom prst="rect">
            <a:avLst/>
          </a:prstGeom>
          <a:noFill/>
          <a:ln/>
        </p:spPr>
        <p:txBody>
          <a:bodyPr wrap="square" rtlCol="0" anchor="ctr"/>
          <a:lstStyle/>
          <a:p>
            <a:pPr indent="0" marL="0">
              <a:buNone/>
            </a:pPr>
            <a:r>
              <a:rPr lang="en-US" sz="1500" b="1" dirty="0">
                <a:solidFill>
                  <a:srgbClr val="4FB6C8"/>
                </a:solidFill>
                <a:latin typeface="Calibri" pitchFamily="34" charset="0"/>
                <a:ea typeface="Calibri" pitchFamily="34" charset="-122"/>
                <a:cs typeface="Calibri" pitchFamily="34" charset="-120"/>
              </a:rPr>
              <a:t>Próxima unidad: Visión por Computador Aplicada y Despliegue en Producción</a:t>
            </a:r>
            <a:endParaRPr lang="en-US" sz="1500" dirty="0"/>
          </a:p>
        </p:txBody>
      </p:sp>
      <p:sp>
        <p:nvSpPr>
          <p:cNvPr id="7" name="Text 5"/>
          <p:cNvSpPr/>
          <p:nvPr/>
        </p:nvSpPr>
        <p:spPr>
          <a:xfrm>
            <a:off x="868680" y="4434840"/>
            <a:ext cx="10058400" cy="1097280"/>
          </a:xfrm>
          <a:prstGeom prst="rect">
            <a:avLst/>
          </a:prstGeom>
          <a:noFill/>
          <a:ln/>
        </p:spPr>
        <p:txBody>
          <a:bodyPr wrap="square" rtlCol="0" anchor="t"/>
          <a:lstStyle/>
          <a:p>
            <a:pPr indent="0" marL="0">
              <a:buNone/>
            </a:pPr>
            <a:r>
              <a:rPr lang="en-US" sz="1400" dirty="0">
                <a:solidFill>
                  <a:srgbClr val="D7E4EA"/>
                </a:solidFill>
                <a:latin typeface="Calibri" pitchFamily="34" charset="0"/>
                <a:ea typeface="Calibri" pitchFamily="34" charset="-122"/>
                <a:cs typeface="Calibri" pitchFamily="34" charset="-120"/>
              </a:rPr>
              <a:t>AI-XRay ya es, literalmente, un adelanto de ese tema. El Proyecto Final Independiente de hoy es un ensayo general del Reto Real que viene más adelante en el máster.</a:t>
            </a:r>
            <a:endParaRPr lang="en-US" sz="1400" dirty="0"/>
          </a:p>
        </p:txBody>
      </p:sp>
      <p:sp>
        <p:nvSpPr>
          <p:cNvPr id="8" name="Text 6"/>
          <p:cNvSpPr/>
          <p:nvPr/>
        </p:nvSpPr>
        <p:spPr>
          <a:xfrm>
            <a:off x="594360" y="6263640"/>
            <a:ext cx="7315200" cy="365760"/>
          </a:xfrm>
          <a:prstGeom prst="rect">
            <a:avLst/>
          </a:prstGeom>
          <a:noFill/>
          <a:ln/>
        </p:spPr>
        <p:txBody>
          <a:bodyPr wrap="square" rtlCol="0" anchor="ctr"/>
          <a:lstStyle/>
          <a:p>
            <a:pPr indent="0" marL="0">
              <a:buNone/>
            </a:pPr>
            <a:r>
              <a:rPr lang="en-US" sz="1200" dirty="0">
                <a:solidFill>
                  <a:srgbClr val="6E92A6"/>
                </a:solidFill>
                <a:latin typeface="Calibri" pitchFamily="34" charset="0"/>
                <a:ea typeface="Calibri" pitchFamily="34" charset="-122"/>
                <a:cs typeface="Calibri" pitchFamily="34" charset="-120"/>
              </a:rPr>
              <a:t>www.devseniorcode.com   ·   academy@devseniorcode.com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2026-08-16T23:54:02Z</dcterms:created>
  <dcterms:modified xsi:type="dcterms:W3CDTF">2026-08-16T23:54:02Z</dcterms:modified>
</cp:coreProperties>
</file>